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77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6" r:id="rId13"/>
    <p:sldId id="268" r:id="rId14"/>
    <p:sldId id="270" r:id="rId15"/>
    <p:sldId id="27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378" y="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M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D8AF3-C06A-43C7-B3FA-D384EB1914E7}" type="datetimeFigureOut">
              <a:rPr lang="en-ZM" smtClean="0"/>
              <a:t>18/03/2026</a:t>
            </a:fld>
            <a:endParaRPr lang="en-ZM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M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F89F9-0F70-4D0B-8C96-5B15328A26FE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142090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Corporate Governance Commitments:</a:t>
            </a:r>
            <a:br>
              <a:rPr lang="en-US" dirty="0"/>
            </a:br>
            <a:r>
              <a:rPr lang="en-US" dirty="0"/>
              <a:t>•  Board of Directors with independent members to be established</a:t>
            </a:r>
            <a:br>
              <a:rPr lang="en-US" dirty="0"/>
            </a:br>
            <a:r>
              <a:rPr lang="en-US" dirty="0"/>
              <a:t>•  Annual external audits by a </a:t>
            </a:r>
            <a:r>
              <a:rPr lang="en-US" dirty="0" err="1"/>
              <a:t>BoZ</a:t>
            </a:r>
            <a:r>
              <a:rPr lang="en-US" dirty="0"/>
              <a:t>-approved auditor</a:t>
            </a:r>
            <a:br>
              <a:rPr lang="en-US" dirty="0"/>
            </a:br>
            <a:r>
              <a:rPr lang="en-US" dirty="0"/>
              <a:t>•  Internal compliance reviews on a quarterly basis</a:t>
            </a:r>
            <a:br>
              <a:rPr lang="en-US" dirty="0"/>
            </a:br>
            <a:r>
              <a:rPr lang="en-US" dirty="0"/>
              <a:t>•  Segregation of duties between operations, finance, and compliance</a:t>
            </a:r>
            <a:br>
              <a:rPr lang="en-US" dirty="0"/>
            </a:br>
            <a:r>
              <a:rPr lang="en-US" dirty="0"/>
              <a:t>•  Formal whistleblower and grievance procedures per Section 43(3)(g)</a:t>
            </a:r>
            <a:br>
              <a:rPr lang="en-US" dirty="0"/>
            </a:br>
            <a:r>
              <a:rPr lang="en-US" dirty="0"/>
              <a:t>•  Company registration with PACRA and tax compliance with ZRA</a:t>
            </a:r>
          </a:p>
          <a:p>
            <a:endParaRPr lang="en-ZM" dirty="0"/>
          </a:p>
          <a:p>
            <a:endParaRPr lang="en-ZM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F89F9-0F70-4D0B-8C96-5B15328A26FE}" type="slidenum">
              <a:rPr lang="en-ZM" smtClean="0"/>
              <a:t>14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662845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Dennysepiso@gmail.co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CB72C5E1-9413-FB60-89CB-A347D7988785}"/>
              </a:ext>
            </a:extLst>
          </p:cNvPr>
          <p:cNvSpPr txBox="1"/>
          <p:nvPr/>
        </p:nvSpPr>
        <p:spPr>
          <a:xfrm>
            <a:off x="4608095" y="2536448"/>
            <a:ext cx="247162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00B050"/>
                </a:solidFill>
              </a:rPr>
              <a:t>MONDE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962E29-DD09-582E-9ABC-BEDF4934D267}"/>
              </a:ext>
            </a:extLst>
          </p:cNvPr>
          <p:cNvSpPr txBox="1"/>
          <p:nvPr/>
        </p:nvSpPr>
        <p:spPr>
          <a:xfrm>
            <a:off x="5020171" y="3296653"/>
            <a:ext cx="205954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5A623"/>
                </a:solidFill>
                <a:latin typeface="Calibri"/>
              </a:defRPr>
            </a:pPr>
            <a:r>
              <a:rPr sz="2000" dirty="0"/>
              <a:t>Tap. Pay. Done</a:t>
            </a:r>
            <a:r>
              <a:rPr dirty="0"/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9B0D28-ED18-62C5-5EE9-2E7FF5F82219}"/>
              </a:ext>
            </a:extLst>
          </p:cNvPr>
          <p:cNvSpPr txBox="1"/>
          <p:nvPr/>
        </p:nvSpPr>
        <p:spPr>
          <a:xfrm>
            <a:off x="7945654" y="5349240"/>
            <a:ext cx="4246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rPr dirty="0"/>
              <a:t>Presentation </a:t>
            </a:r>
            <a:r>
              <a:rPr lang="en-US" dirty="0"/>
              <a:t>by Denny Sepiso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3981" y="586243"/>
            <a:ext cx="73152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5A623"/>
                </a:solidFill>
                <a:latin typeface="Calibri"/>
              </a:defRPr>
            </a:pPr>
            <a:r>
              <a:t>01  | 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52003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E293B"/>
                </a:solidFill>
                <a:latin typeface="Calibri"/>
              </a:defRPr>
            </a:pPr>
            <a:r>
              <a:rPr dirty="0"/>
              <a:t>Monde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5029200" cy="426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  <a:defRPr sz="1400" b="0">
                <a:solidFill>
                  <a:srgbClr val="64748B"/>
                </a:solidFill>
                <a:latin typeface="Calibri"/>
              </a:defRPr>
            </a:pPr>
            <a:r>
              <a:rPr sz="1400" dirty="0"/>
              <a:t>Monde is a mobile payment application built for Zambia's financial ecosystem. Our platform enables instant, secure, and affordable person-to-person (P2P) payments</a:t>
            </a:r>
            <a:r>
              <a:rPr lang="en-US" sz="1400" dirty="0"/>
              <a:t> using</a:t>
            </a:r>
            <a:r>
              <a:rPr sz="1400" dirty="0"/>
              <a:t> QR code</a:t>
            </a:r>
            <a:r>
              <a:rPr lang="en-US" sz="1400" dirty="0"/>
              <a:t>s</a:t>
            </a:r>
            <a:r>
              <a:rPr sz="1400" dirty="0"/>
              <a:t>, and agent-assisted cash-in/cash-out services.</a:t>
            </a:r>
            <a:endParaRPr lang="en-US" sz="1400" dirty="0"/>
          </a:p>
          <a:p>
            <a:pPr marL="285750" indent="-285750" algn="l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  <a:defRPr sz="1400" b="0">
                <a:solidFill>
                  <a:srgbClr val="64748B"/>
                </a:solidFill>
                <a:latin typeface="Calibri"/>
              </a:defRPr>
            </a:pPr>
            <a:r>
              <a:rPr sz="1400" dirty="0"/>
              <a:t>We are seeking designation as a Payment System Business to legally operate money transfer and transmission services </a:t>
            </a:r>
            <a:r>
              <a:rPr lang="en-US" sz="1400" dirty="0"/>
              <a:t>across </a:t>
            </a:r>
            <a:r>
              <a:rPr sz="1400" dirty="0"/>
              <a:t>Zambia.</a:t>
            </a:r>
            <a:endParaRPr lang="en-US" sz="1400" dirty="0"/>
          </a:p>
          <a:p>
            <a:pPr marL="285750" indent="-285750" algn="l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  <a:defRPr sz="1400" b="0">
                <a:solidFill>
                  <a:srgbClr val="64748B"/>
                </a:solidFill>
                <a:latin typeface="Calibri"/>
              </a:defRPr>
            </a:pPr>
            <a:r>
              <a:rPr sz="1400" dirty="0"/>
              <a:t>Monde is designed to be fully interoperable across all major Zambian payment providers </a:t>
            </a:r>
            <a:r>
              <a:rPr lang="en-US" sz="1400" dirty="0"/>
              <a:t>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 b="0">
                <a:solidFill>
                  <a:srgbClr val="64748B"/>
                </a:solidFill>
                <a:latin typeface="Calibri"/>
              </a:defRPr>
            </a:pPr>
            <a:r>
              <a:rPr sz="1400" dirty="0"/>
              <a:t>Airtel Money</a:t>
            </a:r>
            <a:endParaRPr lang="en-US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 b="0">
                <a:solidFill>
                  <a:srgbClr val="64748B"/>
                </a:solidFill>
                <a:latin typeface="Calibri"/>
              </a:defRPr>
            </a:pPr>
            <a:r>
              <a:rPr sz="1400" dirty="0"/>
              <a:t>MTN </a:t>
            </a:r>
            <a:r>
              <a:rPr sz="1400" dirty="0" err="1"/>
              <a:t>MoMo</a:t>
            </a:r>
            <a:endParaRPr lang="en-US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 b="0">
                <a:solidFill>
                  <a:srgbClr val="64748B"/>
                </a:solidFill>
                <a:latin typeface="Calibri"/>
              </a:defRPr>
            </a:pPr>
            <a:r>
              <a:rPr sz="1400" dirty="0"/>
              <a:t>Zamtel Kwach</a:t>
            </a:r>
            <a:r>
              <a:rPr lang="en-US" sz="1400" dirty="0"/>
              <a:t>a and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 b="0">
                <a:solidFill>
                  <a:srgbClr val="64748B"/>
                </a:solidFill>
                <a:latin typeface="Calibri"/>
              </a:defRPr>
            </a:pPr>
            <a:r>
              <a:rPr lang="en-US" sz="1400" dirty="0"/>
              <a:t>Visa/Mastercard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AE47C0-DBDC-FF8D-E13A-A37E637A4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6654" y="914400"/>
            <a:ext cx="2425085" cy="51898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8318FE-2B99-2BC7-B704-830A22462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195" y="914400"/>
            <a:ext cx="2395304" cy="51898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21F8D-AD54-4941-3414-3D0073DAF2B6}"/>
              </a:ext>
            </a:extLst>
          </p:cNvPr>
          <p:cNvSpPr/>
          <p:nvPr/>
        </p:nvSpPr>
        <p:spPr>
          <a:xfrm>
            <a:off x="693981" y="586243"/>
            <a:ext cx="73152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68F6FC-A1FA-04DE-141B-2839700F773F}"/>
              </a:ext>
            </a:extLst>
          </p:cNvPr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5A623"/>
                </a:solidFill>
                <a:latin typeface="Calibri"/>
              </a:defRPr>
            </a:pPr>
            <a:r>
              <a:t>01  |  EXECUTIVE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453C4C-3503-A248-D96D-3EAFE3B73749}"/>
              </a:ext>
            </a:extLst>
          </p:cNvPr>
          <p:cNvSpPr txBox="1"/>
          <p:nvPr/>
        </p:nvSpPr>
        <p:spPr>
          <a:xfrm>
            <a:off x="1097280" y="952003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E293B"/>
                </a:solidFill>
                <a:latin typeface="Calibri"/>
              </a:defRPr>
            </a:pPr>
            <a:r>
              <a:rPr dirty="0"/>
              <a:t>Monde at a Glance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F3BA2D-868E-9D9B-5E79-BECC38A8B9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73" b="19570"/>
          <a:stretch>
            <a:fillRect/>
          </a:stretch>
        </p:blipFill>
        <p:spPr>
          <a:xfrm>
            <a:off x="5339133" y="1702676"/>
            <a:ext cx="3165231" cy="49976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E74E31-59EB-1A89-518A-A56570DA92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828"/>
          <a:stretch>
            <a:fillRect/>
          </a:stretch>
        </p:blipFill>
        <p:spPr>
          <a:xfrm>
            <a:off x="8658664" y="1702676"/>
            <a:ext cx="3165231" cy="51553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C349A1-CCDD-DD21-20B3-1749FE915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2989" y="1702675"/>
            <a:ext cx="2335296" cy="49976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525D10-857C-20BD-8D2B-F93DD163EC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36" y="1702676"/>
            <a:ext cx="2306618" cy="499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228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5A623"/>
                </a:solidFill>
                <a:latin typeface="Calibri"/>
              </a:defRPr>
            </a:pPr>
            <a:r>
              <a:t>02  |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Zambia's Payment Ecosystem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1A2035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54864" cy="1371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Fragmented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146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rPr dirty="0"/>
              <a:t>Multiple mobile money providers (Airtel, MTN, Zamtel) and banks (FNB, </a:t>
            </a:r>
            <a:r>
              <a:rPr dirty="0" err="1"/>
              <a:t>Zanaco</a:t>
            </a:r>
            <a:r>
              <a:rPr dirty="0"/>
              <a:t>, Absa) operate in silos. Sending money across providers is cumbersome, expensive, or impossible.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1A2035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4864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Low Interoperability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rPr dirty="0"/>
              <a:t>Despite </a:t>
            </a:r>
            <a:r>
              <a:rPr dirty="0" err="1"/>
              <a:t>BoZ's</a:t>
            </a:r>
            <a:r>
              <a:rPr dirty="0"/>
              <a:t> National Financial Switch (NFS) initiative, cross-platform P2P payments remain limited. Users are forced to maintain multiple accounts.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657600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1A2035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97280" y="3657600"/>
            <a:ext cx="54864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3794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High Transaction Costs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605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rPr dirty="0"/>
              <a:t>Cross-provider transfers incur high fees that disproportionately burden low-income users. Small transactions become uneconomical.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1A2035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657600"/>
            <a:ext cx="54864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Cash Dependency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1605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rPr dirty="0"/>
              <a:t>Zambia remains heavily cash-dependent. The unbanked and underbanked need accessible digital onramps through agent networks and simple mobile interfaces.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73152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5A623"/>
                </a:solidFill>
                <a:latin typeface="Calibri"/>
              </a:defRPr>
            </a:pPr>
            <a:r>
              <a:t>03  | 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E293B"/>
                </a:solidFill>
                <a:latin typeface="Calibri"/>
              </a:defRPr>
            </a:pPr>
            <a:r>
              <a:rPr dirty="0"/>
              <a:t>Monde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Every transaction completes in 3 taps or fewer. Interoperable across all Zambian providers.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" y="2606040"/>
            <a:ext cx="502920" cy="5029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QR Code Payments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20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Scan and pay instantly at merchants or between individuals. Dynamic and static QR codes supported.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37744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0" y="260604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NFC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Tap to 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520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Hold phones together to transfer money. Near-field communication for instant proximity payments.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37744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001000" y="260604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P2P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Send &amp; Receive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520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Send money to any Zambian phone number across Airtel, MTN, Zamtel, FNB, Zanaco, Absa.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43484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43000" y="466344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Digital Wallet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577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Top up from mobile money, manage balance, withdraw to any linked account. Real-time updates.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43484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0" y="4663440"/>
            <a:ext cx="502920" cy="5029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Agent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577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Cash-in/cash-out through designated agents. Commission-based model with anti-fraud controls.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443484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001000" y="466344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Transaction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5577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Full audit trail with date grouping, filters, receipt generation, and share functionality.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73152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5A623"/>
                </a:solidFill>
                <a:latin typeface="Calibri"/>
              </a:defRPr>
            </a:pPr>
            <a:r>
              <a:t>04  |  TECHNOLOGY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91618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E293B"/>
                </a:solidFill>
                <a:latin typeface="Calibri"/>
              </a:defRPr>
            </a:pPr>
            <a:r>
              <a:t>Enterprise-Grade Security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086952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E293B"/>
                </a:solidFill>
                <a:latin typeface="Calibri"/>
              </a:defRPr>
            </a:pPr>
            <a:r>
              <a:rPr dirty="0"/>
              <a:t>Technology Stack</a:t>
            </a:r>
          </a:p>
          <a:p>
            <a:pPr marL="361950" indent="-285750">
              <a:spcBef>
                <a:spcPts val="400"/>
              </a:spcBef>
              <a:spcAft>
                <a:spcPts val="200"/>
              </a:spcAft>
              <a:buFont typeface="Wingdings" panose="05000000000000000000" pitchFamily="2" charset="2"/>
              <a:buChar char="v"/>
              <a:defRPr sz="1500">
                <a:solidFill>
                  <a:srgbClr val="64748B"/>
                </a:solidFill>
                <a:latin typeface="Calibri"/>
              </a:defRPr>
            </a:pPr>
            <a:r>
              <a:rPr dirty="0"/>
              <a:t>React Native + Expo SDK 52 (cross-platform mobile)</a:t>
            </a:r>
          </a:p>
          <a:p>
            <a:pPr marL="361950" indent="-285750">
              <a:spcBef>
                <a:spcPts val="400"/>
              </a:spcBef>
              <a:spcAft>
                <a:spcPts val="200"/>
              </a:spcAft>
              <a:buFont typeface="Wingdings" panose="05000000000000000000" pitchFamily="2" charset="2"/>
              <a:buChar char="v"/>
              <a:defRPr sz="1500">
                <a:solidFill>
                  <a:srgbClr val="64748B"/>
                </a:solidFill>
                <a:latin typeface="Calibri"/>
              </a:defRPr>
            </a:pPr>
            <a:r>
              <a:rPr dirty="0"/>
              <a:t>TypeScript</a:t>
            </a:r>
          </a:p>
          <a:p>
            <a:pPr marL="361950" indent="-285750">
              <a:spcBef>
                <a:spcPts val="400"/>
              </a:spcBef>
              <a:spcAft>
                <a:spcPts val="200"/>
              </a:spcAft>
              <a:buFont typeface="Wingdings" panose="05000000000000000000" pitchFamily="2" charset="2"/>
              <a:buChar char="v"/>
              <a:defRPr sz="1500">
                <a:solidFill>
                  <a:srgbClr val="64748B"/>
                </a:solidFill>
                <a:latin typeface="Calibri"/>
              </a:defRPr>
            </a:pPr>
            <a:r>
              <a:rPr dirty="0"/>
              <a:t>Supabase (PostgreSQL) — auth, database, real-time</a:t>
            </a:r>
            <a:r>
              <a:rPr lang="en-US" dirty="0"/>
              <a:t>.</a:t>
            </a:r>
          </a:p>
          <a:p>
            <a:pPr marL="361950" indent="-285750">
              <a:spcBef>
                <a:spcPts val="400"/>
              </a:spcBef>
              <a:spcAft>
                <a:spcPts val="200"/>
              </a:spcAft>
              <a:buFont typeface="Wingdings" panose="05000000000000000000" pitchFamily="2" charset="2"/>
              <a:buChar char="v"/>
              <a:defRPr sz="1500">
                <a:solidFill>
                  <a:srgbClr val="64748B"/>
                </a:solidFill>
                <a:latin typeface="Calibri"/>
              </a:defRPr>
            </a:pPr>
            <a:r>
              <a:rPr lang="en-US" dirty="0"/>
              <a:t>MNO</a:t>
            </a:r>
            <a:r>
              <a:rPr dirty="0"/>
              <a:t> API</a:t>
            </a:r>
            <a:r>
              <a:rPr lang="en-US" dirty="0"/>
              <a:t>: </a:t>
            </a:r>
            <a:r>
              <a:rPr dirty="0"/>
              <a:t>payment gateway</a:t>
            </a:r>
            <a:r>
              <a:rPr lang="en-US" dirty="0"/>
              <a:t>s</a:t>
            </a:r>
            <a:r>
              <a:rPr dirty="0"/>
              <a:t> for collections</a:t>
            </a:r>
            <a:r>
              <a:rPr lang="en-US" dirty="0"/>
              <a:t> and </a:t>
            </a:r>
            <a:r>
              <a:rPr dirty="0"/>
              <a:t>disbursements</a:t>
            </a:r>
          </a:p>
          <a:p>
            <a:pPr marL="361950" indent="-285750">
              <a:spcBef>
                <a:spcPts val="400"/>
              </a:spcBef>
              <a:spcAft>
                <a:spcPts val="200"/>
              </a:spcAft>
              <a:buFont typeface="Wingdings" panose="05000000000000000000" pitchFamily="2" charset="2"/>
              <a:buChar char="v"/>
              <a:defRPr sz="1500">
                <a:solidFill>
                  <a:srgbClr val="64748B"/>
                </a:solidFill>
                <a:latin typeface="Calibri"/>
              </a:defRPr>
            </a:pPr>
            <a:r>
              <a:rPr dirty="0"/>
              <a:t>Row-Level Security (RLS) on all database tables</a:t>
            </a:r>
          </a:p>
          <a:p>
            <a:pPr marL="361950" indent="-285750">
              <a:spcBef>
                <a:spcPts val="400"/>
              </a:spcBef>
              <a:spcAft>
                <a:spcPts val="200"/>
              </a:spcAft>
              <a:buFont typeface="Wingdings" panose="05000000000000000000" pitchFamily="2" charset="2"/>
              <a:buChar char="v"/>
              <a:defRPr sz="1500">
                <a:solidFill>
                  <a:srgbClr val="64748B"/>
                </a:solidFill>
                <a:latin typeface="Calibri"/>
              </a:defRPr>
            </a:pPr>
            <a:r>
              <a:rPr dirty="0"/>
              <a:t>Edge Functions for server-side payment processing</a:t>
            </a:r>
          </a:p>
          <a:p>
            <a:pPr marL="361950" indent="-285750">
              <a:spcBef>
                <a:spcPts val="400"/>
              </a:spcBef>
              <a:spcAft>
                <a:spcPts val="200"/>
              </a:spcAft>
              <a:buFont typeface="Wingdings" panose="05000000000000000000" pitchFamily="2" charset="2"/>
              <a:buChar char="v"/>
              <a:defRPr sz="1500">
                <a:solidFill>
                  <a:srgbClr val="64748B"/>
                </a:solidFill>
                <a:latin typeface="Calibri"/>
              </a:defRPr>
            </a:pPr>
            <a:r>
              <a:rPr dirty="0"/>
              <a:t>Real-time balance and transaction updates via </a:t>
            </a:r>
            <a:r>
              <a:rPr dirty="0" err="1"/>
              <a:t>WebSockets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2148840" cy="10515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ectangle 6"/>
          <p:cNvSpPr/>
          <p:nvPr/>
        </p:nvSpPr>
        <p:spPr>
          <a:xfrm>
            <a:off x="6400800" y="1737360"/>
            <a:ext cx="45720" cy="10515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1874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PIN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187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sz="1200" dirty="0"/>
              <a:t>4-digit PIN with secure hashing.</a:t>
            </a:r>
            <a:br>
              <a:rPr sz="1200" dirty="0"/>
            </a:br>
            <a:r>
              <a:rPr sz="1200" dirty="0"/>
              <a:t>No plain-text storage.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737360"/>
            <a:ext cx="2148840" cy="10515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8686800" y="1737360"/>
            <a:ext cx="45720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8869680" y="1828800"/>
            <a:ext cx="1874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Auto-Lock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103120"/>
            <a:ext cx="187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sz="1200" dirty="0"/>
              <a:t>App locks after 2 minutes of</a:t>
            </a:r>
            <a:r>
              <a:rPr lang="en-US" sz="1200" dirty="0"/>
              <a:t> </a:t>
            </a:r>
            <a:r>
              <a:rPr sz="1200" dirty="0"/>
              <a:t>inactivity. Full PIN re-entry.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926080"/>
            <a:ext cx="2148840" cy="10515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Rectangle 14"/>
          <p:cNvSpPr/>
          <p:nvPr/>
        </p:nvSpPr>
        <p:spPr>
          <a:xfrm>
            <a:off x="6400800" y="2926080"/>
            <a:ext cx="45720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1874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Rate Limiting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91840"/>
            <a:ext cx="187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sz="1200"/>
              <a:t>5 login attempts max.</a:t>
            </a:r>
            <a:br>
              <a:rPr sz="1200"/>
            </a:br>
            <a:r>
              <a:rPr sz="1200"/>
              <a:t>30-second lockout period.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2926080"/>
            <a:ext cx="2148840" cy="10515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Rectangle 18"/>
          <p:cNvSpPr/>
          <p:nvPr/>
        </p:nvSpPr>
        <p:spPr>
          <a:xfrm>
            <a:off x="8686800" y="2926080"/>
            <a:ext cx="45720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8869680" y="3017520"/>
            <a:ext cx="1874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Input Sanitization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291840"/>
            <a:ext cx="187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sz="1200"/>
              <a:t>All inputs sanitized against</a:t>
            </a:r>
            <a:br>
              <a:rPr sz="1200"/>
            </a:br>
            <a:r>
              <a:rPr sz="1200"/>
              <a:t>injection attacks.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114800"/>
            <a:ext cx="2148840" cy="10515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Rectangle 22"/>
          <p:cNvSpPr/>
          <p:nvPr/>
        </p:nvSpPr>
        <p:spPr>
          <a:xfrm>
            <a:off x="6400800" y="4114800"/>
            <a:ext cx="45720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6583680" y="4206240"/>
            <a:ext cx="1874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Amount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480560"/>
            <a:ext cx="187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sz="1200"/>
              <a:t>Min K1, max K50,000.</a:t>
            </a:r>
            <a:br>
              <a:rPr sz="1200"/>
            </a:br>
            <a:r>
              <a:rPr sz="1200"/>
              <a:t>Balance validation pre-transaction.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4114800"/>
            <a:ext cx="2148840" cy="10515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ectangle 26"/>
          <p:cNvSpPr/>
          <p:nvPr/>
        </p:nvSpPr>
        <p:spPr>
          <a:xfrm>
            <a:off x="8686800" y="4114800"/>
            <a:ext cx="45720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8869680" y="4206240"/>
            <a:ext cx="1874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RLS Policies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480560"/>
            <a:ext cx="1965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sz="1200" dirty="0"/>
              <a:t>Database row-level security.</a:t>
            </a:r>
            <a:br>
              <a:rPr sz="1200" dirty="0"/>
            </a:br>
            <a:r>
              <a:rPr sz="1200" dirty="0"/>
              <a:t>Users only access own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5A623"/>
                </a:solidFill>
                <a:latin typeface="Calibri"/>
              </a:defRPr>
            </a:pPr>
            <a:r>
              <a:t>04B  |  DATA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Protection Act No. 3 of 2021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55957"/>
            <a:ext cx="4846320" cy="914400"/>
          </a:xfrm>
          <a:prstGeom prst="roundRect">
            <a:avLst>
              <a:gd name="adj" fmla="val 3000"/>
            </a:avLst>
          </a:prstGeom>
          <a:solidFill>
            <a:srgbClr val="1A2035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1143000" y="1901952"/>
            <a:ext cx="4480560" cy="361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Data Minimization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176272"/>
            <a:ext cx="4480560" cy="61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 dirty="0"/>
              <a:t>Only essential user data collected: phone number, name, transaction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51650"/>
            <a:ext cx="4846320" cy="914400"/>
          </a:xfrm>
          <a:prstGeom prst="roundRect">
            <a:avLst>
              <a:gd name="adj" fmla="val 3000"/>
            </a:avLst>
          </a:prstGeom>
          <a:solidFill>
            <a:srgbClr val="1A2035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1143000" y="2953512"/>
            <a:ext cx="4480560" cy="361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Secure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27832"/>
            <a:ext cx="4480560" cy="61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 dirty="0"/>
              <a:t>All data stored in Supabase PostgreSQL with encryption at rest</a:t>
            </a:r>
            <a:r>
              <a:rPr lang="en-US" sz="1200" dirty="0"/>
              <a:t> with </a:t>
            </a:r>
            <a:r>
              <a:rPr sz="1200" dirty="0"/>
              <a:t>Row-Level Security</a:t>
            </a:r>
            <a:r>
              <a:rPr lang="en-US" sz="1200" dirty="0"/>
              <a:t>.</a:t>
            </a:r>
            <a:endParaRPr sz="1200" dirty="0"/>
          </a:p>
        </p:txBody>
      </p:sp>
      <p:sp>
        <p:nvSpPr>
          <p:cNvPr id="10" name="Rounded Rectangle 9"/>
          <p:cNvSpPr/>
          <p:nvPr/>
        </p:nvSpPr>
        <p:spPr>
          <a:xfrm>
            <a:off x="919211" y="4017104"/>
            <a:ext cx="4846320" cy="914400"/>
          </a:xfrm>
          <a:prstGeom prst="roundRect">
            <a:avLst>
              <a:gd name="adj" fmla="val 3000"/>
            </a:avLst>
          </a:prstGeom>
          <a:solidFill>
            <a:srgbClr val="1A2035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1143000" y="4005072"/>
            <a:ext cx="4480560" cy="361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Consent-Based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79392"/>
            <a:ext cx="4480560" cy="61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/>
              <a:t>User data processed only with explicit consent at registration. Clear terms of service presented before account creation.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089360"/>
            <a:ext cx="4846320" cy="914400"/>
          </a:xfrm>
          <a:prstGeom prst="roundRect">
            <a:avLst>
              <a:gd name="adj" fmla="val 3000"/>
            </a:avLst>
          </a:prstGeom>
          <a:solidFill>
            <a:srgbClr val="1A2035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1143000" y="5056632"/>
            <a:ext cx="4480560" cy="361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Right to Access &amp; Deletion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25867"/>
            <a:ext cx="4480560" cy="61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 dirty="0"/>
              <a:t>Users can view all their data through the app. </a:t>
            </a:r>
            <a:endParaRPr lang="en-US" sz="1200" dirty="0"/>
          </a:p>
          <a:p>
            <a:pPr algn="l">
              <a:lnSpc>
                <a:spcPct val="15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 dirty="0"/>
              <a:t>Account deletion procedures </a:t>
            </a:r>
            <a:r>
              <a:rPr lang="en-US" sz="1200" dirty="0"/>
              <a:t>to</a:t>
            </a:r>
            <a:r>
              <a:rPr sz="1200" dirty="0"/>
              <a:t> be</a:t>
            </a:r>
            <a:r>
              <a:rPr lang="en-US" sz="1200" dirty="0"/>
              <a:t> implemented.</a:t>
            </a:r>
            <a:endParaRPr sz="1200" dirty="0"/>
          </a:p>
        </p:txBody>
      </p:sp>
      <p:sp>
        <p:nvSpPr>
          <p:cNvPr id="16" name="Rounded Rectangle 15"/>
          <p:cNvSpPr/>
          <p:nvPr/>
        </p:nvSpPr>
        <p:spPr>
          <a:xfrm>
            <a:off x="6217920" y="1868535"/>
            <a:ext cx="4846320" cy="914400"/>
          </a:xfrm>
          <a:prstGeom prst="roundRect">
            <a:avLst>
              <a:gd name="adj" fmla="val 3000"/>
            </a:avLst>
          </a:prstGeom>
          <a:solidFill>
            <a:srgbClr val="1A2035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6446520" y="1901952"/>
            <a:ext cx="4480560" cy="361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300" b="1">
                <a:solidFill>
                  <a:srgbClr val="1A56DB"/>
                </a:solidFill>
                <a:latin typeface="Calibri"/>
              </a:defRPr>
            </a:pPr>
            <a:r>
              <a:t>Confidential Transmission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76272"/>
            <a:ext cx="4480560" cy="61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 dirty="0"/>
              <a:t>All API calls over HTTPS/TLS. Supabase enforces encrypted connections</a:t>
            </a:r>
            <a:r>
              <a:rPr lang="en-US" sz="1200" dirty="0"/>
              <a:t>.</a:t>
            </a:r>
            <a:endParaRPr sz="1200" dirty="0"/>
          </a:p>
        </p:txBody>
      </p:sp>
      <p:sp>
        <p:nvSpPr>
          <p:cNvPr id="19" name="Rounded Rectangle 18"/>
          <p:cNvSpPr/>
          <p:nvPr/>
        </p:nvSpPr>
        <p:spPr>
          <a:xfrm>
            <a:off x="6217920" y="2988648"/>
            <a:ext cx="4846320" cy="914400"/>
          </a:xfrm>
          <a:prstGeom prst="roundRect">
            <a:avLst>
              <a:gd name="adj" fmla="val 3000"/>
            </a:avLst>
          </a:prstGeom>
          <a:solidFill>
            <a:srgbClr val="1A2035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6446520" y="2953512"/>
            <a:ext cx="4480560" cy="361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300" b="1">
                <a:solidFill>
                  <a:srgbClr val="1A56DB"/>
                </a:solidFill>
                <a:latin typeface="Calibri"/>
              </a:defRPr>
            </a:pPr>
            <a:r>
              <a:t>Access Controls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27832"/>
            <a:ext cx="4480560" cy="340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 dirty="0"/>
              <a:t>JWT-based authentication with session refresh.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52240"/>
            <a:ext cx="4846320" cy="914400"/>
          </a:xfrm>
          <a:prstGeom prst="roundRect">
            <a:avLst>
              <a:gd name="adj" fmla="val 3000"/>
            </a:avLst>
          </a:prstGeom>
          <a:solidFill>
            <a:srgbClr val="1A2035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6446520" y="4005072"/>
            <a:ext cx="4480560" cy="361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300" b="1">
                <a:solidFill>
                  <a:srgbClr val="1A56DB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79392"/>
            <a:ext cx="4480560" cy="61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 dirty="0"/>
              <a:t>Complete transaction history maintained. All payment operations logged with timestamps, references, and status tracking.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103800"/>
            <a:ext cx="4846320" cy="914400"/>
          </a:xfrm>
          <a:prstGeom prst="roundRect">
            <a:avLst>
              <a:gd name="adj" fmla="val 3000"/>
            </a:avLst>
          </a:prstGeom>
          <a:solidFill>
            <a:srgbClr val="1A2035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6446520" y="5056632"/>
            <a:ext cx="4480560" cy="361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300" b="1">
                <a:solidFill>
                  <a:srgbClr val="1A56DB"/>
                </a:solidFill>
                <a:latin typeface="Calibri"/>
              </a:defRPr>
            </a:pPr>
            <a:r>
              <a:t>Data Retention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30952"/>
            <a:ext cx="4480560" cy="61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/>
              <a:t>Records maintained for minimum 6 years per NPSA Section 28. Electronic storage with integrity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73152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5A623"/>
                </a:solidFill>
                <a:latin typeface="Calibri"/>
              </a:defRPr>
            </a:pPr>
            <a:r>
              <a:t>05  |  AGENT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E293B"/>
                </a:solidFill>
                <a:latin typeface="Calibri"/>
              </a:defRPr>
            </a:pPr>
            <a:r>
              <a:t>Agent Cash-In / Cash-Out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91056"/>
            <a:ext cx="10241280" cy="77724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572768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664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Cash-In (Deposit)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75104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dirty="0"/>
              <a:t>Agent accepts cash from customer, credits their Monde wallet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77393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0.5% commission to agent (Monde pays)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02568"/>
            <a:ext cx="10241280" cy="77724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2502568"/>
            <a:ext cx="54864" cy="7772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575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Cash-Out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866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dirty="0"/>
              <a:t>Customer generates 6-digit code, agent verifies and gives cash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6854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A56DB"/>
                </a:solidFill>
                <a:latin typeface="Calibri"/>
              </a:defRPr>
            </a:pPr>
            <a:r>
              <a:rPr dirty="0"/>
              <a:t>Tiered fees: K2.50–K50 (70/30 agent/Monde split)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F15304-C404-2FD0-5884-E6D5B1B1D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57696F-9CDD-7B03-3FC0-61FAD07C9C8F}"/>
              </a:ext>
            </a:extLst>
          </p:cNvPr>
          <p:cNvSpPr/>
          <p:nvPr/>
        </p:nvSpPr>
        <p:spPr>
          <a:xfrm>
            <a:off x="731520" y="548640"/>
            <a:ext cx="73152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7D2786-BE9E-FA74-36AD-7432562AC870}"/>
              </a:ext>
            </a:extLst>
          </p:cNvPr>
          <p:cNvSpPr txBox="1"/>
          <p:nvPr/>
        </p:nvSpPr>
        <p:spPr>
          <a:xfrm>
            <a:off x="1097280" y="54864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5A623"/>
                </a:solidFill>
                <a:latin typeface="Calibri"/>
              </a:defRPr>
            </a:pPr>
            <a:r>
              <a:rPr dirty="0"/>
              <a:t>05</a:t>
            </a:r>
            <a:r>
              <a:rPr lang="en-US" dirty="0"/>
              <a:t>B</a:t>
            </a:r>
            <a:r>
              <a:rPr dirty="0"/>
              <a:t>  |  AGENT NETWORK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CB20A-600E-3918-030D-32A8F31E751C}"/>
              </a:ext>
            </a:extLst>
          </p:cNvPr>
          <p:cNvSpPr txBox="1"/>
          <p:nvPr/>
        </p:nvSpPr>
        <p:spPr>
          <a:xfrm>
            <a:off x="109728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E293B"/>
                </a:solidFill>
                <a:latin typeface="Calibri"/>
              </a:defRPr>
            </a:pPr>
            <a:r>
              <a:t>Agent Cash-In / Cash-Out Model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D2F88D7-8FE8-F853-0E2B-BE56DBF9D35A}"/>
              </a:ext>
            </a:extLst>
          </p:cNvPr>
          <p:cNvSpPr/>
          <p:nvPr/>
        </p:nvSpPr>
        <p:spPr>
          <a:xfrm>
            <a:off x="914400" y="1612463"/>
            <a:ext cx="10241280" cy="77724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028A10-3FE1-6FD3-DE37-F8A59CCB2885}"/>
              </a:ext>
            </a:extLst>
          </p:cNvPr>
          <p:cNvSpPr/>
          <p:nvPr/>
        </p:nvSpPr>
        <p:spPr>
          <a:xfrm>
            <a:off x="914400" y="1612463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9AA7E0-269B-C133-14C4-851CB9B3B647}"/>
              </a:ext>
            </a:extLst>
          </p:cNvPr>
          <p:cNvSpPr txBox="1"/>
          <p:nvPr/>
        </p:nvSpPr>
        <p:spPr>
          <a:xfrm>
            <a:off x="1188720" y="168561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Agent Transfer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CF20F9-66A6-4680-BD54-187C68EE4BCB}"/>
              </a:ext>
            </a:extLst>
          </p:cNvPr>
          <p:cNvSpPr txBox="1"/>
          <p:nvPr/>
        </p:nvSpPr>
        <p:spPr>
          <a:xfrm>
            <a:off x="1188720" y="199651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Agent-to-agent float transfer for liquidity management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B8677E-3138-C40F-F6D6-17BA20D39C43}"/>
              </a:ext>
            </a:extLst>
          </p:cNvPr>
          <p:cNvSpPr txBox="1"/>
          <p:nvPr/>
        </p:nvSpPr>
        <p:spPr>
          <a:xfrm>
            <a:off x="6858000" y="179534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5A623"/>
                </a:solidFill>
                <a:latin typeface="Calibri"/>
              </a:defRPr>
            </a:pPr>
            <a:r>
              <a:t>Free, K50,000 daily cap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B4D31F0-92D4-E134-ED21-FE28DDB8D5C1}"/>
              </a:ext>
            </a:extLst>
          </p:cNvPr>
          <p:cNvSpPr/>
          <p:nvPr/>
        </p:nvSpPr>
        <p:spPr>
          <a:xfrm>
            <a:off x="914400" y="2526863"/>
            <a:ext cx="10241280" cy="77724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B83C67-81DE-3836-49A9-208A0E5787B1}"/>
              </a:ext>
            </a:extLst>
          </p:cNvPr>
          <p:cNvSpPr/>
          <p:nvPr/>
        </p:nvSpPr>
        <p:spPr>
          <a:xfrm>
            <a:off x="914400" y="2526863"/>
            <a:ext cx="54864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43CA37-95FF-729B-FE6C-46305466CFA8}"/>
              </a:ext>
            </a:extLst>
          </p:cNvPr>
          <p:cNvSpPr txBox="1"/>
          <p:nvPr/>
        </p:nvSpPr>
        <p:spPr>
          <a:xfrm>
            <a:off x="1188720" y="260001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Float Top-Up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9D474B-7110-0FEF-F424-A51B727F120A}"/>
              </a:ext>
            </a:extLst>
          </p:cNvPr>
          <p:cNvSpPr txBox="1"/>
          <p:nvPr/>
        </p:nvSpPr>
        <p:spPr>
          <a:xfrm>
            <a:off x="1188720" y="291091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Agent loads wallet balance via mobile money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E8BA51-4CBC-64B8-8FD0-C59EA42FEFA2}"/>
              </a:ext>
            </a:extLst>
          </p:cNvPr>
          <p:cNvSpPr txBox="1"/>
          <p:nvPr/>
        </p:nvSpPr>
        <p:spPr>
          <a:xfrm>
            <a:off x="6858000" y="278289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8B5CF6"/>
                </a:solidFill>
                <a:latin typeface="Calibri"/>
              </a:defRPr>
            </a:pPr>
            <a:r>
              <a:rPr dirty="0"/>
              <a:t>Standard top-up fees apply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B9C78B-282A-B3AF-6641-9F791F1EFC82}"/>
              </a:ext>
            </a:extLst>
          </p:cNvPr>
          <p:cNvSpPr txBox="1"/>
          <p:nvPr/>
        </p:nvSpPr>
        <p:spPr>
          <a:xfrm>
            <a:off x="969264" y="5550408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rPr sz="2400" dirty="0"/>
              <a:t>Anti-Frau</a:t>
            </a:r>
            <a:r>
              <a:rPr lang="en-US" sz="2400" dirty="0"/>
              <a:t>d</a:t>
            </a:r>
            <a:endParaRPr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13B21F-52FA-964A-E133-45F3AA0D1896}"/>
              </a:ext>
            </a:extLst>
          </p:cNvPr>
          <p:cNvSpPr txBox="1"/>
          <p:nvPr/>
        </p:nvSpPr>
        <p:spPr>
          <a:xfrm>
            <a:off x="1152144" y="5925312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sz="1100" dirty="0"/>
              <a:t>•  Daily deposit limit — max 3 deposits per customer per day from any agent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917CE1-BC92-CA38-F23A-6A195922CC7D}"/>
              </a:ext>
            </a:extLst>
          </p:cNvPr>
          <p:cNvSpPr txBox="1"/>
          <p:nvPr/>
        </p:nvSpPr>
        <p:spPr>
          <a:xfrm>
            <a:off x="1152144" y="6126480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sz="1100" dirty="0"/>
              <a:t>•  Agent transfer daily cap — K50,000/day per agent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2798BA-0CDC-C010-127C-566D56192250}"/>
              </a:ext>
            </a:extLst>
          </p:cNvPr>
          <p:cNvSpPr txBox="1"/>
          <p:nvPr/>
        </p:nvSpPr>
        <p:spPr>
          <a:xfrm>
            <a:off x="1152144" y="6327648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sz="1100"/>
              <a:t>•  Self-service blocks — agents cannot deposit to self or cash-out own requests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C05F29-5F81-41B0-EF51-A7431B987A92}"/>
              </a:ext>
            </a:extLst>
          </p:cNvPr>
          <p:cNvSpPr txBox="1"/>
          <p:nvPr/>
        </p:nvSpPr>
        <p:spPr>
          <a:xfrm>
            <a:off x="1188720" y="6528816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sz="1100"/>
              <a:t>•  Admin-only agent designation — only admin can toggle agent status</a:t>
            </a:r>
          </a:p>
        </p:txBody>
      </p:sp>
    </p:spTree>
    <p:extLst>
      <p:ext uri="{BB962C8B-B14F-4D97-AF65-F5344CB8AC3E}">
        <p14:creationId xmlns:p14="http://schemas.microsoft.com/office/powerpoint/2010/main" val="4284542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73152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5A623"/>
                </a:solidFill>
                <a:latin typeface="Calibri"/>
              </a:defRPr>
            </a:pPr>
            <a:r>
              <a:t>06  | 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E293B"/>
                </a:solidFill>
                <a:latin typeface="Calibri"/>
              </a:defRPr>
            </a:pPr>
            <a:r>
              <a:t>Revenue Model &amp; Fee Transparency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286000" cy="41148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928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828800"/>
            <a:ext cx="2560320" cy="41148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37560" y="18928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Fee to Customer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828800"/>
            <a:ext cx="2560320" cy="41148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97880" y="1892808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828800"/>
            <a:ext cx="2560320" cy="411480"/>
          </a:xfrm>
          <a:prstGeom prst="roundRect">
            <a:avLst>
              <a:gd name="adj" fmla="val 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18928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Provider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240280"/>
            <a:ext cx="2286000" cy="411480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3042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P2P Send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240280"/>
            <a:ext cx="2560320" cy="411480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2304288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lang="en-US" dirty="0"/>
              <a:t>Free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8458200" y="23042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dirty="0"/>
              <a:t>Included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2651760"/>
            <a:ext cx="2286000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27157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Top-Up (MoMo)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2651760"/>
            <a:ext cx="2560320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37560" y="27157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2.5% collection fee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2651760"/>
            <a:ext cx="2560320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97880" y="27157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Margin on fee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2651760"/>
            <a:ext cx="2560320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27157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2.5% (Lipila)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063240"/>
            <a:ext cx="2286000" cy="411480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1560" y="31272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Withdrawal (MoMo)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3063240"/>
            <a:ext cx="2560320" cy="411480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37560" y="312724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1.5% disbursement fee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3063240"/>
            <a:ext cx="2560320" cy="411480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97880" y="310304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Margin on fee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3063240"/>
            <a:ext cx="2560320" cy="411480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58200" y="312724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1.5% (Lipila)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474720"/>
            <a:ext cx="2286000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1560" y="35387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Cash-In (Agent)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0" y="3474720"/>
            <a:ext cx="2560320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37560" y="35387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Free to customer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60720" y="3474720"/>
            <a:ext cx="2560320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897880" y="35387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Agent commission from Monde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3474720"/>
            <a:ext cx="2560320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58200" y="35387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0.5% to agent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3886200"/>
            <a:ext cx="2286000" cy="411480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51560" y="39502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Cash-Out (Agent)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0" y="3886200"/>
            <a:ext cx="2560320" cy="411480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337560" y="39502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K2.50 – K50 tiered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60720" y="3886200"/>
            <a:ext cx="2560320" cy="411480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897880" y="3950208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dirty="0"/>
              <a:t>30% of fee</a:t>
            </a:r>
            <a:r>
              <a:rPr lang="en-US" dirty="0"/>
              <a:t> | 70% to agent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21040" y="3886200"/>
            <a:ext cx="2560320" cy="411480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58200" y="3950208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lang="en-US" dirty="0"/>
              <a:t>---</a:t>
            </a:r>
            <a:endParaRPr dirty="0"/>
          </a:p>
        </p:txBody>
      </p:sp>
      <p:sp>
        <p:nvSpPr>
          <p:cNvPr id="53" name="Rounded Rectangle 52"/>
          <p:cNvSpPr/>
          <p:nvPr/>
        </p:nvSpPr>
        <p:spPr>
          <a:xfrm>
            <a:off x="914400" y="4297680"/>
            <a:ext cx="2286000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51560" y="43616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Agent Transfer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00400" y="4297680"/>
            <a:ext cx="2560320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337560" y="43616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760720" y="4297680"/>
            <a:ext cx="2560320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852160" y="43616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—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21040" y="4297680"/>
            <a:ext cx="2560320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58200" y="43616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—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" y="4709160"/>
            <a:ext cx="2286000" cy="411480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51560" y="47731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QR/NFC Payment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00400" y="4709160"/>
            <a:ext cx="2560320" cy="411480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337560" y="4773168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lang="en-US" dirty="0"/>
              <a:t>Free</a:t>
            </a:r>
            <a:endParaRPr dirty="0"/>
          </a:p>
        </p:txBody>
      </p:sp>
      <p:sp>
        <p:nvSpPr>
          <p:cNvPr id="65" name="Rounded Rectangle 64"/>
          <p:cNvSpPr/>
          <p:nvPr/>
        </p:nvSpPr>
        <p:spPr>
          <a:xfrm>
            <a:off x="5760720" y="4709160"/>
            <a:ext cx="2560320" cy="411480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852160" y="4816099"/>
            <a:ext cx="1981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lang="en-US" dirty="0"/>
              <a:t>---</a:t>
            </a:r>
            <a:endParaRPr dirty="0"/>
          </a:p>
        </p:txBody>
      </p:sp>
      <p:sp>
        <p:nvSpPr>
          <p:cNvPr id="67" name="Rounded Rectangle 66"/>
          <p:cNvSpPr/>
          <p:nvPr/>
        </p:nvSpPr>
        <p:spPr>
          <a:xfrm>
            <a:off x="8321040" y="4709160"/>
            <a:ext cx="2560320" cy="411480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458200" y="47731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Included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5303520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rPr dirty="0"/>
              <a:t>All fees are transparently disclosed to users before transaction confirmation. Fee schedules will be filed as required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70" name="Rounded Rectangle 69"/>
          <p:cNvSpPr/>
          <p:nvPr/>
        </p:nvSpPr>
        <p:spPr>
          <a:xfrm>
            <a:off x="914400" y="5943600"/>
            <a:ext cx="9966960" cy="64008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188720" y="6035040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A56DB"/>
                </a:solidFill>
                <a:latin typeface="Calibri"/>
              </a:defRPr>
            </a:pPr>
            <a:r>
              <a:rPr dirty="0"/>
              <a:t>Monde collects all customer fees into a dedicated fee ledger account with full audit trail.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20095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9 / 18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C6B548D-94A6-212C-96D8-158CDD981855}"/>
              </a:ext>
            </a:extLst>
          </p:cNvPr>
          <p:cNvSpPr txBox="1"/>
          <p:nvPr/>
        </p:nvSpPr>
        <p:spPr>
          <a:xfrm>
            <a:off x="5943600" y="2289791"/>
            <a:ext cx="20092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—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55870789-90F4-A578-AB13-E503B7F42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500758"/>
            <a:ext cx="2956560" cy="37113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73152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5A623"/>
                </a:solidFill>
                <a:latin typeface="Calibri"/>
              </a:defRPr>
            </a:pPr>
            <a:r>
              <a:t>07  |  REGULATORY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2093" y="768096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E293B"/>
                </a:solidFill>
                <a:latin typeface="Calibri"/>
              </a:defRPr>
            </a:pPr>
            <a:r>
              <a:rPr dirty="0"/>
              <a:t>NPSA 2007 </a:t>
            </a:r>
            <a:r>
              <a:rPr lang="en-US" dirty="0"/>
              <a:t>: </a:t>
            </a:r>
            <a:r>
              <a:rPr dirty="0"/>
              <a:t>Compliance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4946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rPr dirty="0"/>
              <a:t>Monde's compliance status against key sections of the National Payment Systems Act No. 1 of 2007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58536"/>
            <a:ext cx="10058400" cy="4114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Oval 6"/>
          <p:cNvSpPr/>
          <p:nvPr/>
        </p:nvSpPr>
        <p:spPr>
          <a:xfrm>
            <a:off x="1051560" y="1895696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280160" y="1822544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rPr sz="1400"/>
              <a:t>Section 3 —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22544"/>
            <a:ext cx="42245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sz="1200"/>
              <a:t>Monde operates as a payment system business; Act applies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215736"/>
            <a:ext cx="10058400" cy="4114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Oval 10"/>
          <p:cNvSpPr/>
          <p:nvPr/>
        </p:nvSpPr>
        <p:spPr>
          <a:xfrm>
            <a:off x="1051560" y="2352896"/>
            <a:ext cx="137160" cy="1371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1280160" y="2279744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rPr sz="1400"/>
              <a:t>Section 11 — BoZ Regulation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79744"/>
            <a:ext cx="42245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sz="1200"/>
              <a:t>Seeking designation; prepared for BoZ oversight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672936"/>
            <a:ext cx="10058400" cy="4114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Oval 14"/>
          <p:cNvSpPr/>
          <p:nvPr/>
        </p:nvSpPr>
        <p:spPr>
          <a:xfrm>
            <a:off x="1051560" y="2810096"/>
            <a:ext cx="137160" cy="1371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1280160" y="2736944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rPr sz="1400"/>
              <a:t>Section 12 — Designation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19" y="2736944"/>
            <a:ext cx="43735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sz="1200" dirty="0"/>
              <a:t>Application in preparation; this presentation is part of the process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130136"/>
            <a:ext cx="10058400" cy="4114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Oval 18"/>
          <p:cNvSpPr/>
          <p:nvPr/>
        </p:nvSpPr>
        <p:spPr>
          <a:xfrm>
            <a:off x="1051560" y="3267296"/>
            <a:ext cx="137160" cy="1371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1280160" y="3194144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rPr sz="1400"/>
              <a:t>Section 13 — Restriction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194144"/>
            <a:ext cx="42245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sz="1200"/>
              <a:t>Not yet designated; operating in pre-launch/sandbox mode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587336"/>
            <a:ext cx="10058400" cy="4114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Oval 22"/>
          <p:cNvSpPr/>
          <p:nvPr/>
        </p:nvSpPr>
        <p:spPr>
          <a:xfrm>
            <a:off x="1051560" y="3724496"/>
            <a:ext cx="137160" cy="1371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1280160" y="3651344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rPr sz="1400"/>
              <a:t>Section 27 — Returns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4863" y="3542927"/>
            <a:ext cx="4526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sz="1200" dirty="0"/>
              <a:t>System capable of generating reports; formal reporting structure to be agreed with </a:t>
            </a:r>
            <a:r>
              <a:rPr sz="1200" dirty="0" err="1"/>
              <a:t>BoZ</a:t>
            </a:r>
            <a:endParaRPr sz="1200" dirty="0"/>
          </a:p>
        </p:txBody>
      </p:sp>
      <p:sp>
        <p:nvSpPr>
          <p:cNvPr id="26" name="Rounded Rectangle 25"/>
          <p:cNvSpPr/>
          <p:nvPr/>
        </p:nvSpPr>
        <p:spPr>
          <a:xfrm>
            <a:off x="914400" y="4044536"/>
            <a:ext cx="10058400" cy="4114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Oval 26"/>
          <p:cNvSpPr/>
          <p:nvPr/>
        </p:nvSpPr>
        <p:spPr>
          <a:xfrm>
            <a:off x="1051560" y="4181696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1280160" y="4108544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rPr sz="1400"/>
              <a:t>Section 28 — Record Retention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108544"/>
            <a:ext cx="42245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sz="1200"/>
              <a:t>All records stored electronically; 6+ year retention configured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501736"/>
            <a:ext cx="10058400" cy="4114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Oval 30"/>
          <p:cNvSpPr/>
          <p:nvPr/>
        </p:nvSpPr>
        <p:spPr>
          <a:xfrm>
            <a:off x="1051560" y="4638896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1280160" y="4565744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rPr sz="1400"/>
              <a:t>Section 29 — Access to Information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83555"/>
            <a:ext cx="4224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sz="1200" dirty="0"/>
              <a:t>Full database access; can provide information within 14-day requirement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958936"/>
            <a:ext cx="10058400" cy="4114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Oval 34"/>
          <p:cNvSpPr/>
          <p:nvPr/>
        </p:nvSpPr>
        <p:spPr>
          <a:xfrm>
            <a:off x="1051560" y="5096096"/>
            <a:ext cx="137160" cy="1371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TextBox 35"/>
          <p:cNvSpPr txBox="1"/>
          <p:nvPr/>
        </p:nvSpPr>
        <p:spPr>
          <a:xfrm>
            <a:off x="1280160" y="5022944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rPr sz="1400"/>
              <a:t>Section 30 — Documents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958936"/>
            <a:ext cx="42245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sz="1200" dirty="0"/>
              <a:t>Governance structure being formalized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416136"/>
            <a:ext cx="10058400" cy="4114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Oval 38"/>
          <p:cNvSpPr/>
          <p:nvPr/>
        </p:nvSpPr>
        <p:spPr>
          <a:xfrm>
            <a:off x="1051560" y="5553296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0" name="TextBox 39"/>
          <p:cNvSpPr txBox="1"/>
          <p:nvPr/>
        </p:nvSpPr>
        <p:spPr>
          <a:xfrm>
            <a:off x="1280160" y="5480144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rPr sz="1400"/>
              <a:t>Section 33 — Dishonoured Cheques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429959"/>
            <a:ext cx="42245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sz="1200" dirty="0"/>
              <a:t>N</a:t>
            </a:r>
            <a:r>
              <a:rPr lang="en-US" sz="1200" dirty="0"/>
              <a:t>/A</a:t>
            </a:r>
            <a:endParaRPr sz="1200" dirty="0"/>
          </a:p>
        </p:txBody>
      </p:sp>
      <p:sp>
        <p:nvSpPr>
          <p:cNvPr id="42" name="Rounded Rectangle 41"/>
          <p:cNvSpPr/>
          <p:nvPr/>
        </p:nvSpPr>
        <p:spPr>
          <a:xfrm>
            <a:off x="914400" y="5873336"/>
            <a:ext cx="10058400" cy="4114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3" name="Oval 42"/>
          <p:cNvSpPr/>
          <p:nvPr/>
        </p:nvSpPr>
        <p:spPr>
          <a:xfrm>
            <a:off x="1051560" y="6010496"/>
            <a:ext cx="137160" cy="1371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4" name="TextBox 43"/>
          <p:cNvSpPr txBox="1"/>
          <p:nvPr/>
        </p:nvSpPr>
        <p:spPr>
          <a:xfrm>
            <a:off x="1280160" y="59373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Section 43 — Rules &amp; Guidelines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19" y="5867080"/>
            <a:ext cx="45046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dirty="0"/>
              <a:t>Ready to comply with any </a:t>
            </a:r>
            <a:r>
              <a:rPr dirty="0" err="1"/>
              <a:t>BoZ</a:t>
            </a:r>
            <a:r>
              <a:rPr dirty="0"/>
              <a:t>-prescribed rules, guidelines, or directives</a:t>
            </a:r>
          </a:p>
        </p:txBody>
      </p:sp>
      <p:sp>
        <p:nvSpPr>
          <p:cNvPr id="46" name="Oval 45"/>
          <p:cNvSpPr/>
          <p:nvPr/>
        </p:nvSpPr>
        <p:spPr>
          <a:xfrm>
            <a:off x="2478506" y="65516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661386" y="64968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Compliant / Ready</a:t>
            </a:r>
          </a:p>
        </p:txBody>
      </p:sp>
      <p:sp>
        <p:nvSpPr>
          <p:cNvPr id="48" name="Oval 47"/>
          <p:cNvSpPr/>
          <p:nvPr/>
        </p:nvSpPr>
        <p:spPr>
          <a:xfrm>
            <a:off x="5323420" y="6601968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506300" y="65471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dirty="0"/>
              <a:t>In Progress / Action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5A623"/>
                </a:solidFill>
                <a:latin typeface="Calibri"/>
              </a:defRPr>
            </a:pPr>
            <a:r>
              <a:t>07B  |  COMPLIANCE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Monde Already Delivers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A2035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Technical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Full transaction audit trail with timestamps and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Real-time balance tracking with database-level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Encrypted data transmission (HTTPS/TLS on all endpoints)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Row-Level Security on all database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JWT-based authentication with session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77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Input validation and sanitization on all user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Electronic record storage with 6+ year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Separate fee ledger for revenue tracking and transparency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A2035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A56DB"/>
                </a:solidFill>
                <a:latin typeface="Calibri"/>
              </a:defRPr>
            </a:pPr>
            <a:r>
              <a:t>Operational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KYC-ready architecture (phone-based identity verification)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Transaction limits: min K1, max K50,000 per 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Anti-fraud controls on agent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337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Daily transaction caps and velocity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Admin dashboard for oversight and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977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Agent designation controlled by admin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Real-time notifications for all transactions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Cross-provider fee transparency at point of transaction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4864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5A623"/>
                </a:solidFill>
                <a:latin typeface="Calibri"/>
              </a:defRPr>
            </a:pPr>
            <a:r>
              <a:rPr dirty="0"/>
              <a:t>0</a:t>
            </a:r>
            <a:r>
              <a:rPr lang="en-US" dirty="0"/>
              <a:t>8</a:t>
            </a:r>
            <a:r>
              <a:rPr dirty="0"/>
              <a:t> |  RISK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Risk Management &amp; AML/CFT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2011680"/>
          </a:xfrm>
          <a:prstGeom prst="roundRect">
            <a:avLst>
              <a:gd name="adj" fmla="val 3000"/>
            </a:avLst>
          </a:prstGeom>
          <a:solidFill>
            <a:srgbClr val="1A2035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4864" cy="2011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A56DB"/>
                </a:solidFill>
                <a:latin typeface="Calibri"/>
              </a:defRPr>
            </a:pPr>
            <a:r>
              <a:rPr sz="1400"/>
              <a:t>Operational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/>
              <a:t>•  Transaction amount limits (K1–K50,000) to contain 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 dirty="0"/>
              <a:t>•  Real-time balance validation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3464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 dirty="0"/>
              <a:t>•  Atomic database transactions</a:t>
            </a:r>
            <a:r>
              <a:rPr lang="en-US" sz="1200" dirty="0"/>
              <a:t> for</a:t>
            </a:r>
            <a:r>
              <a:rPr sz="1200" dirty="0"/>
              <a:t> consistency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0896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/>
              <a:t>•  Automated error handling with graceful degradation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828800"/>
            <a:ext cx="5029200" cy="2011680"/>
          </a:xfrm>
          <a:prstGeom prst="roundRect">
            <a:avLst>
              <a:gd name="adj" fmla="val 3000"/>
            </a:avLst>
          </a:prstGeom>
          <a:solidFill>
            <a:srgbClr val="1A2035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Rectangle 12"/>
          <p:cNvSpPr/>
          <p:nvPr/>
        </p:nvSpPr>
        <p:spPr>
          <a:xfrm>
            <a:off x="6035040" y="1828800"/>
            <a:ext cx="54864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6263640" y="1938528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EF4444"/>
                </a:solidFill>
                <a:latin typeface="Calibri"/>
              </a:defRPr>
            </a:pPr>
            <a:r>
              <a:rPr sz="1400"/>
              <a:t>Fraud Prevention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8600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/>
              <a:t>•  Circular transaction detection (agent cash-in/cash-out within 24h)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6032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/>
              <a:t>•  Daily velocity limits per customer and per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/>
              <a:t>•  Agent-only operations segregated from customer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10896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 dirty="0"/>
              <a:t>•  Self-service blocks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38328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 dirty="0"/>
              <a:t>•  Login rate limiting</a:t>
            </a:r>
            <a:r>
              <a:rPr lang="en-US" sz="1200" dirty="0"/>
              <a:t> to</a:t>
            </a:r>
            <a:r>
              <a:rPr sz="1200" dirty="0"/>
              <a:t> prevent brute-force attacks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5029200" cy="2011680"/>
          </a:xfrm>
          <a:prstGeom prst="roundRect">
            <a:avLst>
              <a:gd name="adj" fmla="val 3000"/>
            </a:avLst>
          </a:prstGeom>
          <a:solidFill>
            <a:srgbClr val="1A2035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ectangle 20"/>
          <p:cNvSpPr/>
          <p:nvPr/>
        </p:nvSpPr>
        <p:spPr>
          <a:xfrm>
            <a:off x="731520" y="4023360"/>
            <a:ext cx="54864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960120" y="4133088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rPr sz="1400"/>
              <a:t>AML/CFT Readiness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48056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/>
              <a:t>•  Phone-based identity linked to MNO KYC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75488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/>
              <a:t>•  Full transaction audit trail for suspicious activity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02920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 dirty="0"/>
              <a:t>•  Planned: Formal MLRO appointment and STR filing procedures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30352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/>
              <a:t>•  Planned: Integration with FIC reporting requirements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57784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 dirty="0"/>
              <a:t>•  Planned: Enhanced due diligence for high-value transactions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4023360"/>
            <a:ext cx="5029200" cy="2011680"/>
          </a:xfrm>
          <a:prstGeom prst="roundRect">
            <a:avLst>
              <a:gd name="adj" fmla="val 3000"/>
            </a:avLst>
          </a:prstGeom>
          <a:solidFill>
            <a:srgbClr val="1A2035"/>
          </a:solidFill>
          <a:ln w="1270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Rectangle 28"/>
          <p:cNvSpPr/>
          <p:nvPr/>
        </p:nvSpPr>
        <p:spPr>
          <a:xfrm>
            <a:off x="6035040" y="4023360"/>
            <a:ext cx="54864" cy="2011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6263640" y="4133088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5A623"/>
                </a:solidFill>
                <a:latin typeface="Calibri"/>
              </a:defRPr>
            </a:pPr>
            <a:r>
              <a:rPr sz="1400"/>
              <a:t>Systemic Risk Mitigation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48056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/>
              <a:t>•  Funds held in regulated mobile money accounts (not pooled)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75488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/>
              <a:t>•  Fee ledger separation ensures operational funds are distinct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02920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/>
              <a:t>•  No credit extension — pure payment facilitation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30352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 dirty="0"/>
              <a:t>•  Settlement via existing regulated payment infrastructure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613835"/>
            <a:ext cx="4663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200"/>
              <a:t>•  Business continuity plan in development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73152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5A623"/>
                </a:solidFill>
                <a:latin typeface="Calibri"/>
              </a:defRPr>
            </a:pPr>
            <a:r>
              <a:rPr lang="en-US" dirty="0"/>
              <a:t>9</a:t>
            </a:r>
            <a:r>
              <a:rPr dirty="0"/>
              <a:t>  |  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E293B"/>
                </a:solidFill>
                <a:latin typeface="Calibri"/>
              </a:defRPr>
            </a:pPr>
            <a:r>
              <a:t>Phased Rollout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1775" y="3142649"/>
            <a:ext cx="941832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160727" y="3069497"/>
            <a:ext cx="219456" cy="219456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7455" y="341696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A56DB"/>
                </a:solidFill>
                <a:latin typeface="Calibri"/>
              </a:defRPr>
            </a:pPr>
            <a:r>
              <a:rPr dirty="0"/>
              <a:t>Q1–Q2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455" y="369128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E293B"/>
                </a:solidFill>
                <a:latin typeface="Calibri"/>
              </a:defRPr>
            </a:pPr>
            <a:r>
              <a:t>Pre-Launch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27455" y="4057049"/>
            <a:ext cx="22860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66767" y="3069497"/>
            <a:ext cx="219456" cy="21945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33495" y="341696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3495" y="3691289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E293B"/>
                </a:solidFill>
                <a:latin typeface="Calibri"/>
              </a:defRPr>
            </a:pPr>
            <a:r>
              <a:rPr dirty="0"/>
              <a:t> Pilot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495" y="4057049"/>
            <a:ext cx="22860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372807" y="3069497"/>
            <a:ext cx="219456" cy="219456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39535" y="341696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5A623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9535" y="369128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E293B"/>
                </a:solidFill>
                <a:latin typeface="Calibri"/>
              </a:defRPr>
            </a:pPr>
            <a:r>
              <a:t>Controlled Launch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39535" y="4057049"/>
            <a:ext cx="22860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978847" y="3069497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45575" y="341696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8B5CF6"/>
                </a:solidFill>
                <a:latin typeface="Calibri"/>
              </a:defRPr>
            </a:pPr>
            <a:r>
              <a:t>2027+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5575" y="369128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E293B"/>
                </a:solidFill>
                <a:latin typeface="Calibri"/>
              </a:defRPr>
            </a:pPr>
            <a:r>
              <a:t>Scale &amp; Expand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45575" y="4057049"/>
            <a:ext cx="22860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872C56-604E-A867-7324-42C6FD7EC4D4}"/>
              </a:ext>
            </a:extLst>
          </p:cNvPr>
          <p:cNvSpPr txBox="1"/>
          <p:nvPr/>
        </p:nvSpPr>
        <p:spPr>
          <a:xfrm>
            <a:off x="4548804" y="2664372"/>
            <a:ext cx="30943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00B050"/>
                </a:solidFill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63CBCB-B281-4F84-1A3E-B7C10DB2D2C3}"/>
              </a:ext>
            </a:extLst>
          </p:cNvPr>
          <p:cNvSpPr txBox="1"/>
          <p:nvPr/>
        </p:nvSpPr>
        <p:spPr>
          <a:xfrm>
            <a:off x="987552" y="512064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5A623"/>
                </a:solidFill>
                <a:latin typeface="Calibri"/>
              </a:defRPr>
            </a:pPr>
            <a:r>
              <a:rPr dirty="0">
                <a:solidFill>
                  <a:srgbClr val="FFC000"/>
                </a:solidFill>
              </a:rPr>
              <a:t>Contact Information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98751D-824B-1670-CF40-48F1375591D0}"/>
              </a:ext>
            </a:extLst>
          </p:cNvPr>
          <p:cNvSpPr txBox="1"/>
          <p:nvPr/>
        </p:nvSpPr>
        <p:spPr>
          <a:xfrm>
            <a:off x="987552" y="5440680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Monde Payment Systems</a:t>
            </a:r>
            <a:b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Denny Sepiso</a:t>
            </a:r>
            <a:b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hlinkClick r:id="rId2"/>
              </a:rPr>
              <a:t>Dennysepiso@gmail.com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0970627630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368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1536</Words>
  <Application>Microsoft Office PowerPoint</Application>
  <PresentationFormat>Widescreen</PresentationFormat>
  <Paragraphs>231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Denny Sepiso</cp:lastModifiedBy>
  <cp:revision>10</cp:revision>
  <dcterms:created xsi:type="dcterms:W3CDTF">2013-01-27T09:14:16Z</dcterms:created>
  <dcterms:modified xsi:type="dcterms:W3CDTF">2026-03-18T14:53:23Z</dcterms:modified>
  <cp:category/>
</cp:coreProperties>
</file>