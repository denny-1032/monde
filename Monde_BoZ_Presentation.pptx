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0" d="100"/>
          <a:sy n="80" d="100"/>
        </p:scale>
        <p:origin x="27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1828800"/>
            <a:ext cx="7315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280160" y="1645920"/>
            <a:ext cx="7315200" cy="731520"/>
          </a:xfrm>
          <a:prstGeom prst="rect">
            <a:avLst/>
          </a:prstGeom>
          <a:noFill/>
        </p:spPr>
        <p:txBody>
          <a:bodyPr wrap="square">
            <a:spAutoFit/>
          </a:bodyPr>
          <a:lstStyle/>
          <a:p>
            <a:pPr algn="l">
              <a:spcAft>
                <a:spcPts val="0"/>
              </a:spcAft>
              <a:defRPr sz="5200" b="1">
                <a:solidFill>
                  <a:srgbClr val="FFFFFF"/>
                </a:solidFill>
                <a:latin typeface="Calibri"/>
              </a:defRPr>
            </a:pPr>
            <a:r>
              <a:t>MONDE</a:t>
            </a:r>
          </a:p>
        </p:txBody>
      </p:sp>
      <p:sp>
        <p:nvSpPr>
          <p:cNvPr id="4" name="TextBox 3"/>
          <p:cNvSpPr txBox="1"/>
          <p:nvPr/>
        </p:nvSpPr>
        <p:spPr>
          <a:xfrm>
            <a:off x="1280160" y="2286000"/>
            <a:ext cx="7315200" cy="457200"/>
          </a:xfrm>
          <a:prstGeom prst="rect">
            <a:avLst/>
          </a:prstGeom>
          <a:noFill/>
        </p:spPr>
        <p:txBody>
          <a:bodyPr wrap="square">
            <a:spAutoFit/>
          </a:bodyPr>
          <a:lstStyle/>
          <a:p>
            <a:pPr algn="l">
              <a:spcAft>
                <a:spcPts val="0"/>
              </a:spcAft>
              <a:defRPr sz="2400" b="0">
                <a:solidFill>
                  <a:srgbClr val="F5A623"/>
                </a:solidFill>
                <a:latin typeface="Calibri"/>
              </a:defRPr>
            </a:pPr>
            <a:r>
              <a:t>Tap. Pay. Done.</a:t>
            </a:r>
          </a:p>
        </p:txBody>
      </p:sp>
      <p:sp>
        <p:nvSpPr>
          <p:cNvPr id="5" name="TextBox 4"/>
          <p:cNvSpPr txBox="1"/>
          <p:nvPr/>
        </p:nvSpPr>
        <p:spPr>
          <a:xfrm>
            <a:off x="1280160" y="3108960"/>
            <a:ext cx="9144000" cy="914400"/>
          </a:xfrm>
          <a:prstGeom prst="rect">
            <a:avLst/>
          </a:prstGeom>
          <a:noFill/>
        </p:spPr>
        <p:txBody>
          <a:bodyPr wrap="square">
            <a:spAutoFit/>
          </a:bodyPr>
          <a:lstStyle/>
          <a:p>
            <a:pPr algn="l">
              <a:spcAft>
                <a:spcPts val="0"/>
              </a:spcAft>
              <a:defRPr sz="3600" b="1">
                <a:solidFill>
                  <a:srgbClr val="FFFFFF"/>
                </a:solidFill>
                <a:latin typeface="Calibri"/>
              </a:defRPr>
            </a:pPr>
            <a:r>
              <a:t>Payment System Business</a:t>
            </a:r>
            <a:br/>
            <a:r>
              <a:t>Designation Application</a:t>
            </a:r>
          </a:p>
        </p:txBody>
      </p:sp>
      <p:sp>
        <p:nvSpPr>
          <p:cNvPr id="6" name="TextBox 5"/>
          <p:cNvSpPr txBox="1"/>
          <p:nvPr/>
        </p:nvSpPr>
        <p:spPr>
          <a:xfrm>
            <a:off x="1280160" y="4389120"/>
            <a:ext cx="9144000" cy="457200"/>
          </a:xfrm>
          <a:prstGeom prst="rect">
            <a:avLst/>
          </a:prstGeom>
          <a:noFill/>
        </p:spPr>
        <p:txBody>
          <a:bodyPr wrap="square">
            <a:spAutoFit/>
          </a:bodyPr>
          <a:lstStyle/>
          <a:p>
            <a:pPr algn="l">
              <a:spcAft>
                <a:spcPts val="0"/>
              </a:spcAft>
              <a:defRPr sz="1800" b="0">
                <a:solidFill>
                  <a:srgbClr val="94A3B8"/>
                </a:solidFill>
                <a:latin typeface="Calibri"/>
              </a:defRPr>
            </a:pPr>
            <a:r>
              <a:t>Presentation to the Bank of Zambia</a:t>
            </a:r>
          </a:p>
        </p:txBody>
      </p:sp>
      <p:sp>
        <p:nvSpPr>
          <p:cNvPr id="7" name="TextBox 6"/>
          <p:cNvSpPr txBox="1"/>
          <p:nvPr/>
        </p:nvSpPr>
        <p:spPr>
          <a:xfrm>
            <a:off x="1280160" y="4937760"/>
            <a:ext cx="9144000" cy="365760"/>
          </a:xfrm>
          <a:prstGeom prst="rect">
            <a:avLst/>
          </a:prstGeom>
          <a:noFill/>
        </p:spPr>
        <p:txBody>
          <a:bodyPr wrap="square">
            <a:spAutoFit/>
          </a:bodyPr>
          <a:lstStyle/>
          <a:p>
            <a:pPr algn="l">
              <a:spcAft>
                <a:spcPts val="0"/>
              </a:spcAft>
              <a:defRPr sz="1400" b="0">
                <a:solidFill>
                  <a:srgbClr val="64748B"/>
                </a:solidFill>
                <a:latin typeface="Calibri"/>
              </a:defRPr>
            </a:pPr>
            <a:r>
              <a:t>National Payment Systems Act No. 1 of 2007  |  Section 12</a:t>
            </a:r>
          </a:p>
        </p:txBody>
      </p:sp>
      <p:sp>
        <p:nvSpPr>
          <p:cNvPr id="8" name="Rectangle 7"/>
          <p:cNvSpPr/>
          <p:nvPr/>
        </p:nvSpPr>
        <p:spPr>
          <a:xfrm>
            <a:off x="0" y="6784848"/>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 / 18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548640"/>
          </a:xfrm>
          <a:prstGeom prst="rect">
            <a:avLst/>
          </a:prstGeom>
          <a:noFill/>
        </p:spPr>
        <p:txBody>
          <a:bodyPr wrap="square">
            <a:spAutoFit/>
          </a:bodyPr>
          <a:lstStyle/>
          <a:p>
            <a:pPr algn="l">
              <a:spcAft>
                <a:spcPts val="0"/>
              </a:spcAft>
              <a:defRPr sz="1400" b="1">
                <a:solidFill>
                  <a:srgbClr val="F5A623"/>
                </a:solidFill>
                <a:latin typeface="Calibri"/>
              </a:defRPr>
            </a:pPr>
            <a:r>
              <a:t>AGENDA</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Presentation Overview</a:t>
            </a:r>
          </a:p>
        </p:txBody>
      </p:sp>
      <p:sp>
        <p:nvSpPr>
          <p:cNvPr id="5" name="TextBox 4"/>
          <p:cNvSpPr txBox="1"/>
          <p:nvPr/>
        </p:nvSpPr>
        <p:spPr>
          <a:xfrm>
            <a:off x="1097280" y="1828800"/>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01</a:t>
            </a:r>
          </a:p>
        </p:txBody>
      </p:sp>
      <p:sp>
        <p:nvSpPr>
          <p:cNvPr id="6" name="TextBox 5"/>
          <p:cNvSpPr txBox="1"/>
          <p:nvPr/>
        </p:nvSpPr>
        <p:spPr>
          <a:xfrm>
            <a:off x="1554480" y="1828800"/>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Executive Summary</a:t>
            </a:r>
          </a:p>
        </p:txBody>
      </p:sp>
      <p:sp>
        <p:nvSpPr>
          <p:cNvPr id="7" name="TextBox 6"/>
          <p:cNvSpPr txBox="1"/>
          <p:nvPr/>
        </p:nvSpPr>
        <p:spPr>
          <a:xfrm>
            <a:off x="3931920" y="1828800"/>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Who we are and what we seek</a:t>
            </a:r>
          </a:p>
        </p:txBody>
      </p:sp>
      <p:sp>
        <p:nvSpPr>
          <p:cNvPr id="8" name="TextBox 7"/>
          <p:cNvSpPr txBox="1"/>
          <p:nvPr/>
        </p:nvSpPr>
        <p:spPr>
          <a:xfrm>
            <a:off x="1097280" y="2212848"/>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02</a:t>
            </a:r>
          </a:p>
        </p:txBody>
      </p:sp>
      <p:sp>
        <p:nvSpPr>
          <p:cNvPr id="9" name="TextBox 8"/>
          <p:cNvSpPr txBox="1"/>
          <p:nvPr/>
        </p:nvSpPr>
        <p:spPr>
          <a:xfrm>
            <a:off x="1554480" y="2212848"/>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The Problem</a:t>
            </a:r>
          </a:p>
        </p:txBody>
      </p:sp>
      <p:sp>
        <p:nvSpPr>
          <p:cNvPr id="10" name="TextBox 9"/>
          <p:cNvSpPr txBox="1"/>
          <p:nvPr/>
        </p:nvSpPr>
        <p:spPr>
          <a:xfrm>
            <a:off x="3931920" y="2212848"/>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Financial inclusion gap in Zambia</a:t>
            </a:r>
          </a:p>
        </p:txBody>
      </p:sp>
      <p:sp>
        <p:nvSpPr>
          <p:cNvPr id="11" name="TextBox 10"/>
          <p:cNvSpPr txBox="1"/>
          <p:nvPr/>
        </p:nvSpPr>
        <p:spPr>
          <a:xfrm>
            <a:off x="1097280" y="2596896"/>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03</a:t>
            </a:r>
          </a:p>
        </p:txBody>
      </p:sp>
      <p:sp>
        <p:nvSpPr>
          <p:cNvPr id="12" name="TextBox 11"/>
          <p:cNvSpPr txBox="1"/>
          <p:nvPr/>
        </p:nvSpPr>
        <p:spPr>
          <a:xfrm>
            <a:off x="1554480" y="2596896"/>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Our Solution — Monde</a:t>
            </a:r>
          </a:p>
        </p:txBody>
      </p:sp>
      <p:sp>
        <p:nvSpPr>
          <p:cNvPr id="13" name="TextBox 12"/>
          <p:cNvSpPr txBox="1"/>
          <p:nvPr/>
        </p:nvSpPr>
        <p:spPr>
          <a:xfrm>
            <a:off x="3931920" y="2596896"/>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Platform overview and key features</a:t>
            </a:r>
          </a:p>
        </p:txBody>
      </p:sp>
      <p:sp>
        <p:nvSpPr>
          <p:cNvPr id="14" name="TextBox 13"/>
          <p:cNvSpPr txBox="1"/>
          <p:nvPr/>
        </p:nvSpPr>
        <p:spPr>
          <a:xfrm>
            <a:off x="1097280" y="2980944"/>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04</a:t>
            </a:r>
          </a:p>
        </p:txBody>
      </p:sp>
      <p:sp>
        <p:nvSpPr>
          <p:cNvPr id="15" name="TextBox 14"/>
          <p:cNvSpPr txBox="1"/>
          <p:nvPr/>
        </p:nvSpPr>
        <p:spPr>
          <a:xfrm>
            <a:off x="1554480" y="2980944"/>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Technology &amp; Security</a:t>
            </a:r>
          </a:p>
        </p:txBody>
      </p:sp>
      <p:sp>
        <p:nvSpPr>
          <p:cNvPr id="16" name="TextBox 15"/>
          <p:cNvSpPr txBox="1"/>
          <p:nvPr/>
        </p:nvSpPr>
        <p:spPr>
          <a:xfrm>
            <a:off x="3931920" y="2980944"/>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Architecture, data protection, fraud prevention</a:t>
            </a:r>
          </a:p>
        </p:txBody>
      </p:sp>
      <p:sp>
        <p:nvSpPr>
          <p:cNvPr id="17" name="TextBox 16"/>
          <p:cNvSpPr txBox="1"/>
          <p:nvPr/>
        </p:nvSpPr>
        <p:spPr>
          <a:xfrm>
            <a:off x="1097280" y="3364992"/>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05</a:t>
            </a:r>
          </a:p>
        </p:txBody>
      </p:sp>
      <p:sp>
        <p:nvSpPr>
          <p:cNvPr id="18" name="TextBox 17"/>
          <p:cNvSpPr txBox="1"/>
          <p:nvPr/>
        </p:nvSpPr>
        <p:spPr>
          <a:xfrm>
            <a:off x="1554480" y="3364992"/>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Agent Network Model</a:t>
            </a:r>
          </a:p>
        </p:txBody>
      </p:sp>
      <p:sp>
        <p:nvSpPr>
          <p:cNvPr id="19" name="TextBox 18"/>
          <p:cNvSpPr txBox="1"/>
          <p:nvPr/>
        </p:nvSpPr>
        <p:spPr>
          <a:xfrm>
            <a:off x="3931920" y="3364992"/>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Cash-in, cash-out, and agent operations</a:t>
            </a:r>
          </a:p>
        </p:txBody>
      </p:sp>
      <p:sp>
        <p:nvSpPr>
          <p:cNvPr id="20" name="TextBox 19"/>
          <p:cNvSpPr txBox="1"/>
          <p:nvPr/>
        </p:nvSpPr>
        <p:spPr>
          <a:xfrm>
            <a:off x="1097280" y="3749040"/>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06</a:t>
            </a:r>
          </a:p>
        </p:txBody>
      </p:sp>
      <p:sp>
        <p:nvSpPr>
          <p:cNvPr id="21" name="TextBox 20"/>
          <p:cNvSpPr txBox="1"/>
          <p:nvPr/>
        </p:nvSpPr>
        <p:spPr>
          <a:xfrm>
            <a:off x="1554480" y="3749040"/>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Business Model &amp; Fees</a:t>
            </a:r>
          </a:p>
        </p:txBody>
      </p:sp>
      <p:sp>
        <p:nvSpPr>
          <p:cNvPr id="22" name="TextBox 21"/>
          <p:cNvSpPr txBox="1"/>
          <p:nvPr/>
        </p:nvSpPr>
        <p:spPr>
          <a:xfrm>
            <a:off x="3931920" y="3749040"/>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Revenue structure and fee transparency</a:t>
            </a:r>
          </a:p>
        </p:txBody>
      </p:sp>
      <p:sp>
        <p:nvSpPr>
          <p:cNvPr id="23" name="TextBox 22"/>
          <p:cNvSpPr txBox="1"/>
          <p:nvPr/>
        </p:nvSpPr>
        <p:spPr>
          <a:xfrm>
            <a:off x="6400800" y="1828800"/>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07</a:t>
            </a:r>
          </a:p>
        </p:txBody>
      </p:sp>
      <p:sp>
        <p:nvSpPr>
          <p:cNvPr id="24" name="TextBox 23"/>
          <p:cNvSpPr txBox="1"/>
          <p:nvPr/>
        </p:nvSpPr>
        <p:spPr>
          <a:xfrm>
            <a:off x="6858000" y="1828800"/>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Regulatory Compliance</a:t>
            </a:r>
          </a:p>
        </p:txBody>
      </p:sp>
      <p:sp>
        <p:nvSpPr>
          <p:cNvPr id="25" name="TextBox 24"/>
          <p:cNvSpPr txBox="1"/>
          <p:nvPr/>
        </p:nvSpPr>
        <p:spPr>
          <a:xfrm>
            <a:off x="9235440" y="1828800"/>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NPSA 2007 mapping and compliance assessment</a:t>
            </a:r>
          </a:p>
        </p:txBody>
      </p:sp>
      <p:sp>
        <p:nvSpPr>
          <p:cNvPr id="26" name="TextBox 25"/>
          <p:cNvSpPr txBox="1"/>
          <p:nvPr/>
        </p:nvSpPr>
        <p:spPr>
          <a:xfrm>
            <a:off x="6400800" y="2212848"/>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08</a:t>
            </a:r>
          </a:p>
        </p:txBody>
      </p:sp>
      <p:sp>
        <p:nvSpPr>
          <p:cNvPr id="27" name="TextBox 26"/>
          <p:cNvSpPr txBox="1"/>
          <p:nvPr/>
        </p:nvSpPr>
        <p:spPr>
          <a:xfrm>
            <a:off x="6858000" y="2212848"/>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Compliance Roadmap</a:t>
            </a:r>
          </a:p>
        </p:txBody>
      </p:sp>
      <p:sp>
        <p:nvSpPr>
          <p:cNvPr id="28" name="TextBox 27"/>
          <p:cNvSpPr txBox="1"/>
          <p:nvPr/>
        </p:nvSpPr>
        <p:spPr>
          <a:xfrm>
            <a:off x="9235440" y="2212848"/>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Steps toward full designation readiness</a:t>
            </a:r>
          </a:p>
        </p:txBody>
      </p:sp>
      <p:sp>
        <p:nvSpPr>
          <p:cNvPr id="29" name="TextBox 28"/>
          <p:cNvSpPr txBox="1"/>
          <p:nvPr/>
        </p:nvSpPr>
        <p:spPr>
          <a:xfrm>
            <a:off x="6400800" y="2596896"/>
            <a:ext cx="457200" cy="384048"/>
          </a:xfrm>
          <a:prstGeom prst="rect">
            <a:avLst/>
          </a:prstGeom>
          <a:noFill/>
        </p:spPr>
        <p:txBody>
          <a:bodyPr wrap="square">
            <a:spAutoFit/>
          </a:bodyPr>
          <a:lstStyle/>
          <a:p>
            <a:pPr algn="l">
              <a:spcAft>
                <a:spcPts val="0"/>
              </a:spcAft>
              <a:defRPr sz="1400" b="1">
                <a:solidFill>
                  <a:srgbClr val="1A56DB"/>
                </a:solidFill>
                <a:latin typeface="Calibri"/>
              </a:defRPr>
            </a:pPr>
            <a:r>
              <a:t>09</a:t>
            </a:r>
          </a:p>
        </p:txBody>
      </p:sp>
      <p:sp>
        <p:nvSpPr>
          <p:cNvPr id="30" name="TextBox 29"/>
          <p:cNvSpPr txBox="1"/>
          <p:nvPr/>
        </p:nvSpPr>
        <p:spPr>
          <a:xfrm>
            <a:off x="6858000" y="2596896"/>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Risk Management &amp; AML/CFT</a:t>
            </a:r>
          </a:p>
        </p:txBody>
      </p:sp>
      <p:sp>
        <p:nvSpPr>
          <p:cNvPr id="31" name="TextBox 30"/>
          <p:cNvSpPr txBox="1"/>
          <p:nvPr/>
        </p:nvSpPr>
        <p:spPr>
          <a:xfrm>
            <a:off x="9235440" y="2596896"/>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Controls, limits, and monitoring</a:t>
            </a:r>
          </a:p>
        </p:txBody>
      </p:sp>
      <p:sp>
        <p:nvSpPr>
          <p:cNvPr id="32" name="TextBox 31"/>
          <p:cNvSpPr txBox="1"/>
          <p:nvPr/>
        </p:nvSpPr>
        <p:spPr>
          <a:xfrm>
            <a:off x="6400800" y="2980944"/>
            <a:ext cx="457200" cy="384048"/>
          </a:xfrm>
          <a:prstGeom prst="rect">
            <a:avLst/>
          </a:prstGeom>
          <a:noFill/>
        </p:spPr>
        <p:txBody>
          <a:bodyPr wrap="square">
            <a:spAutoFit/>
          </a:bodyPr>
          <a:lstStyle/>
          <a:p>
            <a:pPr algn="l">
              <a:spcAft>
                <a:spcPts val="0"/>
              </a:spcAft>
              <a:defRPr sz="1400" b="1">
                <a:solidFill>
                  <a:srgbClr val="1A56DB"/>
                </a:solidFill>
                <a:latin typeface="Calibri"/>
              </a:defRPr>
            </a:pPr>
            <a:r>
              <a:t>10</a:t>
            </a:r>
          </a:p>
        </p:txBody>
      </p:sp>
      <p:sp>
        <p:nvSpPr>
          <p:cNvPr id="33" name="TextBox 32"/>
          <p:cNvSpPr txBox="1"/>
          <p:nvPr/>
        </p:nvSpPr>
        <p:spPr>
          <a:xfrm>
            <a:off x="6858000" y="2980944"/>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Market Opportunity</a:t>
            </a:r>
          </a:p>
        </p:txBody>
      </p:sp>
      <p:sp>
        <p:nvSpPr>
          <p:cNvPr id="34" name="TextBox 33"/>
          <p:cNvSpPr txBox="1"/>
          <p:nvPr/>
        </p:nvSpPr>
        <p:spPr>
          <a:xfrm>
            <a:off x="9235440" y="2980944"/>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Zambia's digital payments landscape</a:t>
            </a:r>
          </a:p>
        </p:txBody>
      </p:sp>
      <p:sp>
        <p:nvSpPr>
          <p:cNvPr id="35" name="TextBox 34"/>
          <p:cNvSpPr txBox="1"/>
          <p:nvPr/>
        </p:nvSpPr>
        <p:spPr>
          <a:xfrm>
            <a:off x="6400800" y="3364992"/>
            <a:ext cx="457200" cy="384048"/>
          </a:xfrm>
          <a:prstGeom prst="rect">
            <a:avLst/>
          </a:prstGeom>
          <a:noFill/>
        </p:spPr>
        <p:txBody>
          <a:bodyPr wrap="square">
            <a:spAutoFit/>
          </a:bodyPr>
          <a:lstStyle/>
          <a:p>
            <a:pPr algn="l">
              <a:spcAft>
                <a:spcPts val="0"/>
              </a:spcAft>
              <a:defRPr sz="1400" b="1">
                <a:solidFill>
                  <a:srgbClr val="1A56DB"/>
                </a:solidFill>
                <a:latin typeface="Calibri"/>
              </a:defRPr>
            </a:pPr>
            <a:r>
              <a:t>11</a:t>
            </a:r>
          </a:p>
        </p:txBody>
      </p:sp>
      <p:sp>
        <p:nvSpPr>
          <p:cNvPr id="36" name="TextBox 35"/>
          <p:cNvSpPr txBox="1"/>
          <p:nvPr/>
        </p:nvSpPr>
        <p:spPr>
          <a:xfrm>
            <a:off x="6858000" y="3364992"/>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Implementation Timeline</a:t>
            </a:r>
          </a:p>
        </p:txBody>
      </p:sp>
      <p:sp>
        <p:nvSpPr>
          <p:cNvPr id="37" name="TextBox 36"/>
          <p:cNvSpPr txBox="1"/>
          <p:nvPr/>
        </p:nvSpPr>
        <p:spPr>
          <a:xfrm>
            <a:off x="9235440" y="3364992"/>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Phased rollout plan</a:t>
            </a:r>
          </a:p>
        </p:txBody>
      </p:sp>
      <p:sp>
        <p:nvSpPr>
          <p:cNvPr id="38" name="TextBox 37"/>
          <p:cNvSpPr txBox="1"/>
          <p:nvPr/>
        </p:nvSpPr>
        <p:spPr>
          <a:xfrm>
            <a:off x="6400800" y="3749040"/>
            <a:ext cx="457200" cy="384048"/>
          </a:xfrm>
          <a:prstGeom prst="rect">
            <a:avLst/>
          </a:prstGeom>
          <a:noFill/>
        </p:spPr>
        <p:txBody>
          <a:bodyPr wrap="square">
            <a:spAutoFit/>
          </a:bodyPr>
          <a:lstStyle/>
          <a:p>
            <a:pPr algn="l">
              <a:spcAft>
                <a:spcPts val="0"/>
              </a:spcAft>
              <a:defRPr sz="1400" b="1">
                <a:solidFill>
                  <a:srgbClr val="1A56DB"/>
                </a:solidFill>
                <a:latin typeface="Calibri"/>
              </a:defRPr>
            </a:pPr>
            <a:r>
              <a:t>12</a:t>
            </a:r>
          </a:p>
        </p:txBody>
      </p:sp>
      <p:sp>
        <p:nvSpPr>
          <p:cNvPr id="39" name="TextBox 38"/>
          <p:cNvSpPr txBox="1"/>
          <p:nvPr/>
        </p:nvSpPr>
        <p:spPr>
          <a:xfrm>
            <a:off x="6858000" y="3749040"/>
            <a:ext cx="2286000" cy="384048"/>
          </a:xfrm>
          <a:prstGeom prst="rect">
            <a:avLst/>
          </a:prstGeom>
          <a:noFill/>
        </p:spPr>
        <p:txBody>
          <a:bodyPr wrap="square">
            <a:spAutoFit/>
          </a:bodyPr>
          <a:lstStyle/>
          <a:p>
            <a:pPr algn="l">
              <a:spcAft>
                <a:spcPts val="0"/>
              </a:spcAft>
              <a:defRPr sz="1300" b="1">
                <a:solidFill>
                  <a:srgbClr val="1E293B"/>
                </a:solidFill>
                <a:latin typeface="Calibri"/>
              </a:defRPr>
            </a:pPr>
            <a:r>
              <a:t>Next Steps &amp; Contact</a:t>
            </a:r>
          </a:p>
        </p:txBody>
      </p:sp>
      <p:sp>
        <p:nvSpPr>
          <p:cNvPr id="40" name="TextBox 39"/>
          <p:cNvSpPr txBox="1"/>
          <p:nvPr/>
        </p:nvSpPr>
        <p:spPr>
          <a:xfrm>
            <a:off x="9235440" y="3749040"/>
            <a:ext cx="2286000" cy="384048"/>
          </a:xfrm>
          <a:prstGeom prst="rect">
            <a:avLst/>
          </a:prstGeom>
          <a:noFill/>
        </p:spPr>
        <p:txBody>
          <a:bodyPr wrap="square">
            <a:spAutoFit/>
          </a:bodyPr>
          <a:lstStyle/>
          <a:p>
            <a:pPr algn="l">
              <a:spcAft>
                <a:spcPts val="0"/>
              </a:spcAft>
              <a:defRPr sz="1100" b="0">
                <a:solidFill>
                  <a:srgbClr val="64748B"/>
                </a:solidFill>
                <a:latin typeface="Calibri"/>
              </a:defRPr>
            </a:pPr>
            <a:r>
              <a:t>Path forward with the Bank of Zambia</a:t>
            </a:r>
          </a:p>
        </p:txBody>
      </p:sp>
      <p:sp>
        <p:nvSpPr>
          <p:cNvPr id="41" name="TextBox 40"/>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2 / 18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01  |  EXECUTIVE SUMMARY</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Monde at a Glance</a:t>
            </a:r>
          </a:p>
        </p:txBody>
      </p:sp>
      <p:sp>
        <p:nvSpPr>
          <p:cNvPr id="5" name="TextBox 4"/>
          <p:cNvSpPr txBox="1"/>
          <p:nvPr/>
        </p:nvSpPr>
        <p:spPr>
          <a:xfrm>
            <a:off x="1097280" y="1645920"/>
            <a:ext cx="5029200" cy="4114800"/>
          </a:xfrm>
          <a:prstGeom prst="rect">
            <a:avLst/>
          </a:prstGeom>
          <a:noFill/>
        </p:spPr>
        <p:txBody>
          <a:bodyPr wrap="square">
            <a:spAutoFit/>
          </a:bodyPr>
          <a:lstStyle/>
          <a:p>
            <a:pPr algn="l">
              <a:spcAft>
                <a:spcPts val="0"/>
              </a:spcAft>
              <a:defRPr sz="1400" b="0">
                <a:solidFill>
                  <a:srgbClr val="64748B"/>
                </a:solidFill>
                <a:latin typeface="Calibri"/>
              </a:defRPr>
            </a:pPr>
            <a:r>
              <a:t>Monde is a mobile payment application purpose-built for Zambia's financial ecosystem. Our platform enables instant, secure, and affordable person-to-person (P2P) payments, QR code transactions, NFC tap-to-pay, and agent-assisted cash-in/cash-out services.</a:t>
            </a:r>
            <a:br/>
            <a:br/>
            <a:r>
              <a:t>We are seeking designation as a Payment System Business under Section 12 of the National Payment Systems Act No. 1 of 2007, to legally operate money transfer and transmission services within the Republic of Zambia.</a:t>
            </a:r>
            <a:br/>
            <a:br/>
            <a:r>
              <a:t>Monde is designed to be fully interoperable across all major Zambian payment providers — Airtel Money, MTN MoMo, Zamtel Kwacha, FNB, Zanaco, and Absa — bridging the gap between mobile money ecosystems and traditional banking.</a:t>
            </a:r>
          </a:p>
        </p:txBody>
      </p:sp>
      <p:sp>
        <p:nvSpPr>
          <p:cNvPr id="6" name="Rounded Rectangle 5"/>
          <p:cNvSpPr/>
          <p:nvPr/>
        </p:nvSpPr>
        <p:spPr>
          <a:xfrm>
            <a:off x="6858000" y="1645920"/>
            <a:ext cx="2286000" cy="109728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86600" y="1783080"/>
            <a:ext cx="2011680" cy="457200"/>
          </a:xfrm>
          <a:prstGeom prst="rect">
            <a:avLst/>
          </a:prstGeom>
          <a:noFill/>
        </p:spPr>
        <p:txBody>
          <a:bodyPr wrap="square">
            <a:spAutoFit/>
          </a:bodyPr>
          <a:lstStyle/>
          <a:p>
            <a:pPr algn="l">
              <a:spcAft>
                <a:spcPts val="0"/>
              </a:spcAft>
              <a:defRPr sz="2800" b="1">
                <a:solidFill>
                  <a:srgbClr val="1A56DB"/>
                </a:solidFill>
                <a:latin typeface="Calibri"/>
              </a:defRPr>
            </a:pPr>
            <a:r>
              <a:t>6</a:t>
            </a:r>
          </a:p>
        </p:txBody>
      </p:sp>
      <p:sp>
        <p:nvSpPr>
          <p:cNvPr id="8" name="TextBox 7"/>
          <p:cNvSpPr txBox="1"/>
          <p:nvPr/>
        </p:nvSpPr>
        <p:spPr>
          <a:xfrm>
            <a:off x="7086600" y="2286000"/>
            <a:ext cx="2011680" cy="457200"/>
          </a:xfrm>
          <a:prstGeom prst="rect">
            <a:avLst/>
          </a:prstGeom>
          <a:noFill/>
        </p:spPr>
        <p:txBody>
          <a:bodyPr wrap="square">
            <a:spAutoFit/>
          </a:bodyPr>
          <a:lstStyle/>
          <a:p>
            <a:pPr algn="l">
              <a:spcAft>
                <a:spcPts val="0"/>
              </a:spcAft>
              <a:defRPr sz="1100" b="0">
                <a:solidFill>
                  <a:srgbClr val="64748B"/>
                </a:solidFill>
                <a:latin typeface="Calibri"/>
              </a:defRPr>
            </a:pPr>
            <a:r>
              <a:t>Providers</a:t>
            </a:r>
            <a:br/>
            <a:r>
              <a:t>Supported</a:t>
            </a:r>
          </a:p>
        </p:txBody>
      </p:sp>
      <p:sp>
        <p:nvSpPr>
          <p:cNvPr id="9" name="Rounded Rectangle 8"/>
          <p:cNvSpPr/>
          <p:nvPr/>
        </p:nvSpPr>
        <p:spPr>
          <a:xfrm>
            <a:off x="9326880" y="1645920"/>
            <a:ext cx="2286000" cy="109728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555480" y="1783080"/>
            <a:ext cx="2011680" cy="457200"/>
          </a:xfrm>
          <a:prstGeom prst="rect">
            <a:avLst/>
          </a:prstGeom>
          <a:noFill/>
        </p:spPr>
        <p:txBody>
          <a:bodyPr wrap="square">
            <a:spAutoFit/>
          </a:bodyPr>
          <a:lstStyle/>
          <a:p>
            <a:pPr algn="l">
              <a:spcAft>
                <a:spcPts val="0"/>
              </a:spcAft>
              <a:defRPr sz="2800" b="1">
                <a:solidFill>
                  <a:srgbClr val="10B981"/>
                </a:solidFill>
                <a:latin typeface="Calibri"/>
              </a:defRPr>
            </a:pPr>
            <a:r>
              <a:t>3</a:t>
            </a:r>
          </a:p>
        </p:txBody>
      </p:sp>
      <p:sp>
        <p:nvSpPr>
          <p:cNvPr id="11" name="TextBox 10"/>
          <p:cNvSpPr txBox="1"/>
          <p:nvPr/>
        </p:nvSpPr>
        <p:spPr>
          <a:xfrm>
            <a:off x="9555480" y="2286000"/>
            <a:ext cx="2011680" cy="457200"/>
          </a:xfrm>
          <a:prstGeom prst="rect">
            <a:avLst/>
          </a:prstGeom>
          <a:noFill/>
        </p:spPr>
        <p:txBody>
          <a:bodyPr wrap="square">
            <a:spAutoFit/>
          </a:bodyPr>
          <a:lstStyle/>
          <a:p>
            <a:pPr algn="l">
              <a:spcAft>
                <a:spcPts val="0"/>
              </a:spcAft>
              <a:defRPr sz="1100" b="0">
                <a:solidFill>
                  <a:srgbClr val="64748B"/>
                </a:solidFill>
                <a:latin typeface="Calibri"/>
              </a:defRPr>
            </a:pPr>
            <a:r>
              <a:t>Max Taps Per</a:t>
            </a:r>
            <a:br/>
            <a:r>
              <a:t>Transaction</a:t>
            </a:r>
          </a:p>
        </p:txBody>
      </p:sp>
      <p:sp>
        <p:nvSpPr>
          <p:cNvPr id="12" name="Rounded Rectangle 11"/>
          <p:cNvSpPr/>
          <p:nvPr/>
        </p:nvSpPr>
        <p:spPr>
          <a:xfrm>
            <a:off x="6858000" y="2926080"/>
            <a:ext cx="2286000" cy="109728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086600" y="3063240"/>
            <a:ext cx="2011680" cy="457200"/>
          </a:xfrm>
          <a:prstGeom prst="rect">
            <a:avLst/>
          </a:prstGeom>
          <a:noFill/>
        </p:spPr>
        <p:txBody>
          <a:bodyPr wrap="square">
            <a:spAutoFit/>
          </a:bodyPr>
          <a:lstStyle/>
          <a:p>
            <a:pPr algn="l">
              <a:spcAft>
                <a:spcPts val="0"/>
              </a:spcAft>
              <a:defRPr sz="2800" b="1">
                <a:solidFill>
                  <a:srgbClr val="F5A623"/>
                </a:solidFill>
                <a:latin typeface="Calibri"/>
              </a:defRPr>
            </a:pPr>
            <a:r>
              <a:t>ZMW</a:t>
            </a:r>
          </a:p>
        </p:txBody>
      </p:sp>
      <p:sp>
        <p:nvSpPr>
          <p:cNvPr id="14" name="TextBox 13"/>
          <p:cNvSpPr txBox="1"/>
          <p:nvPr/>
        </p:nvSpPr>
        <p:spPr>
          <a:xfrm>
            <a:off x="7086600" y="3566160"/>
            <a:ext cx="2011680" cy="457200"/>
          </a:xfrm>
          <a:prstGeom prst="rect">
            <a:avLst/>
          </a:prstGeom>
          <a:noFill/>
        </p:spPr>
        <p:txBody>
          <a:bodyPr wrap="square">
            <a:spAutoFit/>
          </a:bodyPr>
          <a:lstStyle/>
          <a:p>
            <a:pPr algn="l">
              <a:spcAft>
                <a:spcPts val="0"/>
              </a:spcAft>
              <a:defRPr sz="1100" b="0">
                <a:solidFill>
                  <a:srgbClr val="64748B"/>
                </a:solidFill>
                <a:latin typeface="Calibri"/>
              </a:defRPr>
            </a:pPr>
            <a:r>
              <a:t>Zambian</a:t>
            </a:r>
            <a:br/>
            <a:r>
              <a:t>Kwacha</a:t>
            </a:r>
          </a:p>
        </p:txBody>
      </p:sp>
      <p:sp>
        <p:nvSpPr>
          <p:cNvPr id="15" name="Rounded Rectangle 14"/>
          <p:cNvSpPr/>
          <p:nvPr/>
        </p:nvSpPr>
        <p:spPr>
          <a:xfrm>
            <a:off x="9326880" y="2926080"/>
            <a:ext cx="2286000" cy="109728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555480" y="3063240"/>
            <a:ext cx="2011680" cy="457200"/>
          </a:xfrm>
          <a:prstGeom prst="rect">
            <a:avLst/>
          </a:prstGeom>
          <a:noFill/>
        </p:spPr>
        <p:txBody>
          <a:bodyPr wrap="square">
            <a:spAutoFit/>
          </a:bodyPr>
          <a:lstStyle/>
          <a:p>
            <a:pPr algn="l">
              <a:spcAft>
                <a:spcPts val="0"/>
              </a:spcAft>
              <a:defRPr sz="2800" b="1">
                <a:solidFill>
                  <a:srgbClr val="8B5CF6"/>
                </a:solidFill>
                <a:latin typeface="Calibri"/>
              </a:defRPr>
            </a:pPr>
            <a:r>
              <a:t>24/7</a:t>
            </a:r>
          </a:p>
        </p:txBody>
      </p:sp>
      <p:sp>
        <p:nvSpPr>
          <p:cNvPr id="17" name="TextBox 16"/>
          <p:cNvSpPr txBox="1"/>
          <p:nvPr/>
        </p:nvSpPr>
        <p:spPr>
          <a:xfrm>
            <a:off x="9555480" y="3566160"/>
            <a:ext cx="2011680" cy="457200"/>
          </a:xfrm>
          <a:prstGeom prst="rect">
            <a:avLst/>
          </a:prstGeom>
          <a:noFill/>
        </p:spPr>
        <p:txBody>
          <a:bodyPr wrap="square">
            <a:spAutoFit/>
          </a:bodyPr>
          <a:lstStyle/>
          <a:p>
            <a:pPr algn="l">
              <a:spcAft>
                <a:spcPts val="0"/>
              </a:spcAft>
              <a:defRPr sz="1100" b="0">
                <a:solidFill>
                  <a:srgbClr val="64748B"/>
                </a:solidFill>
                <a:latin typeface="Calibri"/>
              </a:defRPr>
            </a:pPr>
            <a:r>
              <a:t>Real-Time</a:t>
            </a:r>
            <a:br/>
            <a:r>
              <a:t>Settlement</a:t>
            </a:r>
          </a:p>
        </p:txBody>
      </p:sp>
      <p:sp>
        <p:nvSpPr>
          <p:cNvPr id="18" name="TextBox 17"/>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3 /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02  |  THE PROBLEM</a:t>
            </a:r>
          </a:p>
        </p:txBody>
      </p:sp>
      <p:sp>
        <p:nvSpPr>
          <p:cNvPr id="3" name="TextBox 2"/>
          <p:cNvSpPr txBox="1"/>
          <p:nvPr/>
        </p:nvSpPr>
        <p:spPr>
          <a:xfrm>
            <a:off x="1097280" y="914400"/>
            <a:ext cx="10058400" cy="731520"/>
          </a:xfrm>
          <a:prstGeom prst="rect">
            <a:avLst/>
          </a:prstGeom>
          <a:noFill/>
        </p:spPr>
        <p:txBody>
          <a:bodyPr wrap="square">
            <a:spAutoFit/>
          </a:bodyPr>
          <a:lstStyle/>
          <a:p>
            <a:pPr algn="l">
              <a:spcAft>
                <a:spcPts val="0"/>
              </a:spcAft>
              <a:defRPr sz="3200" b="1">
                <a:solidFill>
                  <a:srgbClr val="FFFFFF"/>
                </a:solidFill>
                <a:latin typeface="Calibri"/>
              </a:defRPr>
            </a:pPr>
            <a:r>
              <a:t>Zambia's Payment Ecosystem Challenges</a:t>
            </a:r>
          </a:p>
        </p:txBody>
      </p:sp>
      <p:sp>
        <p:nvSpPr>
          <p:cNvPr id="4" name="Rounded Rectangle 3"/>
          <p:cNvSpPr/>
          <p:nvPr/>
        </p:nvSpPr>
        <p:spPr>
          <a:xfrm>
            <a:off x="1097280" y="2011680"/>
            <a:ext cx="4846320" cy="1371600"/>
          </a:xfrm>
          <a:prstGeom prst="roundRect">
            <a:avLst>
              <a:gd name="adj" fmla="val 4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97280" y="2011680"/>
            <a:ext cx="54864" cy="137160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600" y="2148840"/>
            <a:ext cx="4389120" cy="320040"/>
          </a:xfrm>
          <a:prstGeom prst="rect">
            <a:avLst/>
          </a:prstGeom>
          <a:noFill/>
        </p:spPr>
        <p:txBody>
          <a:bodyPr wrap="square">
            <a:spAutoFit/>
          </a:bodyPr>
          <a:lstStyle/>
          <a:p>
            <a:pPr algn="l">
              <a:spcAft>
                <a:spcPts val="0"/>
              </a:spcAft>
              <a:defRPr sz="1600" b="1">
                <a:solidFill>
                  <a:srgbClr val="FFFFFF"/>
                </a:solidFill>
                <a:latin typeface="Calibri"/>
              </a:defRPr>
            </a:pPr>
            <a:r>
              <a:t>Fragmented Ecosystem</a:t>
            </a:r>
          </a:p>
        </p:txBody>
      </p:sp>
      <p:sp>
        <p:nvSpPr>
          <p:cNvPr id="7" name="TextBox 6"/>
          <p:cNvSpPr txBox="1"/>
          <p:nvPr/>
        </p:nvSpPr>
        <p:spPr>
          <a:xfrm>
            <a:off x="1371600" y="2514600"/>
            <a:ext cx="4389120" cy="822960"/>
          </a:xfrm>
          <a:prstGeom prst="rect">
            <a:avLst/>
          </a:prstGeom>
          <a:noFill/>
        </p:spPr>
        <p:txBody>
          <a:bodyPr wrap="square">
            <a:spAutoFit/>
          </a:bodyPr>
          <a:lstStyle/>
          <a:p>
            <a:pPr algn="l">
              <a:spcAft>
                <a:spcPts val="0"/>
              </a:spcAft>
              <a:defRPr sz="1100" b="0">
                <a:solidFill>
                  <a:srgbClr val="94A3B8"/>
                </a:solidFill>
                <a:latin typeface="Calibri"/>
              </a:defRPr>
            </a:pPr>
            <a:r>
              <a:rPr dirty="0"/>
              <a:t>Multiple mobile money providers (Airtel, MTN, Zamtel) and banks (FNB, </a:t>
            </a:r>
            <a:r>
              <a:rPr dirty="0" err="1"/>
              <a:t>Zanaco</a:t>
            </a:r>
            <a:r>
              <a:rPr dirty="0"/>
              <a:t>, Absa) operate in silos. Sending money across providers is cumbersome, expensive, or impossible.</a:t>
            </a:r>
          </a:p>
        </p:txBody>
      </p:sp>
      <p:sp>
        <p:nvSpPr>
          <p:cNvPr id="8" name="Rounded Rectangle 7"/>
          <p:cNvSpPr/>
          <p:nvPr/>
        </p:nvSpPr>
        <p:spPr>
          <a:xfrm>
            <a:off x="6217920" y="2011680"/>
            <a:ext cx="4846320" cy="1371600"/>
          </a:xfrm>
          <a:prstGeom prst="roundRect">
            <a:avLst>
              <a:gd name="adj" fmla="val 4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17920" y="2011680"/>
            <a:ext cx="54864"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148840"/>
            <a:ext cx="4389120" cy="320040"/>
          </a:xfrm>
          <a:prstGeom prst="rect">
            <a:avLst/>
          </a:prstGeom>
          <a:noFill/>
        </p:spPr>
        <p:txBody>
          <a:bodyPr wrap="square">
            <a:spAutoFit/>
          </a:bodyPr>
          <a:lstStyle/>
          <a:p>
            <a:pPr algn="l">
              <a:spcAft>
                <a:spcPts val="0"/>
              </a:spcAft>
              <a:defRPr sz="1600" b="1">
                <a:solidFill>
                  <a:srgbClr val="FFFFFF"/>
                </a:solidFill>
                <a:latin typeface="Calibri"/>
              </a:defRPr>
            </a:pPr>
            <a:r>
              <a:t>Low Interoperability</a:t>
            </a:r>
          </a:p>
        </p:txBody>
      </p:sp>
      <p:sp>
        <p:nvSpPr>
          <p:cNvPr id="11" name="TextBox 10"/>
          <p:cNvSpPr txBox="1"/>
          <p:nvPr/>
        </p:nvSpPr>
        <p:spPr>
          <a:xfrm>
            <a:off x="6492240" y="2514600"/>
            <a:ext cx="4389120" cy="822960"/>
          </a:xfrm>
          <a:prstGeom prst="rect">
            <a:avLst/>
          </a:prstGeom>
          <a:noFill/>
        </p:spPr>
        <p:txBody>
          <a:bodyPr wrap="square">
            <a:spAutoFit/>
          </a:bodyPr>
          <a:lstStyle/>
          <a:p>
            <a:pPr algn="l">
              <a:spcAft>
                <a:spcPts val="0"/>
              </a:spcAft>
              <a:defRPr sz="1100" b="0">
                <a:solidFill>
                  <a:srgbClr val="94A3B8"/>
                </a:solidFill>
                <a:latin typeface="Calibri"/>
              </a:defRPr>
            </a:pPr>
            <a:r>
              <a:t>Despite BoZ's National Financial Switch (NFS) initiative, cross-platform P2P payments remain limited. Users are forced to maintain multiple accounts.</a:t>
            </a:r>
          </a:p>
        </p:txBody>
      </p:sp>
      <p:sp>
        <p:nvSpPr>
          <p:cNvPr id="12" name="Rounded Rectangle 11"/>
          <p:cNvSpPr/>
          <p:nvPr/>
        </p:nvSpPr>
        <p:spPr>
          <a:xfrm>
            <a:off x="1097280" y="3657600"/>
            <a:ext cx="4846320" cy="1371600"/>
          </a:xfrm>
          <a:prstGeom prst="roundRect">
            <a:avLst>
              <a:gd name="adj" fmla="val 4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97280" y="3657600"/>
            <a:ext cx="54864" cy="13716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3794760"/>
            <a:ext cx="4389120" cy="320040"/>
          </a:xfrm>
          <a:prstGeom prst="rect">
            <a:avLst/>
          </a:prstGeom>
          <a:noFill/>
        </p:spPr>
        <p:txBody>
          <a:bodyPr wrap="square">
            <a:spAutoFit/>
          </a:bodyPr>
          <a:lstStyle/>
          <a:p>
            <a:pPr algn="l">
              <a:spcAft>
                <a:spcPts val="0"/>
              </a:spcAft>
              <a:defRPr sz="1600" b="1">
                <a:solidFill>
                  <a:srgbClr val="FFFFFF"/>
                </a:solidFill>
                <a:latin typeface="Calibri"/>
              </a:defRPr>
            </a:pPr>
            <a:r>
              <a:t>High Transaction Costs</a:t>
            </a:r>
          </a:p>
        </p:txBody>
      </p:sp>
      <p:sp>
        <p:nvSpPr>
          <p:cNvPr id="15" name="TextBox 14"/>
          <p:cNvSpPr txBox="1"/>
          <p:nvPr/>
        </p:nvSpPr>
        <p:spPr>
          <a:xfrm>
            <a:off x="1371600" y="4160520"/>
            <a:ext cx="4389120" cy="822960"/>
          </a:xfrm>
          <a:prstGeom prst="rect">
            <a:avLst/>
          </a:prstGeom>
          <a:noFill/>
        </p:spPr>
        <p:txBody>
          <a:bodyPr wrap="square">
            <a:spAutoFit/>
          </a:bodyPr>
          <a:lstStyle/>
          <a:p>
            <a:pPr algn="l">
              <a:spcAft>
                <a:spcPts val="0"/>
              </a:spcAft>
              <a:defRPr sz="1100" b="0">
                <a:solidFill>
                  <a:srgbClr val="94A3B8"/>
                </a:solidFill>
                <a:latin typeface="Calibri"/>
              </a:defRPr>
            </a:pPr>
            <a:r>
              <a:t>Cross-provider transfers incur high fees that disproportionately burden low-income users. Small transactions become uneconomical.</a:t>
            </a:r>
          </a:p>
        </p:txBody>
      </p:sp>
      <p:sp>
        <p:nvSpPr>
          <p:cNvPr id="16" name="Rounded Rectangle 15"/>
          <p:cNvSpPr/>
          <p:nvPr/>
        </p:nvSpPr>
        <p:spPr>
          <a:xfrm>
            <a:off x="6217920" y="3657600"/>
            <a:ext cx="4846320" cy="1371600"/>
          </a:xfrm>
          <a:prstGeom prst="roundRect">
            <a:avLst>
              <a:gd name="adj" fmla="val 4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17920" y="3657600"/>
            <a:ext cx="54864" cy="13716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0" y="3794760"/>
            <a:ext cx="4389120" cy="320040"/>
          </a:xfrm>
          <a:prstGeom prst="rect">
            <a:avLst/>
          </a:prstGeom>
          <a:noFill/>
        </p:spPr>
        <p:txBody>
          <a:bodyPr wrap="square">
            <a:spAutoFit/>
          </a:bodyPr>
          <a:lstStyle/>
          <a:p>
            <a:pPr algn="l">
              <a:spcAft>
                <a:spcPts val="0"/>
              </a:spcAft>
              <a:defRPr sz="1600" b="1">
                <a:solidFill>
                  <a:srgbClr val="FFFFFF"/>
                </a:solidFill>
                <a:latin typeface="Calibri"/>
              </a:defRPr>
            </a:pPr>
            <a:r>
              <a:t>Cash Dependency</a:t>
            </a:r>
          </a:p>
        </p:txBody>
      </p:sp>
      <p:sp>
        <p:nvSpPr>
          <p:cNvPr id="19" name="TextBox 18"/>
          <p:cNvSpPr txBox="1"/>
          <p:nvPr/>
        </p:nvSpPr>
        <p:spPr>
          <a:xfrm>
            <a:off x="6492240" y="4160520"/>
            <a:ext cx="4389120" cy="822960"/>
          </a:xfrm>
          <a:prstGeom prst="rect">
            <a:avLst/>
          </a:prstGeom>
          <a:noFill/>
        </p:spPr>
        <p:txBody>
          <a:bodyPr wrap="square">
            <a:spAutoFit/>
          </a:bodyPr>
          <a:lstStyle/>
          <a:p>
            <a:pPr algn="l">
              <a:spcAft>
                <a:spcPts val="0"/>
              </a:spcAft>
              <a:defRPr sz="1100" b="0">
                <a:solidFill>
                  <a:srgbClr val="94A3B8"/>
                </a:solidFill>
                <a:latin typeface="Calibri"/>
              </a:defRPr>
            </a:pPr>
            <a:r>
              <a:t>Zambia remains heavily cash-dependent. The unbanked and underbanked need accessible digital onramps through agent networks and simple mobile interfaces.</a:t>
            </a:r>
          </a:p>
        </p:txBody>
      </p:sp>
      <p:sp>
        <p:nvSpPr>
          <p:cNvPr id="20" name="TextBox 19"/>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4 / 18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03  |  OUR SOLUTION</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Monde — Universal Payment Platform</a:t>
            </a:r>
          </a:p>
        </p:txBody>
      </p:sp>
      <p:sp>
        <p:nvSpPr>
          <p:cNvPr id="5" name="TextBox 4"/>
          <p:cNvSpPr txBox="1"/>
          <p:nvPr/>
        </p:nvSpPr>
        <p:spPr>
          <a:xfrm>
            <a:off x="1097280" y="1645920"/>
            <a:ext cx="9144000" cy="457200"/>
          </a:xfrm>
          <a:prstGeom prst="rect">
            <a:avLst/>
          </a:prstGeom>
          <a:noFill/>
        </p:spPr>
        <p:txBody>
          <a:bodyPr wrap="square">
            <a:spAutoFit/>
          </a:bodyPr>
          <a:lstStyle/>
          <a:p>
            <a:pPr algn="l">
              <a:spcAft>
                <a:spcPts val="0"/>
              </a:spcAft>
              <a:defRPr sz="1400" b="0">
                <a:solidFill>
                  <a:srgbClr val="64748B"/>
                </a:solidFill>
                <a:latin typeface="Calibri"/>
              </a:defRPr>
            </a:pPr>
            <a:r>
              <a:t>Every transaction completes in 3 taps or fewer. Interoperable across all Zambian providers.</a:t>
            </a:r>
          </a:p>
        </p:txBody>
      </p:sp>
      <p:sp>
        <p:nvSpPr>
          <p:cNvPr id="6" name="Rounded Rectangle 5"/>
          <p:cNvSpPr/>
          <p:nvPr/>
        </p:nvSpPr>
        <p:spPr>
          <a:xfrm>
            <a:off x="914400" y="2377440"/>
            <a:ext cx="3200400" cy="1828800"/>
          </a:xfrm>
          <a:prstGeom prst="roundRect">
            <a:avLst>
              <a:gd name="adj" fmla="val 5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43000" y="2606040"/>
            <a:ext cx="502920" cy="502920"/>
          </a:xfrm>
          <a:prstGeom prst="ellipse">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800" b="1">
                <a:solidFill>
                  <a:srgbClr val="FFFFFF"/>
                </a:solidFill>
              </a:defRPr>
            </a:pPr>
            <a:r>
              <a:t>QR</a:t>
            </a:r>
          </a:p>
        </p:txBody>
      </p:sp>
      <p:sp>
        <p:nvSpPr>
          <p:cNvPr id="8" name="TextBox 7"/>
          <p:cNvSpPr txBox="1"/>
          <p:nvPr/>
        </p:nvSpPr>
        <p:spPr>
          <a:xfrm>
            <a:off x="1143000" y="3246120"/>
            <a:ext cx="2743200" cy="320040"/>
          </a:xfrm>
          <a:prstGeom prst="rect">
            <a:avLst/>
          </a:prstGeom>
          <a:noFill/>
        </p:spPr>
        <p:txBody>
          <a:bodyPr wrap="square">
            <a:spAutoFit/>
          </a:bodyPr>
          <a:lstStyle/>
          <a:p>
            <a:pPr algn="l">
              <a:spcAft>
                <a:spcPts val="0"/>
              </a:spcAft>
              <a:defRPr sz="1400" b="1">
                <a:solidFill>
                  <a:srgbClr val="1E293B"/>
                </a:solidFill>
                <a:latin typeface="Calibri"/>
              </a:defRPr>
            </a:pPr>
            <a:r>
              <a:t>QR Code Payments</a:t>
            </a:r>
          </a:p>
        </p:txBody>
      </p:sp>
      <p:sp>
        <p:nvSpPr>
          <p:cNvPr id="9" name="TextBox 8"/>
          <p:cNvSpPr txBox="1"/>
          <p:nvPr/>
        </p:nvSpPr>
        <p:spPr>
          <a:xfrm>
            <a:off x="1143000" y="3520440"/>
            <a:ext cx="2743200" cy="731520"/>
          </a:xfrm>
          <a:prstGeom prst="rect">
            <a:avLst/>
          </a:prstGeom>
          <a:noFill/>
        </p:spPr>
        <p:txBody>
          <a:bodyPr wrap="square">
            <a:spAutoFit/>
          </a:bodyPr>
          <a:lstStyle/>
          <a:p>
            <a:pPr algn="l">
              <a:spcAft>
                <a:spcPts val="0"/>
              </a:spcAft>
              <a:defRPr sz="1100" b="0">
                <a:solidFill>
                  <a:srgbClr val="64748B"/>
                </a:solidFill>
                <a:latin typeface="Calibri"/>
              </a:defRPr>
            </a:pPr>
            <a:r>
              <a:t>Scan and pay instantly at merchants or between individuals. Dynamic and static QR codes supported.</a:t>
            </a:r>
          </a:p>
        </p:txBody>
      </p:sp>
      <p:sp>
        <p:nvSpPr>
          <p:cNvPr id="10" name="Rounded Rectangle 9"/>
          <p:cNvSpPr/>
          <p:nvPr/>
        </p:nvSpPr>
        <p:spPr>
          <a:xfrm>
            <a:off x="4343400" y="2377440"/>
            <a:ext cx="3200400" cy="1828800"/>
          </a:xfrm>
          <a:prstGeom prst="roundRect">
            <a:avLst>
              <a:gd name="adj" fmla="val 5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572000" y="2606040"/>
            <a:ext cx="502920" cy="50292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800" b="1">
                <a:solidFill>
                  <a:srgbClr val="FFFFFF"/>
                </a:solidFill>
              </a:defRPr>
            </a:pPr>
            <a:r>
              <a:t>NFC</a:t>
            </a:r>
          </a:p>
        </p:txBody>
      </p:sp>
      <p:sp>
        <p:nvSpPr>
          <p:cNvPr id="12" name="TextBox 11"/>
          <p:cNvSpPr txBox="1"/>
          <p:nvPr/>
        </p:nvSpPr>
        <p:spPr>
          <a:xfrm>
            <a:off x="4572000" y="3246120"/>
            <a:ext cx="2743200" cy="320040"/>
          </a:xfrm>
          <a:prstGeom prst="rect">
            <a:avLst/>
          </a:prstGeom>
          <a:noFill/>
        </p:spPr>
        <p:txBody>
          <a:bodyPr wrap="square">
            <a:spAutoFit/>
          </a:bodyPr>
          <a:lstStyle/>
          <a:p>
            <a:pPr algn="l">
              <a:spcAft>
                <a:spcPts val="0"/>
              </a:spcAft>
              <a:defRPr sz="1400" b="1">
                <a:solidFill>
                  <a:srgbClr val="1E293B"/>
                </a:solidFill>
                <a:latin typeface="Calibri"/>
              </a:defRPr>
            </a:pPr>
            <a:r>
              <a:t>Tap to Pay</a:t>
            </a:r>
          </a:p>
        </p:txBody>
      </p:sp>
      <p:sp>
        <p:nvSpPr>
          <p:cNvPr id="13" name="TextBox 12"/>
          <p:cNvSpPr txBox="1"/>
          <p:nvPr/>
        </p:nvSpPr>
        <p:spPr>
          <a:xfrm>
            <a:off x="4572000" y="3520440"/>
            <a:ext cx="2743200" cy="731520"/>
          </a:xfrm>
          <a:prstGeom prst="rect">
            <a:avLst/>
          </a:prstGeom>
          <a:noFill/>
        </p:spPr>
        <p:txBody>
          <a:bodyPr wrap="square">
            <a:spAutoFit/>
          </a:bodyPr>
          <a:lstStyle/>
          <a:p>
            <a:pPr algn="l">
              <a:spcAft>
                <a:spcPts val="0"/>
              </a:spcAft>
              <a:defRPr sz="1100" b="0">
                <a:solidFill>
                  <a:srgbClr val="64748B"/>
                </a:solidFill>
                <a:latin typeface="Calibri"/>
              </a:defRPr>
            </a:pPr>
            <a:r>
              <a:t>Hold phones together to transfer money. Near-field communication for instant proximity payments.</a:t>
            </a:r>
          </a:p>
        </p:txBody>
      </p:sp>
      <p:sp>
        <p:nvSpPr>
          <p:cNvPr id="14" name="Rounded Rectangle 13"/>
          <p:cNvSpPr/>
          <p:nvPr/>
        </p:nvSpPr>
        <p:spPr>
          <a:xfrm>
            <a:off x="7772400" y="2377440"/>
            <a:ext cx="3200400" cy="1828800"/>
          </a:xfrm>
          <a:prstGeom prst="roundRect">
            <a:avLst>
              <a:gd name="adj" fmla="val 5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001000" y="2606040"/>
            <a:ext cx="502920" cy="50292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800" b="1">
                <a:solidFill>
                  <a:srgbClr val="FFFFFF"/>
                </a:solidFill>
              </a:defRPr>
            </a:pPr>
            <a:r>
              <a:t>P2P</a:t>
            </a:r>
          </a:p>
        </p:txBody>
      </p:sp>
      <p:sp>
        <p:nvSpPr>
          <p:cNvPr id="16" name="TextBox 15"/>
          <p:cNvSpPr txBox="1"/>
          <p:nvPr/>
        </p:nvSpPr>
        <p:spPr>
          <a:xfrm>
            <a:off x="8001000" y="3246120"/>
            <a:ext cx="2743200" cy="320040"/>
          </a:xfrm>
          <a:prstGeom prst="rect">
            <a:avLst/>
          </a:prstGeom>
          <a:noFill/>
        </p:spPr>
        <p:txBody>
          <a:bodyPr wrap="square">
            <a:spAutoFit/>
          </a:bodyPr>
          <a:lstStyle/>
          <a:p>
            <a:pPr algn="l">
              <a:spcAft>
                <a:spcPts val="0"/>
              </a:spcAft>
              <a:defRPr sz="1400" b="1">
                <a:solidFill>
                  <a:srgbClr val="1E293B"/>
                </a:solidFill>
                <a:latin typeface="Calibri"/>
              </a:defRPr>
            </a:pPr>
            <a:r>
              <a:t>Send &amp; Receive</a:t>
            </a:r>
          </a:p>
        </p:txBody>
      </p:sp>
      <p:sp>
        <p:nvSpPr>
          <p:cNvPr id="17" name="TextBox 16"/>
          <p:cNvSpPr txBox="1"/>
          <p:nvPr/>
        </p:nvSpPr>
        <p:spPr>
          <a:xfrm>
            <a:off x="8001000" y="3520440"/>
            <a:ext cx="2743200" cy="731520"/>
          </a:xfrm>
          <a:prstGeom prst="rect">
            <a:avLst/>
          </a:prstGeom>
          <a:noFill/>
        </p:spPr>
        <p:txBody>
          <a:bodyPr wrap="square">
            <a:spAutoFit/>
          </a:bodyPr>
          <a:lstStyle/>
          <a:p>
            <a:pPr algn="l">
              <a:spcAft>
                <a:spcPts val="0"/>
              </a:spcAft>
              <a:defRPr sz="1100" b="0">
                <a:solidFill>
                  <a:srgbClr val="64748B"/>
                </a:solidFill>
                <a:latin typeface="Calibri"/>
              </a:defRPr>
            </a:pPr>
            <a:r>
              <a:t>Send money to any Zambian phone number across Airtel, MTN, Zamtel, FNB, Zanaco, Absa.</a:t>
            </a:r>
          </a:p>
        </p:txBody>
      </p:sp>
      <p:sp>
        <p:nvSpPr>
          <p:cNvPr id="18" name="Rounded Rectangle 17"/>
          <p:cNvSpPr/>
          <p:nvPr/>
        </p:nvSpPr>
        <p:spPr>
          <a:xfrm>
            <a:off x="914400" y="4434840"/>
            <a:ext cx="3200400" cy="1828800"/>
          </a:xfrm>
          <a:prstGeom prst="roundRect">
            <a:avLst>
              <a:gd name="adj" fmla="val 5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43000" y="4663440"/>
            <a:ext cx="502920" cy="502920"/>
          </a:xfrm>
          <a:prstGeom prst="ellipse">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800" b="1">
                <a:solidFill>
                  <a:srgbClr val="FFFFFF"/>
                </a:solidFill>
              </a:defRPr>
            </a:pPr>
            <a:r>
              <a:t>W</a:t>
            </a:r>
          </a:p>
        </p:txBody>
      </p:sp>
      <p:sp>
        <p:nvSpPr>
          <p:cNvPr id="20" name="TextBox 19"/>
          <p:cNvSpPr txBox="1"/>
          <p:nvPr/>
        </p:nvSpPr>
        <p:spPr>
          <a:xfrm>
            <a:off x="1143000" y="5303520"/>
            <a:ext cx="2743200" cy="320040"/>
          </a:xfrm>
          <a:prstGeom prst="rect">
            <a:avLst/>
          </a:prstGeom>
          <a:noFill/>
        </p:spPr>
        <p:txBody>
          <a:bodyPr wrap="square">
            <a:spAutoFit/>
          </a:bodyPr>
          <a:lstStyle/>
          <a:p>
            <a:pPr algn="l">
              <a:spcAft>
                <a:spcPts val="0"/>
              </a:spcAft>
              <a:defRPr sz="1400" b="1">
                <a:solidFill>
                  <a:srgbClr val="1E293B"/>
                </a:solidFill>
                <a:latin typeface="Calibri"/>
              </a:defRPr>
            </a:pPr>
            <a:r>
              <a:t>Digital Wallet</a:t>
            </a:r>
          </a:p>
        </p:txBody>
      </p:sp>
      <p:sp>
        <p:nvSpPr>
          <p:cNvPr id="21" name="TextBox 20"/>
          <p:cNvSpPr txBox="1"/>
          <p:nvPr/>
        </p:nvSpPr>
        <p:spPr>
          <a:xfrm>
            <a:off x="1143000" y="5577840"/>
            <a:ext cx="2743200" cy="731520"/>
          </a:xfrm>
          <a:prstGeom prst="rect">
            <a:avLst/>
          </a:prstGeom>
          <a:noFill/>
        </p:spPr>
        <p:txBody>
          <a:bodyPr wrap="square">
            <a:spAutoFit/>
          </a:bodyPr>
          <a:lstStyle/>
          <a:p>
            <a:pPr algn="l">
              <a:spcAft>
                <a:spcPts val="0"/>
              </a:spcAft>
              <a:defRPr sz="1100" b="0">
                <a:solidFill>
                  <a:srgbClr val="64748B"/>
                </a:solidFill>
                <a:latin typeface="Calibri"/>
              </a:defRPr>
            </a:pPr>
            <a:r>
              <a:t>Top up from mobile money, manage balance, withdraw to any linked account. Real-time updates.</a:t>
            </a:r>
          </a:p>
        </p:txBody>
      </p:sp>
      <p:sp>
        <p:nvSpPr>
          <p:cNvPr id="22" name="Rounded Rectangle 21"/>
          <p:cNvSpPr/>
          <p:nvPr/>
        </p:nvSpPr>
        <p:spPr>
          <a:xfrm>
            <a:off x="4343400" y="4434840"/>
            <a:ext cx="3200400" cy="1828800"/>
          </a:xfrm>
          <a:prstGeom prst="roundRect">
            <a:avLst>
              <a:gd name="adj" fmla="val 5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572000" y="4663440"/>
            <a:ext cx="502920" cy="502920"/>
          </a:xfrm>
          <a:prstGeom prst="ellipse">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800" b="1">
                <a:solidFill>
                  <a:srgbClr val="FFFFFF"/>
                </a:solidFill>
              </a:defRPr>
            </a:pPr>
            <a:r>
              <a:t>AG</a:t>
            </a:r>
          </a:p>
        </p:txBody>
      </p:sp>
      <p:sp>
        <p:nvSpPr>
          <p:cNvPr id="24" name="TextBox 23"/>
          <p:cNvSpPr txBox="1"/>
          <p:nvPr/>
        </p:nvSpPr>
        <p:spPr>
          <a:xfrm>
            <a:off x="4572000" y="5303520"/>
            <a:ext cx="2743200" cy="320040"/>
          </a:xfrm>
          <a:prstGeom prst="rect">
            <a:avLst/>
          </a:prstGeom>
          <a:noFill/>
        </p:spPr>
        <p:txBody>
          <a:bodyPr wrap="square">
            <a:spAutoFit/>
          </a:bodyPr>
          <a:lstStyle/>
          <a:p>
            <a:pPr algn="l">
              <a:spcAft>
                <a:spcPts val="0"/>
              </a:spcAft>
              <a:defRPr sz="1400" b="1">
                <a:solidFill>
                  <a:srgbClr val="1E293B"/>
                </a:solidFill>
                <a:latin typeface="Calibri"/>
              </a:defRPr>
            </a:pPr>
            <a:r>
              <a:t>Agent Network</a:t>
            </a:r>
          </a:p>
        </p:txBody>
      </p:sp>
      <p:sp>
        <p:nvSpPr>
          <p:cNvPr id="25" name="TextBox 24"/>
          <p:cNvSpPr txBox="1"/>
          <p:nvPr/>
        </p:nvSpPr>
        <p:spPr>
          <a:xfrm>
            <a:off x="4572000" y="5577840"/>
            <a:ext cx="2743200" cy="731520"/>
          </a:xfrm>
          <a:prstGeom prst="rect">
            <a:avLst/>
          </a:prstGeom>
          <a:noFill/>
        </p:spPr>
        <p:txBody>
          <a:bodyPr wrap="square">
            <a:spAutoFit/>
          </a:bodyPr>
          <a:lstStyle/>
          <a:p>
            <a:pPr algn="l">
              <a:spcAft>
                <a:spcPts val="0"/>
              </a:spcAft>
              <a:defRPr sz="1100" b="0">
                <a:solidFill>
                  <a:srgbClr val="64748B"/>
                </a:solidFill>
                <a:latin typeface="Calibri"/>
              </a:defRPr>
            </a:pPr>
            <a:r>
              <a:t>Cash-in/cash-out through designated agents. Commission-based model with anti-fraud controls.</a:t>
            </a:r>
          </a:p>
        </p:txBody>
      </p:sp>
      <p:sp>
        <p:nvSpPr>
          <p:cNvPr id="26" name="Rounded Rectangle 25"/>
          <p:cNvSpPr/>
          <p:nvPr/>
        </p:nvSpPr>
        <p:spPr>
          <a:xfrm>
            <a:off x="7772400" y="4434840"/>
            <a:ext cx="3200400" cy="1828800"/>
          </a:xfrm>
          <a:prstGeom prst="roundRect">
            <a:avLst>
              <a:gd name="adj" fmla="val 5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001000" y="4663440"/>
            <a:ext cx="502920" cy="502920"/>
          </a:xfrm>
          <a:prstGeom prst="ellipse">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defRPr sz="1800" b="1">
                <a:solidFill>
                  <a:srgbClr val="FFFFFF"/>
                </a:solidFill>
              </a:defRPr>
            </a:pPr>
            <a:r>
              <a:t>TX</a:t>
            </a:r>
          </a:p>
        </p:txBody>
      </p:sp>
      <p:sp>
        <p:nvSpPr>
          <p:cNvPr id="28" name="TextBox 27"/>
          <p:cNvSpPr txBox="1"/>
          <p:nvPr/>
        </p:nvSpPr>
        <p:spPr>
          <a:xfrm>
            <a:off x="8001000" y="5303520"/>
            <a:ext cx="2743200" cy="320040"/>
          </a:xfrm>
          <a:prstGeom prst="rect">
            <a:avLst/>
          </a:prstGeom>
          <a:noFill/>
        </p:spPr>
        <p:txBody>
          <a:bodyPr wrap="square">
            <a:spAutoFit/>
          </a:bodyPr>
          <a:lstStyle/>
          <a:p>
            <a:pPr algn="l">
              <a:spcAft>
                <a:spcPts val="0"/>
              </a:spcAft>
              <a:defRPr sz="1400" b="1">
                <a:solidFill>
                  <a:srgbClr val="1E293B"/>
                </a:solidFill>
                <a:latin typeface="Calibri"/>
              </a:defRPr>
            </a:pPr>
            <a:r>
              <a:t>Transaction History</a:t>
            </a:r>
          </a:p>
        </p:txBody>
      </p:sp>
      <p:sp>
        <p:nvSpPr>
          <p:cNvPr id="29" name="TextBox 28"/>
          <p:cNvSpPr txBox="1"/>
          <p:nvPr/>
        </p:nvSpPr>
        <p:spPr>
          <a:xfrm>
            <a:off x="8001000" y="5577840"/>
            <a:ext cx="2743200" cy="731520"/>
          </a:xfrm>
          <a:prstGeom prst="rect">
            <a:avLst/>
          </a:prstGeom>
          <a:noFill/>
        </p:spPr>
        <p:txBody>
          <a:bodyPr wrap="square">
            <a:spAutoFit/>
          </a:bodyPr>
          <a:lstStyle/>
          <a:p>
            <a:pPr algn="l">
              <a:spcAft>
                <a:spcPts val="0"/>
              </a:spcAft>
              <a:defRPr sz="1100" b="0">
                <a:solidFill>
                  <a:srgbClr val="64748B"/>
                </a:solidFill>
                <a:latin typeface="Calibri"/>
              </a:defRPr>
            </a:pPr>
            <a:r>
              <a:t>Full audit trail with date grouping, filters, receipt generation, and share functionality.</a:t>
            </a:r>
          </a:p>
        </p:txBody>
      </p:sp>
      <p:sp>
        <p:nvSpPr>
          <p:cNvPr id="30" name="TextBox 29"/>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5 / 18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04  |  TECHNOLOGY &amp; SECURITY</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Enterprise-Grade Security Architecture</a:t>
            </a:r>
          </a:p>
        </p:txBody>
      </p:sp>
      <p:sp>
        <p:nvSpPr>
          <p:cNvPr id="5" name="TextBox 4"/>
          <p:cNvSpPr txBox="1"/>
          <p:nvPr/>
        </p:nvSpPr>
        <p:spPr>
          <a:xfrm>
            <a:off x="914400" y="1737360"/>
            <a:ext cx="5029200" cy="4572000"/>
          </a:xfrm>
          <a:prstGeom prst="rect">
            <a:avLst/>
          </a:prstGeom>
          <a:noFill/>
        </p:spPr>
        <p:txBody>
          <a:bodyPr wrap="square">
            <a:spAutoFit/>
          </a:bodyPr>
          <a:lstStyle/>
          <a:p>
            <a:pPr>
              <a:spcAft>
                <a:spcPts val="800"/>
              </a:spcAft>
              <a:defRPr sz="2000" b="1">
                <a:solidFill>
                  <a:srgbClr val="1E293B"/>
                </a:solidFill>
                <a:latin typeface="Calibri"/>
              </a:defRPr>
            </a:pPr>
            <a:r>
              <a:t>Technology Stack</a:t>
            </a:r>
          </a:p>
          <a:p>
            <a:pPr marL="254000" indent="-177800">
              <a:spcBef>
                <a:spcPts val="400"/>
              </a:spcBef>
              <a:spcAft>
                <a:spcPts val="200"/>
              </a:spcAft>
              <a:defRPr sz="1500">
                <a:solidFill>
                  <a:srgbClr val="64748B"/>
                </a:solidFill>
                <a:latin typeface="Calibri"/>
              </a:defRPr>
            </a:pPr>
            <a:r>
              <a:t>React Native + Expo SDK 52 (cross-platform mobile)</a:t>
            </a:r>
          </a:p>
          <a:p>
            <a:pPr marL="254000" indent="-177800">
              <a:spcBef>
                <a:spcPts val="400"/>
              </a:spcBef>
              <a:spcAft>
                <a:spcPts val="200"/>
              </a:spcAft>
              <a:defRPr sz="1500">
                <a:solidFill>
                  <a:srgbClr val="64748B"/>
                </a:solidFill>
                <a:latin typeface="Calibri"/>
              </a:defRPr>
            </a:pPr>
            <a:r>
              <a:t>TypeScript for type-safe, maintainable codebase</a:t>
            </a:r>
          </a:p>
          <a:p>
            <a:pPr marL="254000" indent="-177800">
              <a:spcBef>
                <a:spcPts val="400"/>
              </a:spcBef>
              <a:spcAft>
                <a:spcPts val="200"/>
              </a:spcAft>
              <a:defRPr sz="1500">
                <a:solidFill>
                  <a:srgbClr val="64748B"/>
                </a:solidFill>
                <a:latin typeface="Calibri"/>
              </a:defRPr>
            </a:pPr>
            <a:r>
              <a:t>Supabase (PostgreSQL) — auth, database, real-time subscriptions</a:t>
            </a:r>
          </a:p>
          <a:p>
            <a:pPr marL="254000" indent="-177800">
              <a:spcBef>
                <a:spcPts val="400"/>
              </a:spcBef>
              <a:spcAft>
                <a:spcPts val="200"/>
              </a:spcAft>
              <a:defRPr sz="1500">
                <a:solidFill>
                  <a:srgbClr val="64748B"/>
                </a:solidFill>
                <a:latin typeface="Calibri"/>
              </a:defRPr>
            </a:pPr>
            <a:r>
              <a:t>Lipila API — payment gateway for MoMo collections/disbursements</a:t>
            </a:r>
          </a:p>
          <a:p>
            <a:pPr marL="254000" indent="-177800">
              <a:spcBef>
                <a:spcPts val="400"/>
              </a:spcBef>
              <a:spcAft>
                <a:spcPts val="200"/>
              </a:spcAft>
              <a:defRPr sz="1500">
                <a:solidFill>
                  <a:srgbClr val="64748B"/>
                </a:solidFill>
                <a:latin typeface="Calibri"/>
              </a:defRPr>
            </a:pPr>
            <a:r>
              <a:t>Row-Level Security (RLS) on all database tables</a:t>
            </a:r>
          </a:p>
          <a:p>
            <a:pPr marL="254000" indent="-177800">
              <a:spcBef>
                <a:spcPts val="400"/>
              </a:spcBef>
              <a:spcAft>
                <a:spcPts val="200"/>
              </a:spcAft>
              <a:defRPr sz="1500">
                <a:solidFill>
                  <a:srgbClr val="64748B"/>
                </a:solidFill>
                <a:latin typeface="Calibri"/>
              </a:defRPr>
            </a:pPr>
            <a:r>
              <a:t>Edge Functions for server-side payment processing</a:t>
            </a:r>
          </a:p>
          <a:p>
            <a:pPr marL="254000" indent="-177800">
              <a:spcBef>
                <a:spcPts val="400"/>
              </a:spcBef>
              <a:spcAft>
                <a:spcPts val="200"/>
              </a:spcAft>
              <a:defRPr sz="1500">
                <a:solidFill>
                  <a:srgbClr val="64748B"/>
                </a:solidFill>
                <a:latin typeface="Calibri"/>
              </a:defRPr>
            </a:pPr>
            <a:r>
              <a:t>Real-time balance and transaction updates via WebSockets</a:t>
            </a:r>
          </a:p>
        </p:txBody>
      </p:sp>
      <p:sp>
        <p:nvSpPr>
          <p:cNvPr id="6" name="Rounded Rectangle 5"/>
          <p:cNvSpPr/>
          <p:nvPr/>
        </p:nvSpPr>
        <p:spPr>
          <a:xfrm>
            <a:off x="6400800" y="1737360"/>
            <a:ext cx="2148840" cy="105156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0" y="1737360"/>
            <a:ext cx="45720" cy="105156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828800"/>
            <a:ext cx="1874520" cy="228600"/>
          </a:xfrm>
          <a:prstGeom prst="rect">
            <a:avLst/>
          </a:prstGeom>
          <a:noFill/>
        </p:spPr>
        <p:txBody>
          <a:bodyPr wrap="square">
            <a:spAutoFit/>
          </a:bodyPr>
          <a:lstStyle/>
          <a:p>
            <a:pPr algn="l">
              <a:spcAft>
                <a:spcPts val="0"/>
              </a:spcAft>
              <a:defRPr sz="1200" b="1">
                <a:solidFill>
                  <a:srgbClr val="1E293B"/>
                </a:solidFill>
                <a:latin typeface="Calibri"/>
              </a:defRPr>
            </a:pPr>
            <a:r>
              <a:t>PIN Auth</a:t>
            </a:r>
          </a:p>
        </p:txBody>
      </p:sp>
      <p:sp>
        <p:nvSpPr>
          <p:cNvPr id="9" name="TextBox 8"/>
          <p:cNvSpPr txBox="1"/>
          <p:nvPr/>
        </p:nvSpPr>
        <p:spPr>
          <a:xfrm>
            <a:off x="6583680" y="2103120"/>
            <a:ext cx="1874520" cy="640080"/>
          </a:xfrm>
          <a:prstGeom prst="rect">
            <a:avLst/>
          </a:prstGeom>
          <a:noFill/>
        </p:spPr>
        <p:txBody>
          <a:bodyPr wrap="square">
            <a:spAutoFit/>
          </a:bodyPr>
          <a:lstStyle/>
          <a:p>
            <a:pPr algn="l">
              <a:spcAft>
                <a:spcPts val="0"/>
              </a:spcAft>
              <a:defRPr sz="1000" b="0">
                <a:solidFill>
                  <a:srgbClr val="64748B"/>
                </a:solidFill>
                <a:latin typeface="Calibri"/>
              </a:defRPr>
            </a:pPr>
            <a:r>
              <a:t>4-digit PIN with secure hashing.</a:t>
            </a:r>
            <a:br/>
            <a:r>
              <a:t>No plain-text storage.</a:t>
            </a:r>
          </a:p>
        </p:txBody>
      </p:sp>
      <p:sp>
        <p:nvSpPr>
          <p:cNvPr id="10" name="Rounded Rectangle 9"/>
          <p:cNvSpPr/>
          <p:nvPr/>
        </p:nvSpPr>
        <p:spPr>
          <a:xfrm>
            <a:off x="8686800" y="1737360"/>
            <a:ext cx="2148840" cy="105156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686800" y="1737360"/>
            <a:ext cx="45720" cy="10515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869680" y="1828800"/>
            <a:ext cx="1874520" cy="228600"/>
          </a:xfrm>
          <a:prstGeom prst="rect">
            <a:avLst/>
          </a:prstGeom>
          <a:noFill/>
        </p:spPr>
        <p:txBody>
          <a:bodyPr wrap="square">
            <a:spAutoFit/>
          </a:bodyPr>
          <a:lstStyle/>
          <a:p>
            <a:pPr algn="l">
              <a:spcAft>
                <a:spcPts val="0"/>
              </a:spcAft>
              <a:defRPr sz="1200" b="1">
                <a:solidFill>
                  <a:srgbClr val="1E293B"/>
                </a:solidFill>
                <a:latin typeface="Calibri"/>
              </a:defRPr>
            </a:pPr>
            <a:r>
              <a:t>Auto-Lock</a:t>
            </a:r>
          </a:p>
        </p:txBody>
      </p:sp>
      <p:sp>
        <p:nvSpPr>
          <p:cNvPr id="13" name="TextBox 12"/>
          <p:cNvSpPr txBox="1"/>
          <p:nvPr/>
        </p:nvSpPr>
        <p:spPr>
          <a:xfrm>
            <a:off x="8869680" y="2103120"/>
            <a:ext cx="1874520" cy="640080"/>
          </a:xfrm>
          <a:prstGeom prst="rect">
            <a:avLst/>
          </a:prstGeom>
          <a:noFill/>
        </p:spPr>
        <p:txBody>
          <a:bodyPr wrap="square">
            <a:spAutoFit/>
          </a:bodyPr>
          <a:lstStyle/>
          <a:p>
            <a:pPr algn="l">
              <a:spcAft>
                <a:spcPts val="0"/>
              </a:spcAft>
              <a:defRPr sz="1000" b="0">
                <a:solidFill>
                  <a:srgbClr val="64748B"/>
                </a:solidFill>
                <a:latin typeface="Calibri"/>
              </a:defRPr>
            </a:pPr>
            <a:r>
              <a:t>App locks after 2 minutes of</a:t>
            </a:r>
            <a:br/>
            <a:r>
              <a:t>inactivity. Full PIN re-entry.</a:t>
            </a:r>
          </a:p>
        </p:txBody>
      </p:sp>
      <p:sp>
        <p:nvSpPr>
          <p:cNvPr id="14" name="Rounded Rectangle 13"/>
          <p:cNvSpPr/>
          <p:nvPr/>
        </p:nvSpPr>
        <p:spPr>
          <a:xfrm>
            <a:off x="6400800" y="2926080"/>
            <a:ext cx="2148840" cy="105156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400800" y="2926080"/>
            <a:ext cx="45720" cy="10515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0" y="3017520"/>
            <a:ext cx="1874520" cy="228600"/>
          </a:xfrm>
          <a:prstGeom prst="rect">
            <a:avLst/>
          </a:prstGeom>
          <a:noFill/>
        </p:spPr>
        <p:txBody>
          <a:bodyPr wrap="square">
            <a:spAutoFit/>
          </a:bodyPr>
          <a:lstStyle/>
          <a:p>
            <a:pPr algn="l">
              <a:spcAft>
                <a:spcPts val="0"/>
              </a:spcAft>
              <a:defRPr sz="1200" b="1">
                <a:solidFill>
                  <a:srgbClr val="1E293B"/>
                </a:solidFill>
                <a:latin typeface="Calibri"/>
              </a:defRPr>
            </a:pPr>
            <a:r>
              <a:t>Rate Limiting</a:t>
            </a:r>
          </a:p>
        </p:txBody>
      </p:sp>
      <p:sp>
        <p:nvSpPr>
          <p:cNvPr id="17" name="TextBox 16"/>
          <p:cNvSpPr txBox="1"/>
          <p:nvPr/>
        </p:nvSpPr>
        <p:spPr>
          <a:xfrm>
            <a:off x="6583680" y="3291840"/>
            <a:ext cx="1874520" cy="640080"/>
          </a:xfrm>
          <a:prstGeom prst="rect">
            <a:avLst/>
          </a:prstGeom>
          <a:noFill/>
        </p:spPr>
        <p:txBody>
          <a:bodyPr wrap="square">
            <a:spAutoFit/>
          </a:bodyPr>
          <a:lstStyle/>
          <a:p>
            <a:pPr algn="l">
              <a:spcAft>
                <a:spcPts val="0"/>
              </a:spcAft>
              <a:defRPr sz="1000" b="0">
                <a:solidFill>
                  <a:srgbClr val="64748B"/>
                </a:solidFill>
                <a:latin typeface="Calibri"/>
              </a:defRPr>
            </a:pPr>
            <a:r>
              <a:t>5 login attempts max.</a:t>
            </a:r>
            <a:br/>
            <a:r>
              <a:t>30-second lockout period.</a:t>
            </a:r>
          </a:p>
        </p:txBody>
      </p:sp>
      <p:sp>
        <p:nvSpPr>
          <p:cNvPr id="18" name="Rounded Rectangle 17"/>
          <p:cNvSpPr/>
          <p:nvPr/>
        </p:nvSpPr>
        <p:spPr>
          <a:xfrm>
            <a:off x="8686800" y="2926080"/>
            <a:ext cx="2148840" cy="105156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686800" y="2926080"/>
            <a:ext cx="45720" cy="105156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69680" y="3017520"/>
            <a:ext cx="1874520" cy="228600"/>
          </a:xfrm>
          <a:prstGeom prst="rect">
            <a:avLst/>
          </a:prstGeom>
          <a:noFill/>
        </p:spPr>
        <p:txBody>
          <a:bodyPr wrap="square">
            <a:spAutoFit/>
          </a:bodyPr>
          <a:lstStyle/>
          <a:p>
            <a:pPr algn="l">
              <a:spcAft>
                <a:spcPts val="0"/>
              </a:spcAft>
              <a:defRPr sz="1200" b="1">
                <a:solidFill>
                  <a:srgbClr val="1E293B"/>
                </a:solidFill>
                <a:latin typeface="Calibri"/>
              </a:defRPr>
            </a:pPr>
            <a:r>
              <a:t>Input Sanitization</a:t>
            </a:r>
          </a:p>
        </p:txBody>
      </p:sp>
      <p:sp>
        <p:nvSpPr>
          <p:cNvPr id="21" name="TextBox 20"/>
          <p:cNvSpPr txBox="1"/>
          <p:nvPr/>
        </p:nvSpPr>
        <p:spPr>
          <a:xfrm>
            <a:off x="8869680" y="3291840"/>
            <a:ext cx="1874520" cy="640080"/>
          </a:xfrm>
          <a:prstGeom prst="rect">
            <a:avLst/>
          </a:prstGeom>
          <a:noFill/>
        </p:spPr>
        <p:txBody>
          <a:bodyPr wrap="square">
            <a:spAutoFit/>
          </a:bodyPr>
          <a:lstStyle/>
          <a:p>
            <a:pPr algn="l">
              <a:spcAft>
                <a:spcPts val="0"/>
              </a:spcAft>
              <a:defRPr sz="1000" b="0">
                <a:solidFill>
                  <a:srgbClr val="64748B"/>
                </a:solidFill>
                <a:latin typeface="Calibri"/>
              </a:defRPr>
            </a:pPr>
            <a:r>
              <a:t>All inputs sanitized against</a:t>
            </a:r>
            <a:br/>
            <a:r>
              <a:t>injection attacks.</a:t>
            </a:r>
          </a:p>
        </p:txBody>
      </p:sp>
      <p:sp>
        <p:nvSpPr>
          <p:cNvPr id="22" name="Rounded Rectangle 21"/>
          <p:cNvSpPr/>
          <p:nvPr/>
        </p:nvSpPr>
        <p:spPr>
          <a:xfrm>
            <a:off x="6400800" y="4114800"/>
            <a:ext cx="2148840" cy="105156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400800" y="4114800"/>
            <a:ext cx="45720" cy="105156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83680" y="4206240"/>
            <a:ext cx="1874520" cy="228600"/>
          </a:xfrm>
          <a:prstGeom prst="rect">
            <a:avLst/>
          </a:prstGeom>
          <a:noFill/>
        </p:spPr>
        <p:txBody>
          <a:bodyPr wrap="square">
            <a:spAutoFit/>
          </a:bodyPr>
          <a:lstStyle/>
          <a:p>
            <a:pPr algn="l">
              <a:spcAft>
                <a:spcPts val="0"/>
              </a:spcAft>
              <a:defRPr sz="1200" b="1">
                <a:solidFill>
                  <a:srgbClr val="1E293B"/>
                </a:solidFill>
                <a:latin typeface="Calibri"/>
              </a:defRPr>
            </a:pPr>
            <a:r>
              <a:t>Amount Controls</a:t>
            </a:r>
          </a:p>
        </p:txBody>
      </p:sp>
      <p:sp>
        <p:nvSpPr>
          <p:cNvPr id="25" name="TextBox 24"/>
          <p:cNvSpPr txBox="1"/>
          <p:nvPr/>
        </p:nvSpPr>
        <p:spPr>
          <a:xfrm>
            <a:off x="6583680" y="4480560"/>
            <a:ext cx="1874520" cy="640080"/>
          </a:xfrm>
          <a:prstGeom prst="rect">
            <a:avLst/>
          </a:prstGeom>
          <a:noFill/>
        </p:spPr>
        <p:txBody>
          <a:bodyPr wrap="square">
            <a:spAutoFit/>
          </a:bodyPr>
          <a:lstStyle/>
          <a:p>
            <a:pPr algn="l">
              <a:spcAft>
                <a:spcPts val="0"/>
              </a:spcAft>
              <a:defRPr sz="1000" b="0">
                <a:solidFill>
                  <a:srgbClr val="64748B"/>
                </a:solidFill>
                <a:latin typeface="Calibri"/>
              </a:defRPr>
            </a:pPr>
            <a:r>
              <a:t>Min K1, max K50,000.</a:t>
            </a:r>
            <a:br/>
            <a:r>
              <a:t>Balance validation pre-transaction.</a:t>
            </a:r>
          </a:p>
        </p:txBody>
      </p:sp>
      <p:sp>
        <p:nvSpPr>
          <p:cNvPr id="26" name="Rounded Rectangle 25"/>
          <p:cNvSpPr/>
          <p:nvPr/>
        </p:nvSpPr>
        <p:spPr>
          <a:xfrm>
            <a:off x="8686800" y="4114800"/>
            <a:ext cx="2148840" cy="105156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686800" y="4114800"/>
            <a:ext cx="45720" cy="105156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0" y="4206240"/>
            <a:ext cx="1874520" cy="228600"/>
          </a:xfrm>
          <a:prstGeom prst="rect">
            <a:avLst/>
          </a:prstGeom>
          <a:noFill/>
        </p:spPr>
        <p:txBody>
          <a:bodyPr wrap="square">
            <a:spAutoFit/>
          </a:bodyPr>
          <a:lstStyle/>
          <a:p>
            <a:pPr algn="l">
              <a:spcAft>
                <a:spcPts val="0"/>
              </a:spcAft>
              <a:defRPr sz="1200" b="1">
                <a:solidFill>
                  <a:srgbClr val="1E293B"/>
                </a:solidFill>
                <a:latin typeface="Calibri"/>
              </a:defRPr>
            </a:pPr>
            <a:r>
              <a:t>RLS Policies</a:t>
            </a:r>
          </a:p>
        </p:txBody>
      </p:sp>
      <p:sp>
        <p:nvSpPr>
          <p:cNvPr id="29" name="TextBox 28"/>
          <p:cNvSpPr txBox="1"/>
          <p:nvPr/>
        </p:nvSpPr>
        <p:spPr>
          <a:xfrm>
            <a:off x="8869680" y="4480560"/>
            <a:ext cx="1874520" cy="640080"/>
          </a:xfrm>
          <a:prstGeom prst="rect">
            <a:avLst/>
          </a:prstGeom>
          <a:noFill/>
        </p:spPr>
        <p:txBody>
          <a:bodyPr wrap="square">
            <a:spAutoFit/>
          </a:bodyPr>
          <a:lstStyle/>
          <a:p>
            <a:pPr algn="l">
              <a:spcAft>
                <a:spcPts val="0"/>
              </a:spcAft>
              <a:defRPr sz="1000" b="0">
                <a:solidFill>
                  <a:srgbClr val="64748B"/>
                </a:solidFill>
                <a:latin typeface="Calibri"/>
              </a:defRPr>
            </a:pPr>
            <a:r>
              <a:t>Database row-level security.</a:t>
            </a:r>
            <a:br/>
            <a:r>
              <a:t>Users only access own data.</a:t>
            </a:r>
          </a:p>
        </p:txBody>
      </p:sp>
      <p:sp>
        <p:nvSpPr>
          <p:cNvPr id="30" name="TextBox 29"/>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6 / 18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04B  |  DATA PROTECTION</a:t>
            </a:r>
          </a:p>
        </p:txBody>
      </p:sp>
      <p:sp>
        <p:nvSpPr>
          <p:cNvPr id="3" name="TextBox 2"/>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FFFFFF"/>
                </a:solidFill>
                <a:latin typeface="Calibri"/>
              </a:defRPr>
            </a:pPr>
            <a:r>
              <a:t>Data Protection Act No. 3 of 2021 Compliance</a:t>
            </a:r>
          </a:p>
        </p:txBody>
      </p:sp>
      <p:sp>
        <p:nvSpPr>
          <p:cNvPr id="4" name="Rounded Rectangle 3"/>
          <p:cNvSpPr/>
          <p:nvPr/>
        </p:nvSpPr>
        <p:spPr>
          <a:xfrm>
            <a:off x="914400" y="182880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1901952"/>
            <a:ext cx="4480560" cy="228600"/>
          </a:xfrm>
          <a:prstGeom prst="rect">
            <a:avLst/>
          </a:prstGeom>
          <a:noFill/>
        </p:spPr>
        <p:txBody>
          <a:bodyPr wrap="square">
            <a:spAutoFit/>
          </a:bodyPr>
          <a:lstStyle/>
          <a:p>
            <a:pPr algn="l">
              <a:spcAft>
                <a:spcPts val="0"/>
              </a:spcAft>
              <a:defRPr sz="1300" b="1">
                <a:solidFill>
                  <a:srgbClr val="10B981"/>
                </a:solidFill>
                <a:latin typeface="Calibri"/>
              </a:defRPr>
            </a:pPr>
            <a:r>
              <a:t>Data Minimization</a:t>
            </a:r>
          </a:p>
        </p:txBody>
      </p:sp>
      <p:sp>
        <p:nvSpPr>
          <p:cNvPr id="6" name="TextBox 5"/>
          <p:cNvSpPr txBox="1"/>
          <p:nvPr/>
        </p:nvSpPr>
        <p:spPr>
          <a:xfrm>
            <a:off x="1143000" y="217627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Only essential user data collected: phone number, name, transaction records. No unnecessary personal data harvested.</a:t>
            </a:r>
          </a:p>
        </p:txBody>
      </p:sp>
      <p:sp>
        <p:nvSpPr>
          <p:cNvPr id="7" name="Rounded Rectangle 6"/>
          <p:cNvSpPr/>
          <p:nvPr/>
        </p:nvSpPr>
        <p:spPr>
          <a:xfrm>
            <a:off x="914400" y="288036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953512"/>
            <a:ext cx="4480560" cy="228600"/>
          </a:xfrm>
          <a:prstGeom prst="rect">
            <a:avLst/>
          </a:prstGeom>
          <a:noFill/>
        </p:spPr>
        <p:txBody>
          <a:bodyPr wrap="square">
            <a:spAutoFit/>
          </a:bodyPr>
          <a:lstStyle/>
          <a:p>
            <a:pPr algn="l">
              <a:spcAft>
                <a:spcPts val="0"/>
              </a:spcAft>
              <a:defRPr sz="1300" b="1">
                <a:solidFill>
                  <a:srgbClr val="10B981"/>
                </a:solidFill>
                <a:latin typeface="Calibri"/>
              </a:defRPr>
            </a:pPr>
            <a:r>
              <a:t>Secure Storage</a:t>
            </a:r>
          </a:p>
        </p:txBody>
      </p:sp>
      <p:sp>
        <p:nvSpPr>
          <p:cNvPr id="9" name="TextBox 8"/>
          <p:cNvSpPr txBox="1"/>
          <p:nvPr/>
        </p:nvSpPr>
        <p:spPr>
          <a:xfrm>
            <a:off x="1143000" y="322783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All data stored in Supabase PostgreSQL with encryption at rest. Row-Level Security ensures users can only access their own records.</a:t>
            </a:r>
          </a:p>
        </p:txBody>
      </p:sp>
      <p:sp>
        <p:nvSpPr>
          <p:cNvPr id="10" name="Rounded Rectangle 9"/>
          <p:cNvSpPr/>
          <p:nvPr/>
        </p:nvSpPr>
        <p:spPr>
          <a:xfrm>
            <a:off x="914400" y="393192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3000" y="4005072"/>
            <a:ext cx="4480560" cy="228600"/>
          </a:xfrm>
          <a:prstGeom prst="rect">
            <a:avLst/>
          </a:prstGeom>
          <a:noFill/>
        </p:spPr>
        <p:txBody>
          <a:bodyPr wrap="square">
            <a:spAutoFit/>
          </a:bodyPr>
          <a:lstStyle/>
          <a:p>
            <a:pPr algn="l">
              <a:spcAft>
                <a:spcPts val="0"/>
              </a:spcAft>
              <a:defRPr sz="1300" b="1">
                <a:solidFill>
                  <a:srgbClr val="10B981"/>
                </a:solidFill>
                <a:latin typeface="Calibri"/>
              </a:defRPr>
            </a:pPr>
            <a:r>
              <a:t>Consent-Based Processing</a:t>
            </a:r>
          </a:p>
        </p:txBody>
      </p:sp>
      <p:sp>
        <p:nvSpPr>
          <p:cNvPr id="12" name="TextBox 11"/>
          <p:cNvSpPr txBox="1"/>
          <p:nvPr/>
        </p:nvSpPr>
        <p:spPr>
          <a:xfrm>
            <a:off x="1143000" y="427939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User data processed only with explicit consent at registration. Clear terms of service presented before account creation.</a:t>
            </a:r>
          </a:p>
        </p:txBody>
      </p:sp>
      <p:sp>
        <p:nvSpPr>
          <p:cNvPr id="13" name="Rounded Rectangle 12"/>
          <p:cNvSpPr/>
          <p:nvPr/>
        </p:nvSpPr>
        <p:spPr>
          <a:xfrm>
            <a:off x="914400" y="498348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5056632"/>
            <a:ext cx="4480560" cy="228600"/>
          </a:xfrm>
          <a:prstGeom prst="rect">
            <a:avLst/>
          </a:prstGeom>
          <a:noFill/>
        </p:spPr>
        <p:txBody>
          <a:bodyPr wrap="square">
            <a:spAutoFit/>
          </a:bodyPr>
          <a:lstStyle/>
          <a:p>
            <a:pPr algn="l">
              <a:spcAft>
                <a:spcPts val="0"/>
              </a:spcAft>
              <a:defRPr sz="1300" b="1">
                <a:solidFill>
                  <a:srgbClr val="10B981"/>
                </a:solidFill>
                <a:latin typeface="Calibri"/>
              </a:defRPr>
            </a:pPr>
            <a:r>
              <a:t>Right to Access &amp; Deletion</a:t>
            </a:r>
          </a:p>
        </p:txBody>
      </p:sp>
      <p:sp>
        <p:nvSpPr>
          <p:cNvPr id="15" name="TextBox 14"/>
          <p:cNvSpPr txBox="1"/>
          <p:nvPr/>
        </p:nvSpPr>
        <p:spPr>
          <a:xfrm>
            <a:off x="1143000" y="533095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Users can view all their data through the app. Account deletion procedures will be implemented as part of compliance readiness.</a:t>
            </a:r>
          </a:p>
        </p:txBody>
      </p:sp>
      <p:sp>
        <p:nvSpPr>
          <p:cNvPr id="16" name="Rounded Rectangle 15"/>
          <p:cNvSpPr/>
          <p:nvPr/>
        </p:nvSpPr>
        <p:spPr>
          <a:xfrm>
            <a:off x="6217920" y="182880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1901952"/>
            <a:ext cx="4480560" cy="228600"/>
          </a:xfrm>
          <a:prstGeom prst="rect">
            <a:avLst/>
          </a:prstGeom>
          <a:noFill/>
        </p:spPr>
        <p:txBody>
          <a:bodyPr wrap="square">
            <a:spAutoFit/>
          </a:bodyPr>
          <a:lstStyle/>
          <a:p>
            <a:pPr algn="l">
              <a:spcAft>
                <a:spcPts val="0"/>
              </a:spcAft>
              <a:defRPr sz="1300" b="1">
                <a:solidFill>
                  <a:srgbClr val="1A56DB"/>
                </a:solidFill>
                <a:latin typeface="Calibri"/>
              </a:defRPr>
            </a:pPr>
            <a:r>
              <a:t>Confidential Transmission</a:t>
            </a:r>
          </a:p>
        </p:txBody>
      </p:sp>
      <p:sp>
        <p:nvSpPr>
          <p:cNvPr id="18" name="TextBox 17"/>
          <p:cNvSpPr txBox="1"/>
          <p:nvPr/>
        </p:nvSpPr>
        <p:spPr>
          <a:xfrm>
            <a:off x="6446520" y="217627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All API calls over HTTPS/TLS. Supabase enforces encrypted connections. No data transmitted in plain text.</a:t>
            </a:r>
          </a:p>
        </p:txBody>
      </p:sp>
      <p:sp>
        <p:nvSpPr>
          <p:cNvPr id="19" name="Rounded Rectangle 18"/>
          <p:cNvSpPr/>
          <p:nvPr/>
        </p:nvSpPr>
        <p:spPr>
          <a:xfrm>
            <a:off x="6217920" y="288036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6520" y="2953512"/>
            <a:ext cx="4480560" cy="228600"/>
          </a:xfrm>
          <a:prstGeom prst="rect">
            <a:avLst/>
          </a:prstGeom>
          <a:noFill/>
        </p:spPr>
        <p:txBody>
          <a:bodyPr wrap="square">
            <a:spAutoFit/>
          </a:bodyPr>
          <a:lstStyle/>
          <a:p>
            <a:pPr algn="l">
              <a:spcAft>
                <a:spcPts val="0"/>
              </a:spcAft>
              <a:defRPr sz="1300" b="1">
                <a:solidFill>
                  <a:srgbClr val="1A56DB"/>
                </a:solidFill>
                <a:latin typeface="Calibri"/>
              </a:defRPr>
            </a:pPr>
            <a:r>
              <a:t>Access Controls</a:t>
            </a:r>
          </a:p>
        </p:txBody>
      </p:sp>
      <p:sp>
        <p:nvSpPr>
          <p:cNvPr id="21" name="TextBox 20"/>
          <p:cNvSpPr txBox="1"/>
          <p:nvPr/>
        </p:nvSpPr>
        <p:spPr>
          <a:xfrm>
            <a:off x="6446520" y="322783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JWT-based authentication with session refresh. Admin access restricted to designated admin accounts only.</a:t>
            </a:r>
          </a:p>
        </p:txBody>
      </p:sp>
      <p:sp>
        <p:nvSpPr>
          <p:cNvPr id="22" name="Rounded Rectangle 21"/>
          <p:cNvSpPr/>
          <p:nvPr/>
        </p:nvSpPr>
        <p:spPr>
          <a:xfrm>
            <a:off x="6217920" y="393192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005072"/>
            <a:ext cx="4480560" cy="228600"/>
          </a:xfrm>
          <a:prstGeom prst="rect">
            <a:avLst/>
          </a:prstGeom>
          <a:noFill/>
        </p:spPr>
        <p:txBody>
          <a:bodyPr wrap="square">
            <a:spAutoFit/>
          </a:bodyPr>
          <a:lstStyle/>
          <a:p>
            <a:pPr algn="l">
              <a:spcAft>
                <a:spcPts val="0"/>
              </a:spcAft>
              <a:defRPr sz="1300" b="1">
                <a:solidFill>
                  <a:srgbClr val="1A56DB"/>
                </a:solidFill>
                <a:latin typeface="Calibri"/>
              </a:defRPr>
            </a:pPr>
            <a:r>
              <a:t>Audit Trail</a:t>
            </a:r>
          </a:p>
        </p:txBody>
      </p:sp>
      <p:sp>
        <p:nvSpPr>
          <p:cNvPr id="24" name="TextBox 23"/>
          <p:cNvSpPr txBox="1"/>
          <p:nvPr/>
        </p:nvSpPr>
        <p:spPr>
          <a:xfrm>
            <a:off x="6446520" y="427939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Complete transaction history maintained. All payment operations logged with timestamps, references, and status tracking.</a:t>
            </a:r>
          </a:p>
        </p:txBody>
      </p:sp>
      <p:sp>
        <p:nvSpPr>
          <p:cNvPr id="25" name="Rounded Rectangle 24"/>
          <p:cNvSpPr/>
          <p:nvPr/>
        </p:nvSpPr>
        <p:spPr>
          <a:xfrm>
            <a:off x="6217920" y="4983480"/>
            <a:ext cx="4846320" cy="9144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46520" y="5056632"/>
            <a:ext cx="4480560" cy="228600"/>
          </a:xfrm>
          <a:prstGeom prst="rect">
            <a:avLst/>
          </a:prstGeom>
          <a:noFill/>
        </p:spPr>
        <p:txBody>
          <a:bodyPr wrap="square">
            <a:spAutoFit/>
          </a:bodyPr>
          <a:lstStyle/>
          <a:p>
            <a:pPr algn="l">
              <a:spcAft>
                <a:spcPts val="0"/>
              </a:spcAft>
              <a:defRPr sz="1300" b="1">
                <a:solidFill>
                  <a:srgbClr val="1A56DB"/>
                </a:solidFill>
                <a:latin typeface="Calibri"/>
              </a:defRPr>
            </a:pPr>
            <a:r>
              <a:t>Data Retention</a:t>
            </a:r>
          </a:p>
        </p:txBody>
      </p:sp>
      <p:sp>
        <p:nvSpPr>
          <p:cNvPr id="27" name="TextBox 26"/>
          <p:cNvSpPr txBox="1"/>
          <p:nvPr/>
        </p:nvSpPr>
        <p:spPr>
          <a:xfrm>
            <a:off x="6446520" y="5330952"/>
            <a:ext cx="4480560" cy="502920"/>
          </a:xfrm>
          <a:prstGeom prst="rect">
            <a:avLst/>
          </a:prstGeom>
          <a:noFill/>
        </p:spPr>
        <p:txBody>
          <a:bodyPr wrap="square">
            <a:spAutoFit/>
          </a:bodyPr>
          <a:lstStyle/>
          <a:p>
            <a:pPr algn="l">
              <a:spcAft>
                <a:spcPts val="0"/>
              </a:spcAft>
              <a:defRPr sz="1000" b="0">
                <a:solidFill>
                  <a:srgbClr val="94A3B8"/>
                </a:solidFill>
                <a:latin typeface="Calibri"/>
              </a:defRPr>
            </a:pPr>
            <a:r>
              <a:t>Records maintained for minimum 6 years per NPSA Section 28. Electronic storage with integrity verification.</a:t>
            </a:r>
          </a:p>
        </p:txBody>
      </p:sp>
      <p:sp>
        <p:nvSpPr>
          <p:cNvPr id="28" name="TextBox 27"/>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7 / 18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05  |  AGENT NETWORK</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Agent Cash-In / Cash-Out Model</a:t>
            </a:r>
          </a:p>
        </p:txBody>
      </p:sp>
      <p:sp>
        <p:nvSpPr>
          <p:cNvPr id="5" name="Rounded Rectangle 4"/>
          <p:cNvSpPr/>
          <p:nvPr/>
        </p:nvSpPr>
        <p:spPr>
          <a:xfrm>
            <a:off x="914400" y="1828800"/>
            <a:ext cx="10241280" cy="77724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14400" y="1828800"/>
            <a:ext cx="54864"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1901952"/>
            <a:ext cx="2286000" cy="274320"/>
          </a:xfrm>
          <a:prstGeom prst="rect">
            <a:avLst/>
          </a:prstGeom>
          <a:noFill/>
        </p:spPr>
        <p:txBody>
          <a:bodyPr wrap="square">
            <a:spAutoFit/>
          </a:bodyPr>
          <a:lstStyle/>
          <a:p>
            <a:pPr algn="l">
              <a:spcAft>
                <a:spcPts val="0"/>
              </a:spcAft>
              <a:defRPr sz="1400" b="1">
                <a:solidFill>
                  <a:srgbClr val="1E293B"/>
                </a:solidFill>
                <a:latin typeface="Calibri"/>
              </a:defRPr>
            </a:pPr>
            <a:r>
              <a:t>Cash-In (Deposit)</a:t>
            </a:r>
          </a:p>
        </p:txBody>
      </p:sp>
      <p:sp>
        <p:nvSpPr>
          <p:cNvPr id="8" name="TextBox 7"/>
          <p:cNvSpPr txBox="1"/>
          <p:nvPr/>
        </p:nvSpPr>
        <p:spPr>
          <a:xfrm>
            <a:off x="1188720" y="2212848"/>
            <a:ext cx="4114800" cy="320040"/>
          </a:xfrm>
          <a:prstGeom prst="rect">
            <a:avLst/>
          </a:prstGeom>
          <a:noFill/>
        </p:spPr>
        <p:txBody>
          <a:bodyPr wrap="square">
            <a:spAutoFit/>
          </a:bodyPr>
          <a:lstStyle/>
          <a:p>
            <a:pPr algn="l">
              <a:spcAft>
                <a:spcPts val="0"/>
              </a:spcAft>
              <a:defRPr sz="1100" b="0">
                <a:solidFill>
                  <a:srgbClr val="64748B"/>
                </a:solidFill>
                <a:latin typeface="Calibri"/>
              </a:defRPr>
            </a:pPr>
            <a:r>
              <a:t>Agent accepts cash from customer, credits their Monde wallet digitally</a:t>
            </a:r>
          </a:p>
        </p:txBody>
      </p:sp>
      <p:sp>
        <p:nvSpPr>
          <p:cNvPr id="9" name="TextBox 8"/>
          <p:cNvSpPr txBox="1"/>
          <p:nvPr/>
        </p:nvSpPr>
        <p:spPr>
          <a:xfrm>
            <a:off x="6858000" y="2011680"/>
            <a:ext cx="4114800" cy="365760"/>
          </a:xfrm>
          <a:prstGeom prst="rect">
            <a:avLst/>
          </a:prstGeom>
          <a:noFill/>
        </p:spPr>
        <p:txBody>
          <a:bodyPr wrap="square">
            <a:spAutoFit/>
          </a:bodyPr>
          <a:lstStyle/>
          <a:p>
            <a:pPr algn="l">
              <a:spcAft>
                <a:spcPts val="0"/>
              </a:spcAft>
              <a:defRPr sz="1200" b="1">
                <a:solidFill>
                  <a:srgbClr val="10B981"/>
                </a:solidFill>
                <a:latin typeface="Calibri"/>
              </a:defRPr>
            </a:pPr>
            <a:r>
              <a:t>0.5% commission to agent (Monde pays)</a:t>
            </a:r>
          </a:p>
        </p:txBody>
      </p:sp>
      <p:sp>
        <p:nvSpPr>
          <p:cNvPr id="10" name="Rounded Rectangle 9"/>
          <p:cNvSpPr/>
          <p:nvPr/>
        </p:nvSpPr>
        <p:spPr>
          <a:xfrm>
            <a:off x="914400" y="2743200"/>
            <a:ext cx="10241280" cy="77724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14400" y="2743200"/>
            <a:ext cx="54864" cy="77724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88720" y="2816352"/>
            <a:ext cx="2286000" cy="274320"/>
          </a:xfrm>
          <a:prstGeom prst="rect">
            <a:avLst/>
          </a:prstGeom>
          <a:noFill/>
        </p:spPr>
        <p:txBody>
          <a:bodyPr wrap="square">
            <a:spAutoFit/>
          </a:bodyPr>
          <a:lstStyle/>
          <a:p>
            <a:pPr algn="l">
              <a:spcAft>
                <a:spcPts val="0"/>
              </a:spcAft>
              <a:defRPr sz="1400" b="1">
                <a:solidFill>
                  <a:srgbClr val="1E293B"/>
                </a:solidFill>
                <a:latin typeface="Calibri"/>
              </a:defRPr>
            </a:pPr>
            <a:r>
              <a:t>Cash-Out</a:t>
            </a:r>
          </a:p>
        </p:txBody>
      </p:sp>
      <p:sp>
        <p:nvSpPr>
          <p:cNvPr id="13" name="TextBox 12"/>
          <p:cNvSpPr txBox="1"/>
          <p:nvPr/>
        </p:nvSpPr>
        <p:spPr>
          <a:xfrm>
            <a:off x="1188720" y="3127248"/>
            <a:ext cx="4114800" cy="320040"/>
          </a:xfrm>
          <a:prstGeom prst="rect">
            <a:avLst/>
          </a:prstGeom>
          <a:noFill/>
        </p:spPr>
        <p:txBody>
          <a:bodyPr wrap="square">
            <a:spAutoFit/>
          </a:bodyPr>
          <a:lstStyle/>
          <a:p>
            <a:pPr algn="l">
              <a:spcAft>
                <a:spcPts val="0"/>
              </a:spcAft>
              <a:defRPr sz="1100" b="0">
                <a:solidFill>
                  <a:srgbClr val="64748B"/>
                </a:solidFill>
                <a:latin typeface="Calibri"/>
              </a:defRPr>
            </a:pPr>
            <a:r>
              <a:t>Customer generates 6-digit code, agent verifies and gives cash</a:t>
            </a:r>
          </a:p>
        </p:txBody>
      </p:sp>
      <p:sp>
        <p:nvSpPr>
          <p:cNvPr id="14" name="TextBox 13"/>
          <p:cNvSpPr txBox="1"/>
          <p:nvPr/>
        </p:nvSpPr>
        <p:spPr>
          <a:xfrm>
            <a:off x="6858000" y="2926080"/>
            <a:ext cx="4114800" cy="365760"/>
          </a:xfrm>
          <a:prstGeom prst="rect">
            <a:avLst/>
          </a:prstGeom>
          <a:noFill/>
        </p:spPr>
        <p:txBody>
          <a:bodyPr wrap="square">
            <a:spAutoFit/>
          </a:bodyPr>
          <a:lstStyle/>
          <a:p>
            <a:pPr algn="l">
              <a:spcAft>
                <a:spcPts val="0"/>
              </a:spcAft>
              <a:defRPr sz="1200" b="1">
                <a:solidFill>
                  <a:srgbClr val="1A56DB"/>
                </a:solidFill>
                <a:latin typeface="Calibri"/>
              </a:defRPr>
            </a:pPr>
            <a:r>
              <a:t>Tiered fees: K2.50–K50 (70/30 agent/Monde split)</a:t>
            </a:r>
          </a:p>
        </p:txBody>
      </p:sp>
      <p:sp>
        <p:nvSpPr>
          <p:cNvPr id="15" name="Rounded Rectangle 14"/>
          <p:cNvSpPr/>
          <p:nvPr/>
        </p:nvSpPr>
        <p:spPr>
          <a:xfrm>
            <a:off x="914400" y="3657600"/>
            <a:ext cx="10241280" cy="77724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14400" y="3657600"/>
            <a:ext cx="54864" cy="77724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88720" y="3730752"/>
            <a:ext cx="2286000" cy="274320"/>
          </a:xfrm>
          <a:prstGeom prst="rect">
            <a:avLst/>
          </a:prstGeom>
          <a:noFill/>
        </p:spPr>
        <p:txBody>
          <a:bodyPr wrap="square">
            <a:spAutoFit/>
          </a:bodyPr>
          <a:lstStyle/>
          <a:p>
            <a:pPr algn="l">
              <a:spcAft>
                <a:spcPts val="0"/>
              </a:spcAft>
              <a:defRPr sz="1400" b="1">
                <a:solidFill>
                  <a:srgbClr val="1E293B"/>
                </a:solidFill>
                <a:latin typeface="Calibri"/>
              </a:defRPr>
            </a:pPr>
            <a:r>
              <a:t>Agent Transfer</a:t>
            </a:r>
          </a:p>
        </p:txBody>
      </p:sp>
      <p:sp>
        <p:nvSpPr>
          <p:cNvPr id="18" name="TextBox 17"/>
          <p:cNvSpPr txBox="1"/>
          <p:nvPr/>
        </p:nvSpPr>
        <p:spPr>
          <a:xfrm>
            <a:off x="1188720" y="4041648"/>
            <a:ext cx="4114800" cy="320040"/>
          </a:xfrm>
          <a:prstGeom prst="rect">
            <a:avLst/>
          </a:prstGeom>
          <a:noFill/>
        </p:spPr>
        <p:txBody>
          <a:bodyPr wrap="square">
            <a:spAutoFit/>
          </a:bodyPr>
          <a:lstStyle/>
          <a:p>
            <a:pPr algn="l">
              <a:spcAft>
                <a:spcPts val="0"/>
              </a:spcAft>
              <a:defRPr sz="1100" b="0">
                <a:solidFill>
                  <a:srgbClr val="64748B"/>
                </a:solidFill>
                <a:latin typeface="Calibri"/>
              </a:defRPr>
            </a:pPr>
            <a:r>
              <a:t>Agent-to-agent float transfer for liquidity management</a:t>
            </a:r>
          </a:p>
        </p:txBody>
      </p:sp>
      <p:sp>
        <p:nvSpPr>
          <p:cNvPr id="19" name="TextBox 18"/>
          <p:cNvSpPr txBox="1"/>
          <p:nvPr/>
        </p:nvSpPr>
        <p:spPr>
          <a:xfrm>
            <a:off x="6858000" y="3840480"/>
            <a:ext cx="4114800" cy="365760"/>
          </a:xfrm>
          <a:prstGeom prst="rect">
            <a:avLst/>
          </a:prstGeom>
          <a:noFill/>
        </p:spPr>
        <p:txBody>
          <a:bodyPr wrap="square">
            <a:spAutoFit/>
          </a:bodyPr>
          <a:lstStyle/>
          <a:p>
            <a:pPr algn="l">
              <a:spcAft>
                <a:spcPts val="0"/>
              </a:spcAft>
              <a:defRPr sz="1200" b="1">
                <a:solidFill>
                  <a:srgbClr val="F5A623"/>
                </a:solidFill>
                <a:latin typeface="Calibri"/>
              </a:defRPr>
            </a:pPr>
            <a:r>
              <a:t>Free, K50,000 daily cap</a:t>
            </a:r>
          </a:p>
        </p:txBody>
      </p:sp>
      <p:sp>
        <p:nvSpPr>
          <p:cNvPr id="20" name="Rounded Rectangle 19"/>
          <p:cNvSpPr/>
          <p:nvPr/>
        </p:nvSpPr>
        <p:spPr>
          <a:xfrm>
            <a:off x="914400" y="4572000"/>
            <a:ext cx="10241280" cy="77724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14400" y="4572000"/>
            <a:ext cx="54864" cy="77724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88720" y="4645152"/>
            <a:ext cx="2286000" cy="274320"/>
          </a:xfrm>
          <a:prstGeom prst="rect">
            <a:avLst/>
          </a:prstGeom>
          <a:noFill/>
        </p:spPr>
        <p:txBody>
          <a:bodyPr wrap="square">
            <a:spAutoFit/>
          </a:bodyPr>
          <a:lstStyle/>
          <a:p>
            <a:pPr algn="l">
              <a:spcAft>
                <a:spcPts val="0"/>
              </a:spcAft>
              <a:defRPr sz="1400" b="1">
                <a:solidFill>
                  <a:srgbClr val="1E293B"/>
                </a:solidFill>
                <a:latin typeface="Calibri"/>
              </a:defRPr>
            </a:pPr>
            <a:r>
              <a:t>Float Top-Up</a:t>
            </a:r>
          </a:p>
        </p:txBody>
      </p:sp>
      <p:sp>
        <p:nvSpPr>
          <p:cNvPr id="23" name="TextBox 22"/>
          <p:cNvSpPr txBox="1"/>
          <p:nvPr/>
        </p:nvSpPr>
        <p:spPr>
          <a:xfrm>
            <a:off x="1188720" y="4956048"/>
            <a:ext cx="4114800" cy="320040"/>
          </a:xfrm>
          <a:prstGeom prst="rect">
            <a:avLst/>
          </a:prstGeom>
          <a:noFill/>
        </p:spPr>
        <p:txBody>
          <a:bodyPr wrap="square">
            <a:spAutoFit/>
          </a:bodyPr>
          <a:lstStyle/>
          <a:p>
            <a:pPr algn="l">
              <a:spcAft>
                <a:spcPts val="0"/>
              </a:spcAft>
              <a:defRPr sz="1100" b="0">
                <a:solidFill>
                  <a:srgbClr val="64748B"/>
                </a:solidFill>
                <a:latin typeface="Calibri"/>
              </a:defRPr>
            </a:pPr>
            <a:r>
              <a:t>Agent loads wallet balance via mobile money</a:t>
            </a:r>
          </a:p>
        </p:txBody>
      </p:sp>
      <p:sp>
        <p:nvSpPr>
          <p:cNvPr id="24" name="TextBox 23"/>
          <p:cNvSpPr txBox="1"/>
          <p:nvPr/>
        </p:nvSpPr>
        <p:spPr>
          <a:xfrm>
            <a:off x="6858000" y="4754880"/>
            <a:ext cx="4114800" cy="365760"/>
          </a:xfrm>
          <a:prstGeom prst="rect">
            <a:avLst/>
          </a:prstGeom>
          <a:noFill/>
        </p:spPr>
        <p:txBody>
          <a:bodyPr wrap="square">
            <a:spAutoFit/>
          </a:bodyPr>
          <a:lstStyle/>
          <a:p>
            <a:pPr algn="l">
              <a:spcAft>
                <a:spcPts val="0"/>
              </a:spcAft>
              <a:defRPr sz="1200" b="1">
                <a:solidFill>
                  <a:srgbClr val="8B5CF6"/>
                </a:solidFill>
                <a:latin typeface="Calibri"/>
              </a:defRPr>
            </a:pPr>
            <a:r>
              <a:t>Standard top-up fees apply</a:t>
            </a:r>
          </a:p>
        </p:txBody>
      </p:sp>
      <p:sp>
        <p:nvSpPr>
          <p:cNvPr id="25" name="TextBox 24"/>
          <p:cNvSpPr txBox="1"/>
          <p:nvPr/>
        </p:nvSpPr>
        <p:spPr>
          <a:xfrm>
            <a:off x="1097280" y="5486400"/>
            <a:ext cx="3657600" cy="365760"/>
          </a:xfrm>
          <a:prstGeom prst="rect">
            <a:avLst/>
          </a:prstGeom>
          <a:noFill/>
        </p:spPr>
        <p:txBody>
          <a:bodyPr wrap="square">
            <a:spAutoFit/>
          </a:bodyPr>
          <a:lstStyle/>
          <a:p>
            <a:pPr algn="l">
              <a:spcAft>
                <a:spcPts val="0"/>
              </a:spcAft>
              <a:defRPr sz="1800" b="1">
                <a:solidFill>
                  <a:srgbClr val="1E293B"/>
                </a:solidFill>
                <a:latin typeface="Calibri"/>
              </a:defRPr>
            </a:pPr>
            <a:r>
              <a:t>Anti-Fraud Controls</a:t>
            </a:r>
          </a:p>
        </p:txBody>
      </p:sp>
      <p:sp>
        <p:nvSpPr>
          <p:cNvPr id="26" name="TextBox 25"/>
          <p:cNvSpPr txBox="1"/>
          <p:nvPr/>
        </p:nvSpPr>
        <p:spPr>
          <a:xfrm>
            <a:off x="1280160" y="5897880"/>
            <a:ext cx="9144000" cy="201168"/>
          </a:xfrm>
          <a:prstGeom prst="rect">
            <a:avLst/>
          </a:prstGeom>
          <a:noFill/>
        </p:spPr>
        <p:txBody>
          <a:bodyPr wrap="square">
            <a:spAutoFit/>
          </a:bodyPr>
          <a:lstStyle/>
          <a:p>
            <a:pPr algn="l">
              <a:spcAft>
                <a:spcPts val="0"/>
              </a:spcAft>
              <a:defRPr sz="1000" b="0">
                <a:solidFill>
                  <a:srgbClr val="64748B"/>
                </a:solidFill>
                <a:latin typeface="Calibri"/>
              </a:defRPr>
            </a:pPr>
            <a:r>
              <a:t>•  Circular fraud block — agent cannot cash-out for customer they deposited to within 24h</a:t>
            </a:r>
          </a:p>
        </p:txBody>
      </p:sp>
      <p:sp>
        <p:nvSpPr>
          <p:cNvPr id="27" name="TextBox 26"/>
          <p:cNvSpPr txBox="1"/>
          <p:nvPr/>
        </p:nvSpPr>
        <p:spPr>
          <a:xfrm>
            <a:off x="1280160" y="6099048"/>
            <a:ext cx="9144000" cy="201168"/>
          </a:xfrm>
          <a:prstGeom prst="rect">
            <a:avLst/>
          </a:prstGeom>
          <a:noFill/>
        </p:spPr>
        <p:txBody>
          <a:bodyPr wrap="square">
            <a:spAutoFit/>
          </a:bodyPr>
          <a:lstStyle/>
          <a:p>
            <a:pPr algn="l">
              <a:spcAft>
                <a:spcPts val="0"/>
              </a:spcAft>
              <a:defRPr sz="1000" b="0">
                <a:solidFill>
                  <a:srgbClr val="64748B"/>
                </a:solidFill>
                <a:latin typeface="Calibri"/>
              </a:defRPr>
            </a:pPr>
            <a:r>
              <a:t>•  Daily deposit limit — max 3 deposits per customer per day from any agent</a:t>
            </a:r>
          </a:p>
        </p:txBody>
      </p:sp>
      <p:sp>
        <p:nvSpPr>
          <p:cNvPr id="28" name="TextBox 27"/>
          <p:cNvSpPr txBox="1"/>
          <p:nvPr/>
        </p:nvSpPr>
        <p:spPr>
          <a:xfrm>
            <a:off x="1280160" y="6300216"/>
            <a:ext cx="9144000" cy="201168"/>
          </a:xfrm>
          <a:prstGeom prst="rect">
            <a:avLst/>
          </a:prstGeom>
          <a:noFill/>
        </p:spPr>
        <p:txBody>
          <a:bodyPr wrap="square">
            <a:spAutoFit/>
          </a:bodyPr>
          <a:lstStyle/>
          <a:p>
            <a:pPr algn="l">
              <a:spcAft>
                <a:spcPts val="0"/>
              </a:spcAft>
              <a:defRPr sz="1000" b="0">
                <a:solidFill>
                  <a:srgbClr val="64748B"/>
                </a:solidFill>
                <a:latin typeface="Calibri"/>
              </a:defRPr>
            </a:pPr>
            <a:r>
              <a:t>•  Agent transfer daily cap — K50,000/day per agent</a:t>
            </a:r>
          </a:p>
        </p:txBody>
      </p:sp>
      <p:sp>
        <p:nvSpPr>
          <p:cNvPr id="29" name="TextBox 28"/>
          <p:cNvSpPr txBox="1"/>
          <p:nvPr/>
        </p:nvSpPr>
        <p:spPr>
          <a:xfrm>
            <a:off x="1280160" y="6501384"/>
            <a:ext cx="9144000" cy="201168"/>
          </a:xfrm>
          <a:prstGeom prst="rect">
            <a:avLst/>
          </a:prstGeom>
          <a:noFill/>
        </p:spPr>
        <p:txBody>
          <a:bodyPr wrap="square">
            <a:spAutoFit/>
          </a:bodyPr>
          <a:lstStyle/>
          <a:p>
            <a:pPr algn="l">
              <a:spcAft>
                <a:spcPts val="0"/>
              </a:spcAft>
              <a:defRPr sz="1000" b="0">
                <a:solidFill>
                  <a:srgbClr val="64748B"/>
                </a:solidFill>
                <a:latin typeface="Calibri"/>
              </a:defRPr>
            </a:pPr>
            <a:r>
              <a:t>•  Self-service blocks — agents cannot deposit to self or cash-out own requests</a:t>
            </a:r>
          </a:p>
        </p:txBody>
      </p:sp>
      <p:sp>
        <p:nvSpPr>
          <p:cNvPr id="30" name="TextBox 29"/>
          <p:cNvSpPr txBox="1"/>
          <p:nvPr/>
        </p:nvSpPr>
        <p:spPr>
          <a:xfrm>
            <a:off x="1280160" y="6702552"/>
            <a:ext cx="9144000" cy="201168"/>
          </a:xfrm>
          <a:prstGeom prst="rect">
            <a:avLst/>
          </a:prstGeom>
          <a:noFill/>
        </p:spPr>
        <p:txBody>
          <a:bodyPr wrap="square">
            <a:spAutoFit/>
          </a:bodyPr>
          <a:lstStyle/>
          <a:p>
            <a:pPr algn="l">
              <a:spcAft>
                <a:spcPts val="0"/>
              </a:spcAft>
              <a:defRPr sz="1000" b="0">
                <a:solidFill>
                  <a:srgbClr val="64748B"/>
                </a:solidFill>
                <a:latin typeface="Calibri"/>
              </a:defRPr>
            </a:pPr>
            <a:r>
              <a:t>•  Admin-only agent designation — only admin can toggle agent status</a:t>
            </a:r>
          </a:p>
        </p:txBody>
      </p:sp>
      <p:sp>
        <p:nvSpPr>
          <p:cNvPr id="31" name="TextBox 30"/>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8 / 18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06  |  BUSINESS MODEL</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Revenue Model &amp; Fee Transparency</a:t>
            </a:r>
          </a:p>
        </p:txBody>
      </p:sp>
      <p:sp>
        <p:nvSpPr>
          <p:cNvPr id="5" name="Rounded Rectangle 4"/>
          <p:cNvSpPr/>
          <p:nvPr/>
        </p:nvSpPr>
        <p:spPr>
          <a:xfrm>
            <a:off x="914400" y="1828800"/>
            <a:ext cx="2286000" cy="411480"/>
          </a:xfrm>
          <a:prstGeom prst="roundRect">
            <a:avLst>
              <a:gd name="adj" fmla="val 0"/>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892808"/>
            <a:ext cx="2103120" cy="411480"/>
          </a:xfrm>
          <a:prstGeom prst="rect">
            <a:avLst/>
          </a:prstGeom>
          <a:noFill/>
        </p:spPr>
        <p:txBody>
          <a:bodyPr wrap="square">
            <a:spAutoFit/>
          </a:bodyPr>
          <a:lstStyle/>
          <a:p>
            <a:pPr algn="l">
              <a:spcAft>
                <a:spcPts val="0"/>
              </a:spcAft>
              <a:defRPr sz="1200" b="1">
                <a:solidFill>
                  <a:srgbClr val="FFFFFF"/>
                </a:solidFill>
                <a:latin typeface="Calibri"/>
              </a:defRPr>
            </a:pPr>
            <a:r>
              <a:t>Service</a:t>
            </a:r>
          </a:p>
        </p:txBody>
      </p:sp>
      <p:sp>
        <p:nvSpPr>
          <p:cNvPr id="7" name="Rounded Rectangle 6"/>
          <p:cNvSpPr/>
          <p:nvPr/>
        </p:nvSpPr>
        <p:spPr>
          <a:xfrm>
            <a:off x="3200400" y="1828800"/>
            <a:ext cx="2560320" cy="411480"/>
          </a:xfrm>
          <a:prstGeom prst="roundRect">
            <a:avLst>
              <a:gd name="adj" fmla="val 0"/>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37560" y="1892808"/>
            <a:ext cx="2377440" cy="411480"/>
          </a:xfrm>
          <a:prstGeom prst="rect">
            <a:avLst/>
          </a:prstGeom>
          <a:noFill/>
        </p:spPr>
        <p:txBody>
          <a:bodyPr wrap="square">
            <a:spAutoFit/>
          </a:bodyPr>
          <a:lstStyle/>
          <a:p>
            <a:pPr algn="l">
              <a:spcAft>
                <a:spcPts val="0"/>
              </a:spcAft>
              <a:defRPr sz="1200" b="1">
                <a:solidFill>
                  <a:srgbClr val="FFFFFF"/>
                </a:solidFill>
                <a:latin typeface="Calibri"/>
              </a:defRPr>
            </a:pPr>
            <a:r>
              <a:t>Fee to Customer</a:t>
            </a:r>
          </a:p>
        </p:txBody>
      </p:sp>
      <p:sp>
        <p:nvSpPr>
          <p:cNvPr id="9" name="Rounded Rectangle 8"/>
          <p:cNvSpPr/>
          <p:nvPr/>
        </p:nvSpPr>
        <p:spPr>
          <a:xfrm>
            <a:off x="5760720" y="1828800"/>
            <a:ext cx="2560320" cy="411480"/>
          </a:xfrm>
          <a:prstGeom prst="roundRect">
            <a:avLst>
              <a:gd name="adj" fmla="val 0"/>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97880" y="1892808"/>
            <a:ext cx="2377440" cy="411480"/>
          </a:xfrm>
          <a:prstGeom prst="rect">
            <a:avLst/>
          </a:prstGeom>
          <a:noFill/>
        </p:spPr>
        <p:txBody>
          <a:bodyPr wrap="square">
            <a:spAutoFit/>
          </a:bodyPr>
          <a:lstStyle/>
          <a:p>
            <a:pPr algn="l">
              <a:spcAft>
                <a:spcPts val="0"/>
              </a:spcAft>
              <a:defRPr sz="1200" b="1">
                <a:solidFill>
                  <a:srgbClr val="FFFFFF"/>
                </a:solidFill>
                <a:latin typeface="Calibri"/>
              </a:defRPr>
            </a:pPr>
            <a:r>
              <a:t>Monde Revenue</a:t>
            </a:r>
          </a:p>
        </p:txBody>
      </p:sp>
      <p:sp>
        <p:nvSpPr>
          <p:cNvPr id="11" name="Rounded Rectangle 10"/>
          <p:cNvSpPr/>
          <p:nvPr/>
        </p:nvSpPr>
        <p:spPr>
          <a:xfrm>
            <a:off x="8321040" y="1828800"/>
            <a:ext cx="2560320" cy="411480"/>
          </a:xfrm>
          <a:prstGeom prst="roundRect">
            <a:avLst>
              <a:gd name="adj" fmla="val 0"/>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58200" y="1892808"/>
            <a:ext cx="2377440" cy="411480"/>
          </a:xfrm>
          <a:prstGeom prst="rect">
            <a:avLst/>
          </a:prstGeom>
          <a:noFill/>
        </p:spPr>
        <p:txBody>
          <a:bodyPr wrap="square">
            <a:spAutoFit/>
          </a:bodyPr>
          <a:lstStyle/>
          <a:p>
            <a:pPr algn="l">
              <a:spcAft>
                <a:spcPts val="0"/>
              </a:spcAft>
              <a:defRPr sz="1200" b="1">
                <a:solidFill>
                  <a:srgbClr val="FFFFFF"/>
                </a:solidFill>
                <a:latin typeface="Calibri"/>
              </a:defRPr>
            </a:pPr>
            <a:r>
              <a:t>Provider Cost</a:t>
            </a:r>
          </a:p>
        </p:txBody>
      </p:sp>
      <p:sp>
        <p:nvSpPr>
          <p:cNvPr id="13" name="Rounded Rectangle 12"/>
          <p:cNvSpPr/>
          <p:nvPr/>
        </p:nvSpPr>
        <p:spPr>
          <a:xfrm>
            <a:off x="914400" y="2240280"/>
            <a:ext cx="228600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230428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P2P Send</a:t>
            </a:r>
          </a:p>
        </p:txBody>
      </p:sp>
      <p:sp>
        <p:nvSpPr>
          <p:cNvPr id="15" name="Rounded Rectangle 14"/>
          <p:cNvSpPr/>
          <p:nvPr/>
        </p:nvSpPr>
        <p:spPr>
          <a:xfrm>
            <a:off x="3200400" y="224028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37560" y="230428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1.5% of amount</a:t>
            </a:r>
          </a:p>
        </p:txBody>
      </p:sp>
      <p:sp>
        <p:nvSpPr>
          <p:cNvPr id="17" name="Rounded Rectangle 16"/>
          <p:cNvSpPr/>
          <p:nvPr/>
        </p:nvSpPr>
        <p:spPr>
          <a:xfrm>
            <a:off x="5760720" y="224028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897880" y="230428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1.5% (less provider cost)</a:t>
            </a:r>
          </a:p>
        </p:txBody>
      </p:sp>
      <p:sp>
        <p:nvSpPr>
          <p:cNvPr id="19" name="Rounded Rectangle 18"/>
          <p:cNvSpPr/>
          <p:nvPr/>
        </p:nvSpPr>
        <p:spPr>
          <a:xfrm>
            <a:off x="8321040" y="224028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58200" y="230428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Included</a:t>
            </a:r>
          </a:p>
        </p:txBody>
      </p:sp>
      <p:sp>
        <p:nvSpPr>
          <p:cNvPr id="21" name="Rounded Rectangle 20"/>
          <p:cNvSpPr/>
          <p:nvPr/>
        </p:nvSpPr>
        <p:spPr>
          <a:xfrm>
            <a:off x="914400" y="2651760"/>
            <a:ext cx="228600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271576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Top-Up (MoMo)</a:t>
            </a:r>
          </a:p>
        </p:txBody>
      </p:sp>
      <p:sp>
        <p:nvSpPr>
          <p:cNvPr id="23" name="Rounded Rectangle 22"/>
          <p:cNvSpPr/>
          <p:nvPr/>
        </p:nvSpPr>
        <p:spPr>
          <a:xfrm>
            <a:off x="3200400" y="265176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337560" y="271576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2.5% collection fee</a:t>
            </a:r>
          </a:p>
        </p:txBody>
      </p:sp>
      <p:sp>
        <p:nvSpPr>
          <p:cNvPr id="25" name="Rounded Rectangle 24"/>
          <p:cNvSpPr/>
          <p:nvPr/>
        </p:nvSpPr>
        <p:spPr>
          <a:xfrm>
            <a:off x="5760720" y="265176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97880" y="271576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Margin on fee</a:t>
            </a:r>
          </a:p>
        </p:txBody>
      </p:sp>
      <p:sp>
        <p:nvSpPr>
          <p:cNvPr id="27" name="Rounded Rectangle 26"/>
          <p:cNvSpPr/>
          <p:nvPr/>
        </p:nvSpPr>
        <p:spPr>
          <a:xfrm>
            <a:off x="8321040" y="265176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58200" y="271576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2.5% (Lipila)</a:t>
            </a:r>
          </a:p>
        </p:txBody>
      </p:sp>
      <p:sp>
        <p:nvSpPr>
          <p:cNvPr id="29" name="Rounded Rectangle 28"/>
          <p:cNvSpPr/>
          <p:nvPr/>
        </p:nvSpPr>
        <p:spPr>
          <a:xfrm>
            <a:off x="914400" y="3063240"/>
            <a:ext cx="228600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51560" y="312724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Withdrawal (MoMo)</a:t>
            </a:r>
          </a:p>
        </p:txBody>
      </p:sp>
      <p:sp>
        <p:nvSpPr>
          <p:cNvPr id="31" name="Rounded Rectangle 30"/>
          <p:cNvSpPr/>
          <p:nvPr/>
        </p:nvSpPr>
        <p:spPr>
          <a:xfrm>
            <a:off x="3200400" y="306324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337560" y="312724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1.5% disbursement fee</a:t>
            </a:r>
          </a:p>
        </p:txBody>
      </p:sp>
      <p:sp>
        <p:nvSpPr>
          <p:cNvPr id="33" name="Rounded Rectangle 32"/>
          <p:cNvSpPr/>
          <p:nvPr/>
        </p:nvSpPr>
        <p:spPr>
          <a:xfrm>
            <a:off x="5760720" y="306324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897880" y="312724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Margin on fee</a:t>
            </a:r>
          </a:p>
        </p:txBody>
      </p:sp>
      <p:sp>
        <p:nvSpPr>
          <p:cNvPr id="35" name="Rounded Rectangle 34"/>
          <p:cNvSpPr/>
          <p:nvPr/>
        </p:nvSpPr>
        <p:spPr>
          <a:xfrm>
            <a:off x="8321040" y="306324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458200" y="312724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1.5% (Lipila)</a:t>
            </a:r>
          </a:p>
        </p:txBody>
      </p:sp>
      <p:sp>
        <p:nvSpPr>
          <p:cNvPr id="37" name="Rounded Rectangle 36"/>
          <p:cNvSpPr/>
          <p:nvPr/>
        </p:nvSpPr>
        <p:spPr>
          <a:xfrm>
            <a:off x="914400" y="3474720"/>
            <a:ext cx="228600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51560" y="353872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Cash-In (Agent)</a:t>
            </a:r>
          </a:p>
        </p:txBody>
      </p:sp>
      <p:sp>
        <p:nvSpPr>
          <p:cNvPr id="39" name="Rounded Rectangle 38"/>
          <p:cNvSpPr/>
          <p:nvPr/>
        </p:nvSpPr>
        <p:spPr>
          <a:xfrm>
            <a:off x="3200400" y="347472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337560" y="353872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Free to customer</a:t>
            </a:r>
          </a:p>
        </p:txBody>
      </p:sp>
      <p:sp>
        <p:nvSpPr>
          <p:cNvPr id="41" name="Rounded Rectangle 40"/>
          <p:cNvSpPr/>
          <p:nvPr/>
        </p:nvSpPr>
        <p:spPr>
          <a:xfrm>
            <a:off x="5760720" y="347472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897880" y="353872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Agent commission from Monde</a:t>
            </a:r>
          </a:p>
        </p:txBody>
      </p:sp>
      <p:sp>
        <p:nvSpPr>
          <p:cNvPr id="43" name="Rounded Rectangle 42"/>
          <p:cNvSpPr/>
          <p:nvPr/>
        </p:nvSpPr>
        <p:spPr>
          <a:xfrm>
            <a:off x="8321040" y="347472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458200" y="353872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0.5% to agent</a:t>
            </a:r>
          </a:p>
        </p:txBody>
      </p:sp>
      <p:sp>
        <p:nvSpPr>
          <p:cNvPr id="45" name="Rounded Rectangle 44"/>
          <p:cNvSpPr/>
          <p:nvPr/>
        </p:nvSpPr>
        <p:spPr>
          <a:xfrm>
            <a:off x="914400" y="3886200"/>
            <a:ext cx="228600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51560" y="395020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Cash-Out (Agent)</a:t>
            </a:r>
          </a:p>
        </p:txBody>
      </p:sp>
      <p:sp>
        <p:nvSpPr>
          <p:cNvPr id="47" name="Rounded Rectangle 46"/>
          <p:cNvSpPr/>
          <p:nvPr/>
        </p:nvSpPr>
        <p:spPr>
          <a:xfrm>
            <a:off x="3200400" y="388620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337560" y="395020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K2.50 – K50 tiered</a:t>
            </a:r>
          </a:p>
        </p:txBody>
      </p:sp>
      <p:sp>
        <p:nvSpPr>
          <p:cNvPr id="49" name="Rounded Rectangle 48"/>
          <p:cNvSpPr/>
          <p:nvPr/>
        </p:nvSpPr>
        <p:spPr>
          <a:xfrm>
            <a:off x="5760720" y="388620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897880" y="395020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30% of fee</a:t>
            </a:r>
          </a:p>
        </p:txBody>
      </p:sp>
      <p:sp>
        <p:nvSpPr>
          <p:cNvPr id="51" name="Rounded Rectangle 50"/>
          <p:cNvSpPr/>
          <p:nvPr/>
        </p:nvSpPr>
        <p:spPr>
          <a:xfrm>
            <a:off x="8321040" y="388620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458200" y="395020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70% to agent</a:t>
            </a:r>
          </a:p>
        </p:txBody>
      </p:sp>
      <p:sp>
        <p:nvSpPr>
          <p:cNvPr id="53" name="Rounded Rectangle 52"/>
          <p:cNvSpPr/>
          <p:nvPr/>
        </p:nvSpPr>
        <p:spPr>
          <a:xfrm>
            <a:off x="914400" y="4297680"/>
            <a:ext cx="228600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051560" y="436168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Agent Transfer</a:t>
            </a:r>
          </a:p>
        </p:txBody>
      </p:sp>
      <p:sp>
        <p:nvSpPr>
          <p:cNvPr id="55" name="Rounded Rectangle 54"/>
          <p:cNvSpPr/>
          <p:nvPr/>
        </p:nvSpPr>
        <p:spPr>
          <a:xfrm>
            <a:off x="3200400" y="429768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337560" y="436168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Free</a:t>
            </a:r>
          </a:p>
        </p:txBody>
      </p:sp>
      <p:sp>
        <p:nvSpPr>
          <p:cNvPr id="57" name="Rounded Rectangle 56"/>
          <p:cNvSpPr/>
          <p:nvPr/>
        </p:nvSpPr>
        <p:spPr>
          <a:xfrm>
            <a:off x="5760720" y="429768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897880" y="436168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a:t>
            </a:r>
          </a:p>
        </p:txBody>
      </p:sp>
      <p:sp>
        <p:nvSpPr>
          <p:cNvPr id="59" name="Rounded Rectangle 58"/>
          <p:cNvSpPr/>
          <p:nvPr/>
        </p:nvSpPr>
        <p:spPr>
          <a:xfrm>
            <a:off x="8321040" y="4297680"/>
            <a:ext cx="2560320" cy="411480"/>
          </a:xfrm>
          <a:prstGeom prst="roundRect">
            <a:avLst>
              <a:gd name="adj" fmla="val 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458200" y="436168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a:t>
            </a:r>
          </a:p>
        </p:txBody>
      </p:sp>
      <p:sp>
        <p:nvSpPr>
          <p:cNvPr id="61" name="Rounded Rectangle 60"/>
          <p:cNvSpPr/>
          <p:nvPr/>
        </p:nvSpPr>
        <p:spPr>
          <a:xfrm>
            <a:off x="914400" y="4709160"/>
            <a:ext cx="228600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051560" y="4773168"/>
            <a:ext cx="2103120" cy="411480"/>
          </a:xfrm>
          <a:prstGeom prst="rect">
            <a:avLst/>
          </a:prstGeom>
          <a:noFill/>
        </p:spPr>
        <p:txBody>
          <a:bodyPr wrap="square">
            <a:spAutoFit/>
          </a:bodyPr>
          <a:lstStyle/>
          <a:p>
            <a:pPr algn="l">
              <a:spcAft>
                <a:spcPts val="0"/>
              </a:spcAft>
              <a:defRPr sz="1100" b="1">
                <a:solidFill>
                  <a:srgbClr val="1E293B"/>
                </a:solidFill>
                <a:latin typeface="Calibri"/>
              </a:defRPr>
            </a:pPr>
            <a:r>
              <a:t>QR/NFC Payment</a:t>
            </a:r>
          </a:p>
        </p:txBody>
      </p:sp>
      <p:sp>
        <p:nvSpPr>
          <p:cNvPr id="63" name="Rounded Rectangle 62"/>
          <p:cNvSpPr/>
          <p:nvPr/>
        </p:nvSpPr>
        <p:spPr>
          <a:xfrm>
            <a:off x="3200400" y="470916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337560" y="477316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Same as P2P Send</a:t>
            </a:r>
          </a:p>
        </p:txBody>
      </p:sp>
      <p:sp>
        <p:nvSpPr>
          <p:cNvPr id="65" name="Rounded Rectangle 64"/>
          <p:cNvSpPr/>
          <p:nvPr/>
        </p:nvSpPr>
        <p:spPr>
          <a:xfrm>
            <a:off x="5760720" y="470916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897880" y="477316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1.5%</a:t>
            </a:r>
          </a:p>
        </p:txBody>
      </p:sp>
      <p:sp>
        <p:nvSpPr>
          <p:cNvPr id="67" name="Rounded Rectangle 66"/>
          <p:cNvSpPr/>
          <p:nvPr/>
        </p:nvSpPr>
        <p:spPr>
          <a:xfrm>
            <a:off x="8321040" y="4709160"/>
            <a:ext cx="2560320" cy="411480"/>
          </a:xfrm>
          <a:prstGeom prst="roundRect">
            <a:avLst>
              <a:gd name="adj" fmla="val 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458200" y="4773168"/>
            <a:ext cx="2377440" cy="411480"/>
          </a:xfrm>
          <a:prstGeom prst="rect">
            <a:avLst/>
          </a:prstGeom>
          <a:noFill/>
        </p:spPr>
        <p:txBody>
          <a:bodyPr wrap="square">
            <a:spAutoFit/>
          </a:bodyPr>
          <a:lstStyle/>
          <a:p>
            <a:pPr algn="l">
              <a:spcAft>
                <a:spcPts val="0"/>
              </a:spcAft>
              <a:defRPr sz="1100" b="0">
                <a:solidFill>
                  <a:srgbClr val="64748B"/>
                </a:solidFill>
                <a:latin typeface="Calibri"/>
              </a:defRPr>
            </a:pPr>
            <a:r>
              <a:t>Included</a:t>
            </a:r>
          </a:p>
        </p:txBody>
      </p:sp>
      <p:sp>
        <p:nvSpPr>
          <p:cNvPr id="69" name="TextBox 68"/>
          <p:cNvSpPr txBox="1"/>
          <p:nvPr/>
        </p:nvSpPr>
        <p:spPr>
          <a:xfrm>
            <a:off x="914400" y="5303520"/>
            <a:ext cx="9144000" cy="731520"/>
          </a:xfrm>
          <a:prstGeom prst="rect">
            <a:avLst/>
          </a:prstGeom>
          <a:noFill/>
        </p:spPr>
        <p:txBody>
          <a:bodyPr wrap="square">
            <a:spAutoFit/>
          </a:bodyPr>
          <a:lstStyle/>
          <a:p>
            <a:pPr algn="l">
              <a:spcAft>
                <a:spcPts val="0"/>
              </a:spcAft>
              <a:defRPr sz="1200" b="0">
                <a:solidFill>
                  <a:srgbClr val="64748B"/>
                </a:solidFill>
                <a:latin typeface="Calibri"/>
              </a:defRPr>
            </a:pPr>
            <a:r>
              <a:t>All fees are transparently disclosed to users before transaction confirmation. Fee schedules will be filed with the Bank of Zambia as required under the National Payment Systems Act and related directives.</a:t>
            </a:r>
          </a:p>
        </p:txBody>
      </p:sp>
      <p:sp>
        <p:nvSpPr>
          <p:cNvPr id="70" name="Rounded Rectangle 69"/>
          <p:cNvSpPr/>
          <p:nvPr/>
        </p:nvSpPr>
        <p:spPr>
          <a:xfrm>
            <a:off x="914400" y="5943600"/>
            <a:ext cx="9966960" cy="640080"/>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188720" y="6035040"/>
            <a:ext cx="9144000" cy="457200"/>
          </a:xfrm>
          <a:prstGeom prst="rect">
            <a:avLst/>
          </a:prstGeom>
          <a:noFill/>
        </p:spPr>
        <p:txBody>
          <a:bodyPr wrap="square">
            <a:spAutoFit/>
          </a:bodyPr>
          <a:lstStyle/>
          <a:p>
            <a:pPr algn="l">
              <a:spcAft>
                <a:spcPts val="0"/>
              </a:spcAft>
              <a:defRPr sz="1200" b="0">
                <a:solidFill>
                  <a:srgbClr val="1A56DB"/>
                </a:solidFill>
                <a:latin typeface="Calibri"/>
              </a:defRPr>
            </a:pPr>
            <a:r>
              <a:t>Monde collects all customer fees into a dedicated fee ledger account with full audit trail. Admin revenue withdrawal is a separate, controlled process.</a:t>
            </a:r>
          </a:p>
        </p:txBody>
      </p:sp>
      <p:sp>
        <p:nvSpPr>
          <p:cNvPr id="72" name="TextBox 71"/>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9 / 18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07  |  REGULATORY COMPLIANCE</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NPSA 2007 — Compliance Assessment</a:t>
            </a:r>
          </a:p>
        </p:txBody>
      </p:sp>
      <p:sp>
        <p:nvSpPr>
          <p:cNvPr id="5" name="TextBox 4"/>
          <p:cNvSpPr txBox="1"/>
          <p:nvPr/>
        </p:nvSpPr>
        <p:spPr>
          <a:xfrm>
            <a:off x="1097280" y="1554480"/>
            <a:ext cx="9144000" cy="365760"/>
          </a:xfrm>
          <a:prstGeom prst="rect">
            <a:avLst/>
          </a:prstGeom>
          <a:noFill/>
        </p:spPr>
        <p:txBody>
          <a:bodyPr wrap="square">
            <a:spAutoFit/>
          </a:bodyPr>
          <a:lstStyle/>
          <a:p>
            <a:pPr algn="l">
              <a:spcAft>
                <a:spcPts val="0"/>
              </a:spcAft>
              <a:defRPr sz="1300" b="0">
                <a:solidFill>
                  <a:srgbClr val="64748B"/>
                </a:solidFill>
                <a:latin typeface="Calibri"/>
              </a:defRPr>
            </a:pPr>
            <a:r>
              <a:t>Monde's compliance status against key sections of the National Payment Systems Act No. 1 of 2007</a:t>
            </a:r>
          </a:p>
        </p:txBody>
      </p:sp>
      <p:sp>
        <p:nvSpPr>
          <p:cNvPr id="6" name="Rounded Rectangle 5"/>
          <p:cNvSpPr/>
          <p:nvPr/>
        </p:nvSpPr>
        <p:spPr>
          <a:xfrm>
            <a:off x="914400" y="20116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2148840"/>
            <a:ext cx="137160" cy="13716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20756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3 — Application</a:t>
            </a:r>
          </a:p>
        </p:txBody>
      </p:sp>
      <p:sp>
        <p:nvSpPr>
          <p:cNvPr id="9" name="TextBox 8"/>
          <p:cNvSpPr txBox="1"/>
          <p:nvPr/>
        </p:nvSpPr>
        <p:spPr>
          <a:xfrm>
            <a:off x="6446520" y="20756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Monde operates as a payment system business; Act applies</a:t>
            </a:r>
          </a:p>
        </p:txBody>
      </p:sp>
      <p:sp>
        <p:nvSpPr>
          <p:cNvPr id="10" name="Rounded Rectangle 9"/>
          <p:cNvSpPr/>
          <p:nvPr/>
        </p:nvSpPr>
        <p:spPr>
          <a:xfrm>
            <a:off x="914400" y="24688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51560" y="2606040"/>
            <a:ext cx="137160" cy="13716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80160" y="25328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11 — BoZ Regulation</a:t>
            </a:r>
          </a:p>
        </p:txBody>
      </p:sp>
      <p:sp>
        <p:nvSpPr>
          <p:cNvPr id="13" name="TextBox 12"/>
          <p:cNvSpPr txBox="1"/>
          <p:nvPr/>
        </p:nvSpPr>
        <p:spPr>
          <a:xfrm>
            <a:off x="6446520" y="25328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Seeking designation; prepared for BoZ oversight</a:t>
            </a:r>
          </a:p>
        </p:txBody>
      </p:sp>
      <p:sp>
        <p:nvSpPr>
          <p:cNvPr id="14" name="Rounded Rectangle 13"/>
          <p:cNvSpPr/>
          <p:nvPr/>
        </p:nvSpPr>
        <p:spPr>
          <a:xfrm>
            <a:off x="914400" y="29260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51560" y="3063240"/>
            <a:ext cx="137160" cy="13716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80160" y="29900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12 — Designation</a:t>
            </a:r>
          </a:p>
        </p:txBody>
      </p:sp>
      <p:sp>
        <p:nvSpPr>
          <p:cNvPr id="17" name="TextBox 16"/>
          <p:cNvSpPr txBox="1"/>
          <p:nvPr/>
        </p:nvSpPr>
        <p:spPr>
          <a:xfrm>
            <a:off x="6446520" y="29900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Application in preparation; this presentation is part of the process</a:t>
            </a:r>
          </a:p>
        </p:txBody>
      </p:sp>
      <p:sp>
        <p:nvSpPr>
          <p:cNvPr id="18" name="Rounded Rectangle 17"/>
          <p:cNvSpPr/>
          <p:nvPr/>
        </p:nvSpPr>
        <p:spPr>
          <a:xfrm>
            <a:off x="914400" y="33832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051560" y="3520440"/>
            <a:ext cx="137160" cy="13716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80160" y="34472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13 — Restriction</a:t>
            </a:r>
          </a:p>
        </p:txBody>
      </p:sp>
      <p:sp>
        <p:nvSpPr>
          <p:cNvPr id="21" name="TextBox 20"/>
          <p:cNvSpPr txBox="1"/>
          <p:nvPr/>
        </p:nvSpPr>
        <p:spPr>
          <a:xfrm>
            <a:off x="6446520" y="34472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Not yet designated; operating in pre-launch/sandbox mode</a:t>
            </a:r>
          </a:p>
        </p:txBody>
      </p:sp>
      <p:sp>
        <p:nvSpPr>
          <p:cNvPr id="22" name="Rounded Rectangle 21"/>
          <p:cNvSpPr/>
          <p:nvPr/>
        </p:nvSpPr>
        <p:spPr>
          <a:xfrm>
            <a:off x="914400" y="38404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51560" y="3977640"/>
            <a:ext cx="137160" cy="13716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80160" y="39044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27 — Returns</a:t>
            </a:r>
          </a:p>
        </p:txBody>
      </p:sp>
      <p:sp>
        <p:nvSpPr>
          <p:cNvPr id="25" name="TextBox 24"/>
          <p:cNvSpPr txBox="1"/>
          <p:nvPr/>
        </p:nvSpPr>
        <p:spPr>
          <a:xfrm>
            <a:off x="6446520" y="39044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System capable of generating reports; formal reporting structure to be agreed with BoZ</a:t>
            </a:r>
          </a:p>
        </p:txBody>
      </p:sp>
      <p:sp>
        <p:nvSpPr>
          <p:cNvPr id="26" name="Rounded Rectangle 25"/>
          <p:cNvSpPr/>
          <p:nvPr/>
        </p:nvSpPr>
        <p:spPr>
          <a:xfrm>
            <a:off x="914400" y="42976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51560" y="4434840"/>
            <a:ext cx="137160" cy="13716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43616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28 — Record Retention</a:t>
            </a:r>
          </a:p>
        </p:txBody>
      </p:sp>
      <p:sp>
        <p:nvSpPr>
          <p:cNvPr id="29" name="TextBox 28"/>
          <p:cNvSpPr txBox="1"/>
          <p:nvPr/>
        </p:nvSpPr>
        <p:spPr>
          <a:xfrm>
            <a:off x="6446520" y="43616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All records stored electronically; 6+ year retention configured</a:t>
            </a:r>
          </a:p>
        </p:txBody>
      </p:sp>
      <p:sp>
        <p:nvSpPr>
          <p:cNvPr id="30" name="Rounded Rectangle 29"/>
          <p:cNvSpPr/>
          <p:nvPr/>
        </p:nvSpPr>
        <p:spPr>
          <a:xfrm>
            <a:off x="914400" y="47548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051560" y="4892040"/>
            <a:ext cx="137160" cy="13716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280160" y="48188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29 — Access to Information</a:t>
            </a:r>
          </a:p>
        </p:txBody>
      </p:sp>
      <p:sp>
        <p:nvSpPr>
          <p:cNvPr id="33" name="TextBox 32"/>
          <p:cNvSpPr txBox="1"/>
          <p:nvPr/>
        </p:nvSpPr>
        <p:spPr>
          <a:xfrm>
            <a:off x="6446520" y="48188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Full database access; can provide information within 14-day requirement</a:t>
            </a:r>
          </a:p>
        </p:txBody>
      </p:sp>
      <p:sp>
        <p:nvSpPr>
          <p:cNvPr id="34" name="Rounded Rectangle 33"/>
          <p:cNvSpPr/>
          <p:nvPr/>
        </p:nvSpPr>
        <p:spPr>
          <a:xfrm>
            <a:off x="914400" y="52120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051560" y="5349240"/>
            <a:ext cx="137160" cy="13716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280160" y="52760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30 — Documents</a:t>
            </a:r>
          </a:p>
        </p:txBody>
      </p:sp>
      <p:sp>
        <p:nvSpPr>
          <p:cNvPr id="37" name="TextBox 36"/>
          <p:cNvSpPr txBox="1"/>
          <p:nvPr/>
        </p:nvSpPr>
        <p:spPr>
          <a:xfrm>
            <a:off x="6446520" y="52760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Governance structure being formalized; CEO/CFO signing authority to be established</a:t>
            </a:r>
          </a:p>
        </p:txBody>
      </p:sp>
      <p:sp>
        <p:nvSpPr>
          <p:cNvPr id="38" name="Rounded Rectangle 37"/>
          <p:cNvSpPr/>
          <p:nvPr/>
        </p:nvSpPr>
        <p:spPr>
          <a:xfrm>
            <a:off x="914400" y="56692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1051560" y="5806440"/>
            <a:ext cx="137160" cy="13716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280160" y="57332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33 — Dishonoured Cheques</a:t>
            </a:r>
          </a:p>
        </p:txBody>
      </p:sp>
      <p:sp>
        <p:nvSpPr>
          <p:cNvPr id="41" name="TextBox 40"/>
          <p:cNvSpPr txBox="1"/>
          <p:nvPr/>
        </p:nvSpPr>
        <p:spPr>
          <a:xfrm>
            <a:off x="6446520" y="57332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Not applicable — Monde is a digital-only platform, no cheque processing</a:t>
            </a:r>
          </a:p>
        </p:txBody>
      </p:sp>
      <p:sp>
        <p:nvSpPr>
          <p:cNvPr id="42" name="Rounded Rectangle 41"/>
          <p:cNvSpPr/>
          <p:nvPr/>
        </p:nvSpPr>
        <p:spPr>
          <a:xfrm>
            <a:off x="914400" y="6126480"/>
            <a:ext cx="10058400" cy="411480"/>
          </a:xfrm>
          <a:prstGeom prst="roundRect">
            <a:avLst>
              <a:gd name="adj" fmla="val 2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051560" y="6263640"/>
            <a:ext cx="137160" cy="13716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280160" y="6190488"/>
            <a:ext cx="5029200" cy="411480"/>
          </a:xfrm>
          <a:prstGeom prst="rect">
            <a:avLst/>
          </a:prstGeom>
          <a:noFill/>
        </p:spPr>
        <p:txBody>
          <a:bodyPr wrap="square">
            <a:spAutoFit/>
          </a:bodyPr>
          <a:lstStyle/>
          <a:p>
            <a:pPr algn="l">
              <a:spcAft>
                <a:spcPts val="0"/>
              </a:spcAft>
              <a:defRPr sz="1200" b="1">
                <a:solidFill>
                  <a:srgbClr val="1E293B"/>
                </a:solidFill>
                <a:latin typeface="Calibri"/>
              </a:defRPr>
            </a:pPr>
            <a:r>
              <a:t>Section 43 — Rules &amp; Guidelines</a:t>
            </a:r>
          </a:p>
        </p:txBody>
      </p:sp>
      <p:sp>
        <p:nvSpPr>
          <p:cNvPr id="45" name="TextBox 44"/>
          <p:cNvSpPr txBox="1"/>
          <p:nvPr/>
        </p:nvSpPr>
        <p:spPr>
          <a:xfrm>
            <a:off x="6446520" y="6190488"/>
            <a:ext cx="4224528" cy="411480"/>
          </a:xfrm>
          <a:prstGeom prst="rect">
            <a:avLst/>
          </a:prstGeom>
          <a:noFill/>
        </p:spPr>
        <p:txBody>
          <a:bodyPr wrap="square">
            <a:spAutoFit/>
          </a:bodyPr>
          <a:lstStyle/>
          <a:p>
            <a:pPr algn="l">
              <a:spcAft>
                <a:spcPts val="0"/>
              </a:spcAft>
              <a:defRPr sz="1100" b="0">
                <a:solidFill>
                  <a:srgbClr val="64748B"/>
                </a:solidFill>
                <a:latin typeface="Calibri"/>
              </a:defRPr>
            </a:pPr>
            <a:r>
              <a:t>Ready to comply with any BoZ-prescribed rules, guidelines, or directives</a:t>
            </a:r>
          </a:p>
        </p:txBody>
      </p:sp>
      <p:sp>
        <p:nvSpPr>
          <p:cNvPr id="46" name="Oval 45"/>
          <p:cNvSpPr/>
          <p:nvPr/>
        </p:nvSpPr>
        <p:spPr>
          <a:xfrm>
            <a:off x="914400" y="6492240"/>
            <a:ext cx="109728" cy="10972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97280" y="6437376"/>
            <a:ext cx="2286000" cy="228600"/>
          </a:xfrm>
          <a:prstGeom prst="rect">
            <a:avLst/>
          </a:prstGeom>
          <a:noFill/>
        </p:spPr>
        <p:txBody>
          <a:bodyPr wrap="square">
            <a:spAutoFit/>
          </a:bodyPr>
          <a:lstStyle/>
          <a:p>
            <a:pPr algn="l">
              <a:spcAft>
                <a:spcPts val="0"/>
              </a:spcAft>
              <a:defRPr sz="1000" b="0">
                <a:solidFill>
                  <a:srgbClr val="64748B"/>
                </a:solidFill>
                <a:latin typeface="Calibri"/>
              </a:defRPr>
            </a:pPr>
            <a:r>
              <a:t>Compliant / Ready</a:t>
            </a:r>
          </a:p>
        </p:txBody>
      </p:sp>
      <p:sp>
        <p:nvSpPr>
          <p:cNvPr id="48" name="Oval 47"/>
          <p:cNvSpPr/>
          <p:nvPr/>
        </p:nvSpPr>
        <p:spPr>
          <a:xfrm>
            <a:off x="4114800" y="6492240"/>
            <a:ext cx="109728" cy="109728"/>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297680" y="6437376"/>
            <a:ext cx="2286000" cy="228600"/>
          </a:xfrm>
          <a:prstGeom prst="rect">
            <a:avLst/>
          </a:prstGeom>
          <a:noFill/>
        </p:spPr>
        <p:txBody>
          <a:bodyPr wrap="square">
            <a:spAutoFit/>
          </a:bodyPr>
          <a:lstStyle/>
          <a:p>
            <a:pPr algn="l">
              <a:spcAft>
                <a:spcPts val="0"/>
              </a:spcAft>
              <a:defRPr sz="1000" b="0">
                <a:solidFill>
                  <a:srgbClr val="64748B"/>
                </a:solidFill>
                <a:latin typeface="Calibri"/>
              </a:defRPr>
            </a:pPr>
            <a:r>
              <a:t>In Progress / Action Required</a:t>
            </a:r>
          </a:p>
        </p:txBody>
      </p:sp>
      <p:sp>
        <p:nvSpPr>
          <p:cNvPr id="50" name="Oval 49"/>
          <p:cNvSpPr/>
          <p:nvPr/>
        </p:nvSpPr>
        <p:spPr>
          <a:xfrm>
            <a:off x="7315200" y="6492240"/>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498080" y="6437376"/>
            <a:ext cx="2286000" cy="228600"/>
          </a:xfrm>
          <a:prstGeom prst="rect">
            <a:avLst/>
          </a:prstGeom>
          <a:noFill/>
        </p:spPr>
        <p:txBody>
          <a:bodyPr wrap="square">
            <a:spAutoFit/>
          </a:bodyPr>
          <a:lstStyle/>
          <a:p>
            <a:pPr algn="l">
              <a:spcAft>
                <a:spcPts val="0"/>
              </a:spcAft>
              <a:defRPr sz="1000" b="0">
                <a:solidFill>
                  <a:srgbClr val="64748B"/>
                </a:solidFill>
                <a:latin typeface="Calibri"/>
              </a:defRPr>
            </a:pPr>
            <a:r>
              <a:t>Gap / Not Yet Addressed</a:t>
            </a:r>
          </a:p>
        </p:txBody>
      </p:sp>
      <p:sp>
        <p:nvSpPr>
          <p:cNvPr id="52" name="TextBox 51"/>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10 / 18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07B  |  COMPLIANCE DETAIL</a:t>
            </a:r>
          </a:p>
        </p:txBody>
      </p:sp>
      <p:sp>
        <p:nvSpPr>
          <p:cNvPr id="3" name="TextBox 2"/>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FFFFFF"/>
                </a:solidFill>
                <a:latin typeface="Calibri"/>
              </a:defRPr>
            </a:pPr>
            <a:r>
              <a:t>What Monde Already Delivers</a:t>
            </a:r>
          </a:p>
        </p:txBody>
      </p:sp>
      <p:sp>
        <p:nvSpPr>
          <p:cNvPr id="4" name="Rounded Rectangle 3"/>
          <p:cNvSpPr/>
          <p:nvPr/>
        </p:nvSpPr>
        <p:spPr>
          <a:xfrm>
            <a:off x="731520" y="1737360"/>
            <a:ext cx="5212080" cy="45720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1920240"/>
            <a:ext cx="4572000" cy="365760"/>
          </a:xfrm>
          <a:prstGeom prst="rect">
            <a:avLst/>
          </a:prstGeom>
          <a:noFill/>
        </p:spPr>
        <p:txBody>
          <a:bodyPr wrap="square">
            <a:spAutoFit/>
          </a:bodyPr>
          <a:lstStyle/>
          <a:p>
            <a:pPr algn="l">
              <a:spcAft>
                <a:spcPts val="0"/>
              </a:spcAft>
              <a:defRPr sz="1800" b="1">
                <a:solidFill>
                  <a:srgbClr val="10B981"/>
                </a:solidFill>
                <a:latin typeface="Calibri"/>
              </a:defRPr>
            </a:pPr>
            <a:r>
              <a:t>Technical Compliance</a:t>
            </a:r>
          </a:p>
        </p:txBody>
      </p:sp>
      <p:sp>
        <p:nvSpPr>
          <p:cNvPr id="6" name="TextBox 5"/>
          <p:cNvSpPr txBox="1"/>
          <p:nvPr/>
        </p:nvSpPr>
        <p:spPr>
          <a:xfrm>
            <a:off x="1188720" y="237744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Full transaction audit trail with timestamps and references</a:t>
            </a:r>
          </a:p>
        </p:txBody>
      </p:sp>
      <p:sp>
        <p:nvSpPr>
          <p:cNvPr id="7" name="TextBox 6"/>
          <p:cNvSpPr txBox="1"/>
          <p:nvPr/>
        </p:nvSpPr>
        <p:spPr>
          <a:xfrm>
            <a:off x="1188720" y="269748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Real-time balance tracking with database-level integrity</a:t>
            </a:r>
          </a:p>
        </p:txBody>
      </p:sp>
      <p:sp>
        <p:nvSpPr>
          <p:cNvPr id="8" name="TextBox 7"/>
          <p:cNvSpPr txBox="1"/>
          <p:nvPr/>
        </p:nvSpPr>
        <p:spPr>
          <a:xfrm>
            <a:off x="1188720" y="301752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Encrypted data transmission (HTTPS/TLS on all endpoints)</a:t>
            </a:r>
          </a:p>
        </p:txBody>
      </p:sp>
      <p:sp>
        <p:nvSpPr>
          <p:cNvPr id="9" name="TextBox 8"/>
          <p:cNvSpPr txBox="1"/>
          <p:nvPr/>
        </p:nvSpPr>
        <p:spPr>
          <a:xfrm>
            <a:off x="1188720" y="333756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Row-Level Security on all database tables</a:t>
            </a:r>
          </a:p>
        </p:txBody>
      </p:sp>
      <p:sp>
        <p:nvSpPr>
          <p:cNvPr id="10" name="TextBox 9"/>
          <p:cNvSpPr txBox="1"/>
          <p:nvPr/>
        </p:nvSpPr>
        <p:spPr>
          <a:xfrm>
            <a:off x="1188720" y="365760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JWT-based authentication with session management</a:t>
            </a:r>
          </a:p>
        </p:txBody>
      </p:sp>
      <p:sp>
        <p:nvSpPr>
          <p:cNvPr id="11" name="TextBox 10"/>
          <p:cNvSpPr txBox="1"/>
          <p:nvPr/>
        </p:nvSpPr>
        <p:spPr>
          <a:xfrm>
            <a:off x="1188720" y="397764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Input validation and sanitization on all user inputs</a:t>
            </a:r>
          </a:p>
        </p:txBody>
      </p:sp>
      <p:sp>
        <p:nvSpPr>
          <p:cNvPr id="12" name="TextBox 11"/>
          <p:cNvSpPr txBox="1"/>
          <p:nvPr/>
        </p:nvSpPr>
        <p:spPr>
          <a:xfrm>
            <a:off x="1188720" y="429768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Electronic record storage with 6+ year retention</a:t>
            </a:r>
          </a:p>
        </p:txBody>
      </p:sp>
      <p:sp>
        <p:nvSpPr>
          <p:cNvPr id="13" name="TextBox 12"/>
          <p:cNvSpPr txBox="1"/>
          <p:nvPr/>
        </p:nvSpPr>
        <p:spPr>
          <a:xfrm>
            <a:off x="1188720" y="461772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Separate fee ledger for revenue tracking and transparency</a:t>
            </a:r>
          </a:p>
        </p:txBody>
      </p:sp>
      <p:sp>
        <p:nvSpPr>
          <p:cNvPr id="14" name="Rounded Rectangle 13"/>
          <p:cNvSpPr/>
          <p:nvPr/>
        </p:nvSpPr>
        <p:spPr>
          <a:xfrm>
            <a:off x="6217920" y="1737360"/>
            <a:ext cx="5212080" cy="457200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92240" y="1920240"/>
            <a:ext cx="4572000" cy="365760"/>
          </a:xfrm>
          <a:prstGeom prst="rect">
            <a:avLst/>
          </a:prstGeom>
          <a:noFill/>
        </p:spPr>
        <p:txBody>
          <a:bodyPr wrap="square">
            <a:spAutoFit/>
          </a:bodyPr>
          <a:lstStyle/>
          <a:p>
            <a:pPr algn="l">
              <a:spcAft>
                <a:spcPts val="0"/>
              </a:spcAft>
              <a:defRPr sz="1800" b="1">
                <a:solidFill>
                  <a:srgbClr val="1A56DB"/>
                </a:solidFill>
                <a:latin typeface="Calibri"/>
              </a:defRPr>
            </a:pPr>
            <a:r>
              <a:t>Operational Compliance</a:t>
            </a:r>
          </a:p>
        </p:txBody>
      </p:sp>
      <p:sp>
        <p:nvSpPr>
          <p:cNvPr id="16" name="TextBox 15"/>
          <p:cNvSpPr txBox="1"/>
          <p:nvPr/>
        </p:nvSpPr>
        <p:spPr>
          <a:xfrm>
            <a:off x="6675120" y="237744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KYC-ready architecture (phone-based identity verification)</a:t>
            </a:r>
          </a:p>
        </p:txBody>
      </p:sp>
      <p:sp>
        <p:nvSpPr>
          <p:cNvPr id="17" name="TextBox 16"/>
          <p:cNvSpPr txBox="1"/>
          <p:nvPr/>
        </p:nvSpPr>
        <p:spPr>
          <a:xfrm>
            <a:off x="6675120" y="269748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Transaction limits: min K1, max K50,000 per transaction</a:t>
            </a:r>
          </a:p>
        </p:txBody>
      </p:sp>
      <p:sp>
        <p:nvSpPr>
          <p:cNvPr id="18" name="TextBox 17"/>
          <p:cNvSpPr txBox="1"/>
          <p:nvPr/>
        </p:nvSpPr>
        <p:spPr>
          <a:xfrm>
            <a:off x="6675120" y="301752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Anti-fraud controls on agent operations</a:t>
            </a:r>
          </a:p>
        </p:txBody>
      </p:sp>
      <p:sp>
        <p:nvSpPr>
          <p:cNvPr id="19" name="TextBox 18"/>
          <p:cNvSpPr txBox="1"/>
          <p:nvPr/>
        </p:nvSpPr>
        <p:spPr>
          <a:xfrm>
            <a:off x="6675120" y="333756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Daily transaction caps and velocity checks</a:t>
            </a:r>
          </a:p>
        </p:txBody>
      </p:sp>
      <p:sp>
        <p:nvSpPr>
          <p:cNvPr id="20" name="TextBox 19"/>
          <p:cNvSpPr txBox="1"/>
          <p:nvPr/>
        </p:nvSpPr>
        <p:spPr>
          <a:xfrm>
            <a:off x="6675120" y="365760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Admin dashboard for oversight and monitoring</a:t>
            </a:r>
          </a:p>
        </p:txBody>
      </p:sp>
      <p:sp>
        <p:nvSpPr>
          <p:cNvPr id="21" name="TextBox 20"/>
          <p:cNvSpPr txBox="1"/>
          <p:nvPr/>
        </p:nvSpPr>
        <p:spPr>
          <a:xfrm>
            <a:off x="6675120" y="397764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Agent designation controlled by admin only</a:t>
            </a:r>
          </a:p>
        </p:txBody>
      </p:sp>
      <p:sp>
        <p:nvSpPr>
          <p:cNvPr id="22" name="TextBox 21"/>
          <p:cNvSpPr txBox="1"/>
          <p:nvPr/>
        </p:nvSpPr>
        <p:spPr>
          <a:xfrm>
            <a:off x="6675120" y="429768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Real-time notifications for all transactions</a:t>
            </a:r>
          </a:p>
        </p:txBody>
      </p:sp>
      <p:sp>
        <p:nvSpPr>
          <p:cNvPr id="23" name="TextBox 22"/>
          <p:cNvSpPr txBox="1"/>
          <p:nvPr/>
        </p:nvSpPr>
        <p:spPr>
          <a:xfrm>
            <a:off x="6675120" y="4617720"/>
            <a:ext cx="4572000" cy="274320"/>
          </a:xfrm>
          <a:prstGeom prst="rect">
            <a:avLst/>
          </a:prstGeom>
          <a:noFill/>
        </p:spPr>
        <p:txBody>
          <a:bodyPr wrap="square">
            <a:spAutoFit/>
          </a:bodyPr>
          <a:lstStyle/>
          <a:p>
            <a:pPr algn="l">
              <a:spcAft>
                <a:spcPts val="0"/>
              </a:spcAft>
              <a:defRPr sz="1100" b="0">
                <a:solidFill>
                  <a:srgbClr val="94A3B8"/>
                </a:solidFill>
                <a:latin typeface="Calibri"/>
              </a:defRPr>
            </a:pPr>
            <a:r>
              <a:t>✓  Cross-provider fee transparency at point of transaction</a:t>
            </a:r>
          </a:p>
        </p:txBody>
      </p:sp>
      <p:sp>
        <p:nvSpPr>
          <p:cNvPr id="24" name="TextBox 23"/>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11 / 18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08  |  COMPLIANCE ROADMAP</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Path to Full Designation Readiness</a:t>
            </a:r>
          </a:p>
        </p:txBody>
      </p:sp>
      <p:sp>
        <p:nvSpPr>
          <p:cNvPr id="5" name="Rounded Rectangle 4"/>
          <p:cNvSpPr/>
          <p:nvPr/>
        </p:nvSpPr>
        <p:spPr>
          <a:xfrm>
            <a:off x="731520" y="1737360"/>
            <a:ext cx="5029200" cy="214884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ectangle 5"/>
          <p:cNvSpPr/>
          <p:nvPr/>
        </p:nvSpPr>
        <p:spPr>
          <a:xfrm>
            <a:off x="731520" y="1737360"/>
            <a:ext cx="5029200" cy="54864"/>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74520"/>
            <a:ext cx="3200400" cy="274320"/>
          </a:xfrm>
          <a:prstGeom prst="rect">
            <a:avLst/>
          </a:prstGeom>
          <a:noFill/>
        </p:spPr>
        <p:txBody>
          <a:bodyPr wrap="square">
            <a:spAutoFit/>
          </a:bodyPr>
          <a:lstStyle/>
          <a:p>
            <a:pPr algn="l">
              <a:spcAft>
                <a:spcPts val="0"/>
              </a:spcAft>
              <a:defRPr sz="1400" b="1">
                <a:solidFill>
                  <a:srgbClr val="1E293B"/>
                </a:solidFill>
                <a:latin typeface="Calibri"/>
              </a:defRPr>
            </a:pPr>
            <a:r>
              <a:t>Phase 1: Immediate</a:t>
            </a:r>
          </a:p>
        </p:txBody>
      </p:sp>
      <p:sp>
        <p:nvSpPr>
          <p:cNvPr id="8" name="TextBox 7"/>
          <p:cNvSpPr txBox="1"/>
          <p:nvPr/>
        </p:nvSpPr>
        <p:spPr>
          <a:xfrm>
            <a:off x="4389120" y="1874520"/>
            <a:ext cx="1188720" cy="274320"/>
          </a:xfrm>
          <a:prstGeom prst="rect">
            <a:avLst/>
          </a:prstGeom>
          <a:noFill/>
        </p:spPr>
        <p:txBody>
          <a:bodyPr wrap="square">
            <a:spAutoFit/>
          </a:bodyPr>
          <a:lstStyle/>
          <a:p>
            <a:pPr algn="r">
              <a:spcAft>
                <a:spcPts val="0"/>
              </a:spcAft>
              <a:defRPr sz="1100" b="1">
                <a:solidFill>
                  <a:srgbClr val="1A56DB"/>
                </a:solidFill>
                <a:latin typeface="Calibri"/>
              </a:defRPr>
            </a:pPr>
            <a:r>
              <a:t>0–3 months</a:t>
            </a:r>
          </a:p>
        </p:txBody>
      </p:sp>
      <p:sp>
        <p:nvSpPr>
          <p:cNvPr id="9" name="TextBox 8"/>
          <p:cNvSpPr txBox="1"/>
          <p:nvPr/>
        </p:nvSpPr>
        <p:spPr>
          <a:xfrm>
            <a:off x="1005840" y="2240280"/>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Submit formal designation application to BoZ (Section 12)</a:t>
            </a:r>
          </a:p>
        </p:txBody>
      </p:sp>
      <p:sp>
        <p:nvSpPr>
          <p:cNvPr id="10" name="TextBox 9"/>
          <p:cNvSpPr txBox="1"/>
          <p:nvPr/>
        </p:nvSpPr>
        <p:spPr>
          <a:xfrm>
            <a:off x="1005840" y="2532888"/>
            <a:ext cx="4572000" cy="274320"/>
          </a:xfrm>
          <a:prstGeom prst="rect">
            <a:avLst/>
          </a:prstGeom>
          <a:noFill/>
        </p:spPr>
        <p:txBody>
          <a:bodyPr wrap="square">
            <a:spAutoFit/>
          </a:bodyPr>
          <a:lstStyle/>
          <a:p>
            <a:pPr algn="l">
              <a:spcAft>
                <a:spcPts val="0"/>
              </a:spcAft>
              <a:defRPr sz="1000" b="0">
                <a:solidFill>
                  <a:srgbClr val="64748B"/>
                </a:solidFill>
                <a:latin typeface="Calibri"/>
              </a:defRPr>
            </a:pPr>
            <a:r>
              <a:rPr dirty="0"/>
              <a:t>•  Prepare and file all required documentation per </a:t>
            </a:r>
            <a:r>
              <a:rPr dirty="0" err="1"/>
              <a:t>BoZ</a:t>
            </a:r>
            <a:r>
              <a:rPr dirty="0"/>
              <a:t> prescribed forms</a:t>
            </a:r>
          </a:p>
        </p:txBody>
      </p:sp>
      <p:sp>
        <p:nvSpPr>
          <p:cNvPr id="11" name="TextBox 10"/>
          <p:cNvSpPr txBox="1"/>
          <p:nvPr/>
        </p:nvSpPr>
        <p:spPr>
          <a:xfrm>
            <a:off x="1005840" y="2825496"/>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Complete Directors' Questionnaire and Vital Statistics forms</a:t>
            </a:r>
          </a:p>
        </p:txBody>
      </p:sp>
      <p:sp>
        <p:nvSpPr>
          <p:cNvPr id="12" name="TextBox 11"/>
          <p:cNvSpPr txBox="1"/>
          <p:nvPr/>
        </p:nvSpPr>
        <p:spPr>
          <a:xfrm>
            <a:off x="1005840" y="3118104"/>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Engage legal counsel for compliance review</a:t>
            </a:r>
          </a:p>
        </p:txBody>
      </p:sp>
      <p:sp>
        <p:nvSpPr>
          <p:cNvPr id="13" name="TextBox 12"/>
          <p:cNvSpPr txBox="1"/>
          <p:nvPr/>
        </p:nvSpPr>
        <p:spPr>
          <a:xfrm>
            <a:off x="1005840" y="3410712"/>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Register company with PACRA (if not already done)</a:t>
            </a:r>
          </a:p>
        </p:txBody>
      </p:sp>
      <p:sp>
        <p:nvSpPr>
          <p:cNvPr id="14" name="Rounded Rectangle 13"/>
          <p:cNvSpPr/>
          <p:nvPr/>
        </p:nvSpPr>
        <p:spPr>
          <a:xfrm>
            <a:off x="6035040" y="1737360"/>
            <a:ext cx="5029200" cy="214884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035040" y="1737360"/>
            <a:ext cx="5029200"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0" y="1874520"/>
            <a:ext cx="3200400" cy="274320"/>
          </a:xfrm>
          <a:prstGeom prst="rect">
            <a:avLst/>
          </a:prstGeom>
          <a:noFill/>
        </p:spPr>
        <p:txBody>
          <a:bodyPr wrap="square">
            <a:spAutoFit/>
          </a:bodyPr>
          <a:lstStyle/>
          <a:p>
            <a:pPr algn="l">
              <a:spcAft>
                <a:spcPts val="0"/>
              </a:spcAft>
              <a:defRPr sz="1400" b="1">
                <a:solidFill>
                  <a:srgbClr val="1E293B"/>
                </a:solidFill>
                <a:latin typeface="Calibri"/>
              </a:defRPr>
            </a:pPr>
            <a:r>
              <a:t>Phase 2: Short-Term</a:t>
            </a:r>
          </a:p>
        </p:txBody>
      </p:sp>
      <p:sp>
        <p:nvSpPr>
          <p:cNvPr id="17" name="TextBox 16"/>
          <p:cNvSpPr txBox="1"/>
          <p:nvPr/>
        </p:nvSpPr>
        <p:spPr>
          <a:xfrm>
            <a:off x="9692640" y="1874520"/>
            <a:ext cx="1188720" cy="274320"/>
          </a:xfrm>
          <a:prstGeom prst="rect">
            <a:avLst/>
          </a:prstGeom>
          <a:noFill/>
        </p:spPr>
        <p:txBody>
          <a:bodyPr wrap="square">
            <a:spAutoFit/>
          </a:bodyPr>
          <a:lstStyle/>
          <a:p>
            <a:pPr algn="r">
              <a:spcAft>
                <a:spcPts val="0"/>
              </a:spcAft>
              <a:defRPr sz="1100" b="1">
                <a:solidFill>
                  <a:srgbClr val="10B981"/>
                </a:solidFill>
                <a:latin typeface="Calibri"/>
              </a:defRPr>
            </a:pPr>
            <a:r>
              <a:t>3–6 months</a:t>
            </a:r>
          </a:p>
        </p:txBody>
      </p:sp>
      <p:sp>
        <p:nvSpPr>
          <p:cNvPr id="18" name="TextBox 17"/>
          <p:cNvSpPr txBox="1"/>
          <p:nvPr/>
        </p:nvSpPr>
        <p:spPr>
          <a:xfrm>
            <a:off x="6309360" y="2240280"/>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Implement formal KYC/CDD procedures aligned with FIC Act</a:t>
            </a:r>
          </a:p>
        </p:txBody>
      </p:sp>
      <p:sp>
        <p:nvSpPr>
          <p:cNvPr id="19" name="TextBox 18"/>
          <p:cNvSpPr txBox="1"/>
          <p:nvPr/>
        </p:nvSpPr>
        <p:spPr>
          <a:xfrm>
            <a:off x="6309360" y="2532888"/>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Establish AML/CFT compliance program and appoint MLRO</a:t>
            </a:r>
          </a:p>
        </p:txBody>
      </p:sp>
      <p:sp>
        <p:nvSpPr>
          <p:cNvPr id="20" name="TextBox 19"/>
          <p:cNvSpPr txBox="1"/>
          <p:nvPr/>
        </p:nvSpPr>
        <p:spPr>
          <a:xfrm>
            <a:off x="6309360" y="2825496"/>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File fee schedule with BoZ per Section 43 directives</a:t>
            </a:r>
          </a:p>
        </p:txBody>
      </p:sp>
      <p:sp>
        <p:nvSpPr>
          <p:cNvPr id="21" name="TextBox 20"/>
          <p:cNvSpPr txBox="1"/>
          <p:nvPr/>
        </p:nvSpPr>
        <p:spPr>
          <a:xfrm>
            <a:off x="6309360" y="3118104"/>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Set up formal returns/reporting structure per Section 27</a:t>
            </a:r>
          </a:p>
        </p:txBody>
      </p:sp>
      <p:sp>
        <p:nvSpPr>
          <p:cNvPr id="22" name="TextBox 21"/>
          <p:cNvSpPr txBox="1"/>
          <p:nvPr/>
        </p:nvSpPr>
        <p:spPr>
          <a:xfrm>
            <a:off x="6309360" y="3410712"/>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Establish governance structure with CEO/CFO signing authority</a:t>
            </a:r>
          </a:p>
        </p:txBody>
      </p:sp>
      <p:sp>
        <p:nvSpPr>
          <p:cNvPr id="23" name="Rounded Rectangle 22"/>
          <p:cNvSpPr/>
          <p:nvPr/>
        </p:nvSpPr>
        <p:spPr>
          <a:xfrm>
            <a:off x="731520" y="4069080"/>
            <a:ext cx="5029200" cy="214884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31520" y="4069080"/>
            <a:ext cx="5029200"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4206240"/>
            <a:ext cx="3200400" cy="274320"/>
          </a:xfrm>
          <a:prstGeom prst="rect">
            <a:avLst/>
          </a:prstGeom>
          <a:noFill/>
        </p:spPr>
        <p:txBody>
          <a:bodyPr wrap="square">
            <a:spAutoFit/>
          </a:bodyPr>
          <a:lstStyle/>
          <a:p>
            <a:pPr algn="l">
              <a:spcAft>
                <a:spcPts val="0"/>
              </a:spcAft>
              <a:defRPr sz="1400" b="1">
                <a:solidFill>
                  <a:srgbClr val="1E293B"/>
                </a:solidFill>
                <a:latin typeface="Calibri"/>
              </a:defRPr>
            </a:pPr>
            <a:r>
              <a:t>Phase 3: Medium-Term</a:t>
            </a:r>
          </a:p>
        </p:txBody>
      </p:sp>
      <p:sp>
        <p:nvSpPr>
          <p:cNvPr id="26" name="TextBox 25"/>
          <p:cNvSpPr txBox="1"/>
          <p:nvPr/>
        </p:nvSpPr>
        <p:spPr>
          <a:xfrm>
            <a:off x="4389120" y="4206240"/>
            <a:ext cx="1188720" cy="274320"/>
          </a:xfrm>
          <a:prstGeom prst="rect">
            <a:avLst/>
          </a:prstGeom>
          <a:noFill/>
        </p:spPr>
        <p:txBody>
          <a:bodyPr wrap="square">
            <a:spAutoFit/>
          </a:bodyPr>
          <a:lstStyle/>
          <a:p>
            <a:pPr algn="r">
              <a:spcAft>
                <a:spcPts val="0"/>
              </a:spcAft>
              <a:defRPr sz="1100" b="1">
                <a:solidFill>
                  <a:srgbClr val="F5A623"/>
                </a:solidFill>
                <a:latin typeface="Calibri"/>
              </a:defRPr>
            </a:pPr>
            <a:r>
              <a:t>6–12 months</a:t>
            </a:r>
          </a:p>
        </p:txBody>
      </p:sp>
      <p:sp>
        <p:nvSpPr>
          <p:cNvPr id="27" name="TextBox 26"/>
          <p:cNvSpPr txBox="1"/>
          <p:nvPr/>
        </p:nvSpPr>
        <p:spPr>
          <a:xfrm>
            <a:off x="1005840" y="4572000"/>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Apply for BoZ Regulatory Sandbox (if applicable for testing)</a:t>
            </a:r>
          </a:p>
        </p:txBody>
      </p:sp>
      <p:sp>
        <p:nvSpPr>
          <p:cNvPr id="28" name="TextBox 27"/>
          <p:cNvSpPr txBox="1"/>
          <p:nvPr/>
        </p:nvSpPr>
        <p:spPr>
          <a:xfrm>
            <a:off x="1005840" y="4864608"/>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Implement customer complaint/grievance mechanism per Section 43</a:t>
            </a:r>
          </a:p>
        </p:txBody>
      </p:sp>
      <p:sp>
        <p:nvSpPr>
          <p:cNvPr id="29" name="TextBox 28"/>
          <p:cNvSpPr txBox="1"/>
          <p:nvPr/>
        </p:nvSpPr>
        <p:spPr>
          <a:xfrm>
            <a:off x="1005840" y="5157216"/>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Develop business continuity and disaster recovery plan</a:t>
            </a:r>
          </a:p>
        </p:txBody>
      </p:sp>
      <p:sp>
        <p:nvSpPr>
          <p:cNvPr id="30" name="TextBox 29"/>
          <p:cNvSpPr txBox="1"/>
          <p:nvPr/>
        </p:nvSpPr>
        <p:spPr>
          <a:xfrm>
            <a:off x="1005840" y="5449824"/>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Establish formal data protection policies per DPA 2021</a:t>
            </a:r>
          </a:p>
        </p:txBody>
      </p:sp>
      <p:sp>
        <p:nvSpPr>
          <p:cNvPr id="31" name="TextBox 30"/>
          <p:cNvSpPr txBox="1"/>
          <p:nvPr/>
        </p:nvSpPr>
        <p:spPr>
          <a:xfrm>
            <a:off x="1005840" y="5742432"/>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Build quarterly reporting framework for BoZ submissions</a:t>
            </a:r>
          </a:p>
        </p:txBody>
      </p:sp>
      <p:sp>
        <p:nvSpPr>
          <p:cNvPr id="32" name="Rounded Rectangle 31"/>
          <p:cNvSpPr/>
          <p:nvPr/>
        </p:nvSpPr>
        <p:spPr>
          <a:xfrm>
            <a:off x="6035040" y="4069080"/>
            <a:ext cx="5029200" cy="214884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035040" y="4069080"/>
            <a:ext cx="5029200"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17920" y="4206240"/>
            <a:ext cx="3200400" cy="274320"/>
          </a:xfrm>
          <a:prstGeom prst="rect">
            <a:avLst/>
          </a:prstGeom>
          <a:noFill/>
        </p:spPr>
        <p:txBody>
          <a:bodyPr wrap="square">
            <a:spAutoFit/>
          </a:bodyPr>
          <a:lstStyle/>
          <a:p>
            <a:pPr algn="l">
              <a:spcAft>
                <a:spcPts val="0"/>
              </a:spcAft>
              <a:defRPr sz="1400" b="1">
                <a:solidFill>
                  <a:srgbClr val="1E293B"/>
                </a:solidFill>
                <a:latin typeface="Calibri"/>
              </a:defRPr>
            </a:pPr>
            <a:r>
              <a:t>Phase 4: Ongoing</a:t>
            </a:r>
          </a:p>
        </p:txBody>
      </p:sp>
      <p:sp>
        <p:nvSpPr>
          <p:cNvPr id="35" name="TextBox 34"/>
          <p:cNvSpPr txBox="1"/>
          <p:nvPr/>
        </p:nvSpPr>
        <p:spPr>
          <a:xfrm>
            <a:off x="9692640" y="4206240"/>
            <a:ext cx="1188720" cy="274320"/>
          </a:xfrm>
          <a:prstGeom prst="rect">
            <a:avLst/>
          </a:prstGeom>
          <a:noFill/>
        </p:spPr>
        <p:txBody>
          <a:bodyPr wrap="square">
            <a:spAutoFit/>
          </a:bodyPr>
          <a:lstStyle/>
          <a:p>
            <a:pPr algn="r">
              <a:spcAft>
                <a:spcPts val="0"/>
              </a:spcAft>
              <a:defRPr sz="1100" b="1">
                <a:solidFill>
                  <a:srgbClr val="8B5CF6"/>
                </a:solidFill>
                <a:latin typeface="Calibri"/>
              </a:defRPr>
            </a:pPr>
            <a:r>
              <a:t>Continuous</a:t>
            </a:r>
          </a:p>
        </p:txBody>
      </p:sp>
      <p:sp>
        <p:nvSpPr>
          <p:cNvPr id="36" name="TextBox 35"/>
          <p:cNvSpPr txBox="1"/>
          <p:nvPr/>
        </p:nvSpPr>
        <p:spPr>
          <a:xfrm>
            <a:off x="6309360" y="4572000"/>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Regular compliance audits and self-assessments</a:t>
            </a:r>
          </a:p>
        </p:txBody>
      </p:sp>
      <p:sp>
        <p:nvSpPr>
          <p:cNvPr id="37" name="TextBox 36"/>
          <p:cNvSpPr txBox="1"/>
          <p:nvPr/>
        </p:nvSpPr>
        <p:spPr>
          <a:xfrm>
            <a:off x="6309360" y="4864608"/>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Respond to BoZ information requests within 14 days (Section 29)</a:t>
            </a:r>
          </a:p>
        </p:txBody>
      </p:sp>
      <p:sp>
        <p:nvSpPr>
          <p:cNvPr id="38" name="TextBox 37"/>
          <p:cNvSpPr txBox="1"/>
          <p:nvPr/>
        </p:nvSpPr>
        <p:spPr>
          <a:xfrm>
            <a:off x="6309360" y="5157216"/>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Maintain 6-year record retention (Section 28)</a:t>
            </a:r>
          </a:p>
        </p:txBody>
      </p:sp>
      <p:sp>
        <p:nvSpPr>
          <p:cNvPr id="39" name="TextBox 38"/>
          <p:cNvSpPr txBox="1"/>
          <p:nvPr/>
        </p:nvSpPr>
        <p:spPr>
          <a:xfrm>
            <a:off x="6309360" y="5449824"/>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Adapt to new BoZ directives and guidelines as issued</a:t>
            </a:r>
          </a:p>
        </p:txBody>
      </p:sp>
      <p:sp>
        <p:nvSpPr>
          <p:cNvPr id="40" name="TextBox 39"/>
          <p:cNvSpPr txBox="1"/>
          <p:nvPr/>
        </p:nvSpPr>
        <p:spPr>
          <a:xfrm>
            <a:off x="6309360" y="5742432"/>
            <a:ext cx="4572000" cy="274320"/>
          </a:xfrm>
          <a:prstGeom prst="rect">
            <a:avLst/>
          </a:prstGeom>
          <a:noFill/>
        </p:spPr>
        <p:txBody>
          <a:bodyPr wrap="square">
            <a:spAutoFit/>
          </a:bodyPr>
          <a:lstStyle/>
          <a:p>
            <a:pPr algn="l">
              <a:spcAft>
                <a:spcPts val="0"/>
              </a:spcAft>
              <a:defRPr sz="1000" b="0">
                <a:solidFill>
                  <a:srgbClr val="64748B"/>
                </a:solidFill>
                <a:latin typeface="Calibri"/>
              </a:defRPr>
            </a:pPr>
            <a:r>
              <a:t>•  Annual review of fee schedules and operational procedures</a:t>
            </a:r>
          </a:p>
        </p:txBody>
      </p:sp>
      <p:sp>
        <p:nvSpPr>
          <p:cNvPr id="41" name="TextBox 40"/>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12 / 18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09  |  RISK MANAGEMENT</a:t>
            </a:r>
          </a:p>
        </p:txBody>
      </p:sp>
      <p:sp>
        <p:nvSpPr>
          <p:cNvPr id="3" name="TextBox 2"/>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FFFFFF"/>
                </a:solidFill>
                <a:latin typeface="Calibri"/>
              </a:defRPr>
            </a:pPr>
            <a:r>
              <a:t>Risk Management &amp; AML/CFT Framework</a:t>
            </a:r>
          </a:p>
        </p:txBody>
      </p:sp>
      <p:sp>
        <p:nvSpPr>
          <p:cNvPr id="4" name="Rounded Rectangle 3"/>
          <p:cNvSpPr/>
          <p:nvPr/>
        </p:nvSpPr>
        <p:spPr>
          <a:xfrm>
            <a:off x="731520" y="1828800"/>
            <a:ext cx="5029200" cy="201168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828800"/>
            <a:ext cx="54864" cy="201168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38528"/>
            <a:ext cx="4663440" cy="274320"/>
          </a:xfrm>
          <a:prstGeom prst="rect">
            <a:avLst/>
          </a:prstGeom>
          <a:noFill/>
        </p:spPr>
        <p:txBody>
          <a:bodyPr wrap="square">
            <a:spAutoFit/>
          </a:bodyPr>
          <a:lstStyle/>
          <a:p>
            <a:pPr algn="l">
              <a:spcAft>
                <a:spcPts val="0"/>
              </a:spcAft>
              <a:defRPr sz="1500" b="1">
                <a:solidFill>
                  <a:srgbClr val="1A56DB"/>
                </a:solidFill>
                <a:latin typeface="Calibri"/>
              </a:defRPr>
            </a:pPr>
            <a:r>
              <a:t>Operational Risk</a:t>
            </a:r>
          </a:p>
        </p:txBody>
      </p:sp>
      <p:sp>
        <p:nvSpPr>
          <p:cNvPr id="7" name="TextBox 6"/>
          <p:cNvSpPr txBox="1"/>
          <p:nvPr/>
        </p:nvSpPr>
        <p:spPr>
          <a:xfrm>
            <a:off x="1051560" y="228600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Transaction amount limits (K1–K50,000) to contain exposure</a:t>
            </a:r>
          </a:p>
        </p:txBody>
      </p:sp>
      <p:sp>
        <p:nvSpPr>
          <p:cNvPr id="8" name="TextBox 7"/>
          <p:cNvSpPr txBox="1"/>
          <p:nvPr/>
        </p:nvSpPr>
        <p:spPr>
          <a:xfrm>
            <a:off x="1051560" y="256032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Real-time balance validation prevents overdrafts</a:t>
            </a:r>
          </a:p>
        </p:txBody>
      </p:sp>
      <p:sp>
        <p:nvSpPr>
          <p:cNvPr id="9" name="TextBox 8"/>
          <p:cNvSpPr txBox="1"/>
          <p:nvPr/>
        </p:nvSpPr>
        <p:spPr>
          <a:xfrm>
            <a:off x="1051560" y="283464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Atomic database transactions ensure consistency</a:t>
            </a:r>
          </a:p>
        </p:txBody>
      </p:sp>
      <p:sp>
        <p:nvSpPr>
          <p:cNvPr id="10" name="TextBox 9"/>
          <p:cNvSpPr txBox="1"/>
          <p:nvPr/>
        </p:nvSpPr>
        <p:spPr>
          <a:xfrm>
            <a:off x="1051560" y="310896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Automated error handling with graceful degradation</a:t>
            </a:r>
          </a:p>
        </p:txBody>
      </p:sp>
      <p:sp>
        <p:nvSpPr>
          <p:cNvPr id="11" name="TextBox 10"/>
          <p:cNvSpPr txBox="1"/>
          <p:nvPr/>
        </p:nvSpPr>
        <p:spPr>
          <a:xfrm>
            <a:off x="1051560" y="338328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Offline detection with user notification banner</a:t>
            </a:r>
          </a:p>
        </p:txBody>
      </p:sp>
      <p:sp>
        <p:nvSpPr>
          <p:cNvPr id="12" name="Rounded Rectangle 11"/>
          <p:cNvSpPr/>
          <p:nvPr/>
        </p:nvSpPr>
        <p:spPr>
          <a:xfrm>
            <a:off x="6035040" y="1828800"/>
            <a:ext cx="5029200" cy="201168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035040" y="1828800"/>
            <a:ext cx="54864" cy="20116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1938528"/>
            <a:ext cx="4663440" cy="274320"/>
          </a:xfrm>
          <a:prstGeom prst="rect">
            <a:avLst/>
          </a:prstGeom>
          <a:noFill/>
        </p:spPr>
        <p:txBody>
          <a:bodyPr wrap="square">
            <a:spAutoFit/>
          </a:bodyPr>
          <a:lstStyle/>
          <a:p>
            <a:pPr algn="l">
              <a:spcAft>
                <a:spcPts val="0"/>
              </a:spcAft>
              <a:defRPr sz="1500" b="1">
                <a:solidFill>
                  <a:srgbClr val="EF4444"/>
                </a:solidFill>
                <a:latin typeface="Calibri"/>
              </a:defRPr>
            </a:pPr>
            <a:r>
              <a:t>Fraud Prevention</a:t>
            </a:r>
          </a:p>
        </p:txBody>
      </p:sp>
      <p:sp>
        <p:nvSpPr>
          <p:cNvPr id="15" name="TextBox 14"/>
          <p:cNvSpPr txBox="1"/>
          <p:nvPr/>
        </p:nvSpPr>
        <p:spPr>
          <a:xfrm>
            <a:off x="6355080" y="228600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Circular transaction detection (agent cash-in/cash-out within 24h)</a:t>
            </a:r>
          </a:p>
        </p:txBody>
      </p:sp>
      <p:sp>
        <p:nvSpPr>
          <p:cNvPr id="16" name="TextBox 15"/>
          <p:cNvSpPr txBox="1"/>
          <p:nvPr/>
        </p:nvSpPr>
        <p:spPr>
          <a:xfrm>
            <a:off x="6355080" y="256032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Daily velocity limits per customer and per agent</a:t>
            </a:r>
          </a:p>
        </p:txBody>
      </p:sp>
      <p:sp>
        <p:nvSpPr>
          <p:cNvPr id="17" name="TextBox 16"/>
          <p:cNvSpPr txBox="1"/>
          <p:nvPr/>
        </p:nvSpPr>
        <p:spPr>
          <a:xfrm>
            <a:off x="6355080" y="283464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Agent-only operations segregated from customer operations</a:t>
            </a:r>
          </a:p>
        </p:txBody>
      </p:sp>
      <p:sp>
        <p:nvSpPr>
          <p:cNvPr id="18" name="TextBox 17"/>
          <p:cNvSpPr txBox="1"/>
          <p:nvPr/>
        </p:nvSpPr>
        <p:spPr>
          <a:xfrm>
            <a:off x="6355080" y="310896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Self-service blocks prevent agents transacting with themselves</a:t>
            </a:r>
          </a:p>
        </p:txBody>
      </p:sp>
      <p:sp>
        <p:nvSpPr>
          <p:cNvPr id="19" name="TextBox 18"/>
          <p:cNvSpPr txBox="1"/>
          <p:nvPr/>
        </p:nvSpPr>
        <p:spPr>
          <a:xfrm>
            <a:off x="6355080" y="338328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Login rate limiting prevents brute-force attacks</a:t>
            </a:r>
          </a:p>
        </p:txBody>
      </p:sp>
      <p:sp>
        <p:nvSpPr>
          <p:cNvPr id="20" name="Rounded Rectangle 19"/>
          <p:cNvSpPr/>
          <p:nvPr/>
        </p:nvSpPr>
        <p:spPr>
          <a:xfrm>
            <a:off x="731520" y="4023360"/>
            <a:ext cx="5029200" cy="201168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31520" y="4023360"/>
            <a:ext cx="54864" cy="20116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4133088"/>
            <a:ext cx="4663440" cy="274320"/>
          </a:xfrm>
          <a:prstGeom prst="rect">
            <a:avLst/>
          </a:prstGeom>
          <a:noFill/>
        </p:spPr>
        <p:txBody>
          <a:bodyPr wrap="square">
            <a:spAutoFit/>
          </a:bodyPr>
          <a:lstStyle/>
          <a:p>
            <a:pPr algn="l">
              <a:spcAft>
                <a:spcPts val="0"/>
              </a:spcAft>
              <a:defRPr sz="1500" b="1">
                <a:solidFill>
                  <a:srgbClr val="10B981"/>
                </a:solidFill>
                <a:latin typeface="Calibri"/>
              </a:defRPr>
            </a:pPr>
            <a:r>
              <a:t>AML/CFT Readiness</a:t>
            </a:r>
          </a:p>
        </p:txBody>
      </p:sp>
      <p:sp>
        <p:nvSpPr>
          <p:cNvPr id="23" name="TextBox 22"/>
          <p:cNvSpPr txBox="1"/>
          <p:nvPr/>
        </p:nvSpPr>
        <p:spPr>
          <a:xfrm>
            <a:off x="1051560" y="448056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Phone-based identity linked to MNO KYC records</a:t>
            </a:r>
          </a:p>
        </p:txBody>
      </p:sp>
      <p:sp>
        <p:nvSpPr>
          <p:cNvPr id="24" name="TextBox 23"/>
          <p:cNvSpPr txBox="1"/>
          <p:nvPr/>
        </p:nvSpPr>
        <p:spPr>
          <a:xfrm>
            <a:off x="1051560" y="475488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Full transaction audit trail for suspicious activity monitoring</a:t>
            </a:r>
          </a:p>
        </p:txBody>
      </p:sp>
      <p:sp>
        <p:nvSpPr>
          <p:cNvPr id="25" name="TextBox 24"/>
          <p:cNvSpPr txBox="1"/>
          <p:nvPr/>
        </p:nvSpPr>
        <p:spPr>
          <a:xfrm>
            <a:off x="1051560" y="502920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Planned: Formal MLRO appointment and STR filing procedures</a:t>
            </a:r>
          </a:p>
        </p:txBody>
      </p:sp>
      <p:sp>
        <p:nvSpPr>
          <p:cNvPr id="26" name="TextBox 25"/>
          <p:cNvSpPr txBox="1"/>
          <p:nvPr/>
        </p:nvSpPr>
        <p:spPr>
          <a:xfrm>
            <a:off x="1051560" y="530352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Planned: Integration with FIC reporting requirements</a:t>
            </a:r>
          </a:p>
        </p:txBody>
      </p:sp>
      <p:sp>
        <p:nvSpPr>
          <p:cNvPr id="27" name="TextBox 26"/>
          <p:cNvSpPr txBox="1"/>
          <p:nvPr/>
        </p:nvSpPr>
        <p:spPr>
          <a:xfrm>
            <a:off x="1051560" y="557784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Planned: Enhanced due diligence for high-value transactions</a:t>
            </a:r>
          </a:p>
        </p:txBody>
      </p:sp>
      <p:sp>
        <p:nvSpPr>
          <p:cNvPr id="28" name="Rounded Rectangle 27"/>
          <p:cNvSpPr/>
          <p:nvPr/>
        </p:nvSpPr>
        <p:spPr>
          <a:xfrm>
            <a:off x="6035040" y="4023360"/>
            <a:ext cx="5029200" cy="201168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035040" y="4023360"/>
            <a:ext cx="54864" cy="201168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4133088"/>
            <a:ext cx="4663440" cy="274320"/>
          </a:xfrm>
          <a:prstGeom prst="rect">
            <a:avLst/>
          </a:prstGeom>
          <a:noFill/>
        </p:spPr>
        <p:txBody>
          <a:bodyPr wrap="square">
            <a:spAutoFit/>
          </a:bodyPr>
          <a:lstStyle/>
          <a:p>
            <a:pPr algn="l">
              <a:spcAft>
                <a:spcPts val="0"/>
              </a:spcAft>
              <a:defRPr sz="1500" b="1">
                <a:solidFill>
                  <a:srgbClr val="F5A623"/>
                </a:solidFill>
                <a:latin typeface="Calibri"/>
              </a:defRPr>
            </a:pPr>
            <a:r>
              <a:t>Systemic Risk Mitigation</a:t>
            </a:r>
          </a:p>
        </p:txBody>
      </p:sp>
      <p:sp>
        <p:nvSpPr>
          <p:cNvPr id="31" name="TextBox 30"/>
          <p:cNvSpPr txBox="1"/>
          <p:nvPr/>
        </p:nvSpPr>
        <p:spPr>
          <a:xfrm>
            <a:off x="6355080" y="448056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Funds held in regulated mobile money accounts (not pooled)</a:t>
            </a:r>
          </a:p>
        </p:txBody>
      </p:sp>
      <p:sp>
        <p:nvSpPr>
          <p:cNvPr id="32" name="TextBox 31"/>
          <p:cNvSpPr txBox="1"/>
          <p:nvPr/>
        </p:nvSpPr>
        <p:spPr>
          <a:xfrm>
            <a:off x="6355080" y="475488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Fee ledger separation ensures operational funds are distinct</a:t>
            </a:r>
          </a:p>
        </p:txBody>
      </p:sp>
      <p:sp>
        <p:nvSpPr>
          <p:cNvPr id="33" name="TextBox 32"/>
          <p:cNvSpPr txBox="1"/>
          <p:nvPr/>
        </p:nvSpPr>
        <p:spPr>
          <a:xfrm>
            <a:off x="6355080" y="502920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No credit extension — pure payment facilitation model</a:t>
            </a:r>
          </a:p>
        </p:txBody>
      </p:sp>
      <p:sp>
        <p:nvSpPr>
          <p:cNvPr id="34" name="TextBox 33"/>
          <p:cNvSpPr txBox="1"/>
          <p:nvPr/>
        </p:nvSpPr>
        <p:spPr>
          <a:xfrm>
            <a:off x="6355080" y="530352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Settlement via existing regulated payment infrastructure (Lipila/MNOs)</a:t>
            </a:r>
          </a:p>
        </p:txBody>
      </p:sp>
      <p:sp>
        <p:nvSpPr>
          <p:cNvPr id="35" name="TextBox 34"/>
          <p:cNvSpPr txBox="1"/>
          <p:nvPr/>
        </p:nvSpPr>
        <p:spPr>
          <a:xfrm>
            <a:off x="6355080" y="5577840"/>
            <a:ext cx="4572000" cy="256032"/>
          </a:xfrm>
          <a:prstGeom prst="rect">
            <a:avLst/>
          </a:prstGeom>
          <a:noFill/>
        </p:spPr>
        <p:txBody>
          <a:bodyPr wrap="square">
            <a:spAutoFit/>
          </a:bodyPr>
          <a:lstStyle/>
          <a:p>
            <a:pPr algn="l">
              <a:spcAft>
                <a:spcPts val="0"/>
              </a:spcAft>
              <a:defRPr sz="1000" b="0">
                <a:solidFill>
                  <a:srgbClr val="94A3B8"/>
                </a:solidFill>
                <a:latin typeface="Calibri"/>
              </a:defRPr>
            </a:pPr>
            <a:r>
              <a:t>•  Business continuity plan in development</a:t>
            </a:r>
          </a:p>
        </p:txBody>
      </p:sp>
      <p:sp>
        <p:nvSpPr>
          <p:cNvPr id="36" name="TextBox 35"/>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13 / 18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10  |  MARKET OPPORTUNITY</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Zambia's Digital Payments Landscape</a:t>
            </a:r>
          </a:p>
        </p:txBody>
      </p:sp>
      <p:sp>
        <p:nvSpPr>
          <p:cNvPr id="5" name="Rounded Rectangle 4"/>
          <p:cNvSpPr/>
          <p:nvPr/>
        </p:nvSpPr>
        <p:spPr>
          <a:xfrm>
            <a:off x="822960" y="1828800"/>
            <a:ext cx="2377440" cy="182880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2011680"/>
            <a:ext cx="2103120" cy="457200"/>
          </a:xfrm>
          <a:prstGeom prst="rect">
            <a:avLst/>
          </a:prstGeom>
          <a:noFill/>
        </p:spPr>
        <p:txBody>
          <a:bodyPr wrap="square">
            <a:spAutoFit/>
          </a:bodyPr>
          <a:lstStyle/>
          <a:p>
            <a:pPr algn="l">
              <a:spcAft>
                <a:spcPts val="0"/>
              </a:spcAft>
              <a:defRPr sz="3200" b="1">
                <a:solidFill>
                  <a:srgbClr val="1A56DB"/>
                </a:solidFill>
                <a:latin typeface="Calibri"/>
              </a:defRPr>
            </a:pPr>
            <a:r>
              <a:t>20M+</a:t>
            </a:r>
          </a:p>
        </p:txBody>
      </p:sp>
      <p:sp>
        <p:nvSpPr>
          <p:cNvPr id="7" name="TextBox 6"/>
          <p:cNvSpPr txBox="1"/>
          <p:nvPr/>
        </p:nvSpPr>
        <p:spPr>
          <a:xfrm>
            <a:off x="1005840" y="2560320"/>
            <a:ext cx="2103120" cy="365760"/>
          </a:xfrm>
          <a:prstGeom prst="rect">
            <a:avLst/>
          </a:prstGeom>
          <a:noFill/>
        </p:spPr>
        <p:txBody>
          <a:bodyPr wrap="square">
            <a:spAutoFit/>
          </a:bodyPr>
          <a:lstStyle/>
          <a:p>
            <a:pPr algn="l">
              <a:spcAft>
                <a:spcPts val="0"/>
              </a:spcAft>
              <a:defRPr sz="1300" b="1">
                <a:solidFill>
                  <a:srgbClr val="1E293B"/>
                </a:solidFill>
                <a:latin typeface="Calibri"/>
              </a:defRPr>
            </a:pPr>
            <a:r>
              <a:t>Population</a:t>
            </a:r>
          </a:p>
        </p:txBody>
      </p:sp>
      <p:sp>
        <p:nvSpPr>
          <p:cNvPr id="8" name="TextBox 7"/>
          <p:cNvSpPr txBox="1"/>
          <p:nvPr/>
        </p:nvSpPr>
        <p:spPr>
          <a:xfrm>
            <a:off x="1005840" y="2971800"/>
            <a:ext cx="2103120" cy="548640"/>
          </a:xfrm>
          <a:prstGeom prst="rect">
            <a:avLst/>
          </a:prstGeom>
          <a:noFill/>
        </p:spPr>
        <p:txBody>
          <a:bodyPr wrap="square">
            <a:spAutoFit/>
          </a:bodyPr>
          <a:lstStyle/>
          <a:p>
            <a:pPr algn="l">
              <a:spcAft>
                <a:spcPts val="0"/>
              </a:spcAft>
              <a:defRPr sz="1000" b="0">
                <a:solidFill>
                  <a:srgbClr val="64748B"/>
                </a:solidFill>
                <a:latin typeface="Calibri"/>
              </a:defRPr>
            </a:pPr>
            <a:r>
              <a:t>Growing youth demographic</a:t>
            </a:r>
            <a:br/>
            <a:r>
              <a:t>driving mobile adoption</a:t>
            </a:r>
          </a:p>
        </p:txBody>
      </p:sp>
      <p:sp>
        <p:nvSpPr>
          <p:cNvPr id="9" name="Rounded Rectangle 8"/>
          <p:cNvSpPr/>
          <p:nvPr/>
        </p:nvSpPr>
        <p:spPr>
          <a:xfrm>
            <a:off x="3383280" y="1828800"/>
            <a:ext cx="2377440" cy="182880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66160" y="2011680"/>
            <a:ext cx="2103120" cy="457200"/>
          </a:xfrm>
          <a:prstGeom prst="rect">
            <a:avLst/>
          </a:prstGeom>
          <a:noFill/>
        </p:spPr>
        <p:txBody>
          <a:bodyPr wrap="square">
            <a:spAutoFit/>
          </a:bodyPr>
          <a:lstStyle/>
          <a:p>
            <a:pPr algn="l">
              <a:spcAft>
                <a:spcPts val="0"/>
              </a:spcAft>
              <a:defRPr sz="3200" b="1">
                <a:solidFill>
                  <a:srgbClr val="10B981"/>
                </a:solidFill>
                <a:latin typeface="Calibri"/>
              </a:defRPr>
            </a:pPr>
            <a:r>
              <a:t>~60%</a:t>
            </a:r>
          </a:p>
        </p:txBody>
      </p:sp>
      <p:sp>
        <p:nvSpPr>
          <p:cNvPr id="11" name="TextBox 10"/>
          <p:cNvSpPr txBox="1"/>
          <p:nvPr/>
        </p:nvSpPr>
        <p:spPr>
          <a:xfrm>
            <a:off x="3566160" y="2560320"/>
            <a:ext cx="2103120" cy="365760"/>
          </a:xfrm>
          <a:prstGeom prst="rect">
            <a:avLst/>
          </a:prstGeom>
          <a:noFill/>
        </p:spPr>
        <p:txBody>
          <a:bodyPr wrap="square">
            <a:spAutoFit/>
          </a:bodyPr>
          <a:lstStyle/>
          <a:p>
            <a:pPr algn="l">
              <a:spcAft>
                <a:spcPts val="0"/>
              </a:spcAft>
              <a:defRPr sz="1300" b="1">
                <a:solidFill>
                  <a:srgbClr val="1E293B"/>
                </a:solidFill>
                <a:latin typeface="Calibri"/>
              </a:defRPr>
            </a:pPr>
            <a:r>
              <a:t>Mobile Money</a:t>
            </a:r>
            <a:br/>
            <a:r>
              <a:t>Penetration</a:t>
            </a:r>
          </a:p>
        </p:txBody>
      </p:sp>
      <p:sp>
        <p:nvSpPr>
          <p:cNvPr id="12" name="TextBox 11"/>
          <p:cNvSpPr txBox="1"/>
          <p:nvPr/>
        </p:nvSpPr>
        <p:spPr>
          <a:xfrm>
            <a:off x="3566160" y="2971800"/>
            <a:ext cx="2103120" cy="548640"/>
          </a:xfrm>
          <a:prstGeom prst="rect">
            <a:avLst/>
          </a:prstGeom>
          <a:noFill/>
        </p:spPr>
        <p:txBody>
          <a:bodyPr wrap="square">
            <a:spAutoFit/>
          </a:bodyPr>
          <a:lstStyle/>
          <a:p>
            <a:pPr algn="l">
              <a:spcAft>
                <a:spcPts val="0"/>
              </a:spcAft>
              <a:defRPr sz="1000" b="0">
                <a:solidFill>
                  <a:srgbClr val="64748B"/>
                </a:solidFill>
                <a:latin typeface="Calibri"/>
              </a:defRPr>
            </a:pPr>
            <a:r>
              <a:t>Active mobile money accounts</a:t>
            </a:r>
            <a:br/>
            <a:r>
              <a:t>continue to grow rapidly</a:t>
            </a:r>
          </a:p>
        </p:txBody>
      </p:sp>
      <p:sp>
        <p:nvSpPr>
          <p:cNvPr id="13" name="Rounded Rectangle 12"/>
          <p:cNvSpPr/>
          <p:nvPr/>
        </p:nvSpPr>
        <p:spPr>
          <a:xfrm>
            <a:off x="5943600" y="1828800"/>
            <a:ext cx="2377440" cy="182880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2011680"/>
            <a:ext cx="2103120" cy="457200"/>
          </a:xfrm>
          <a:prstGeom prst="rect">
            <a:avLst/>
          </a:prstGeom>
          <a:noFill/>
        </p:spPr>
        <p:txBody>
          <a:bodyPr wrap="square">
            <a:spAutoFit/>
          </a:bodyPr>
          <a:lstStyle/>
          <a:p>
            <a:pPr algn="l">
              <a:spcAft>
                <a:spcPts val="0"/>
              </a:spcAft>
              <a:defRPr sz="3200" b="1">
                <a:solidFill>
                  <a:srgbClr val="F5A623"/>
                </a:solidFill>
                <a:latin typeface="Calibri"/>
              </a:defRPr>
            </a:pPr>
            <a:r>
              <a:t>K200B+</a:t>
            </a:r>
          </a:p>
        </p:txBody>
      </p:sp>
      <p:sp>
        <p:nvSpPr>
          <p:cNvPr id="15" name="TextBox 14"/>
          <p:cNvSpPr txBox="1"/>
          <p:nvPr/>
        </p:nvSpPr>
        <p:spPr>
          <a:xfrm>
            <a:off x="6126480" y="2560320"/>
            <a:ext cx="2103120" cy="365760"/>
          </a:xfrm>
          <a:prstGeom prst="rect">
            <a:avLst/>
          </a:prstGeom>
          <a:noFill/>
        </p:spPr>
        <p:txBody>
          <a:bodyPr wrap="square">
            <a:spAutoFit/>
          </a:bodyPr>
          <a:lstStyle/>
          <a:p>
            <a:pPr algn="l">
              <a:spcAft>
                <a:spcPts val="0"/>
              </a:spcAft>
              <a:defRPr sz="1300" b="1">
                <a:solidFill>
                  <a:srgbClr val="1E293B"/>
                </a:solidFill>
                <a:latin typeface="Calibri"/>
              </a:defRPr>
            </a:pPr>
            <a:r>
              <a:t>Annual Mobile</a:t>
            </a:r>
            <a:br/>
            <a:r>
              <a:t>Money Value</a:t>
            </a:r>
          </a:p>
        </p:txBody>
      </p:sp>
      <p:sp>
        <p:nvSpPr>
          <p:cNvPr id="16" name="TextBox 15"/>
          <p:cNvSpPr txBox="1"/>
          <p:nvPr/>
        </p:nvSpPr>
        <p:spPr>
          <a:xfrm>
            <a:off x="6126480" y="2971800"/>
            <a:ext cx="2103120" cy="548640"/>
          </a:xfrm>
          <a:prstGeom prst="rect">
            <a:avLst/>
          </a:prstGeom>
          <a:noFill/>
        </p:spPr>
        <p:txBody>
          <a:bodyPr wrap="square">
            <a:spAutoFit/>
          </a:bodyPr>
          <a:lstStyle/>
          <a:p>
            <a:pPr algn="l">
              <a:spcAft>
                <a:spcPts val="0"/>
              </a:spcAft>
              <a:defRPr sz="1000" b="0">
                <a:solidFill>
                  <a:srgbClr val="64748B"/>
                </a:solidFill>
                <a:latin typeface="Calibri"/>
              </a:defRPr>
            </a:pPr>
            <a:r>
              <a:t>Transaction values growing</a:t>
            </a:r>
            <a:br/>
            <a:r>
              <a:t>year-over-year</a:t>
            </a:r>
          </a:p>
        </p:txBody>
      </p:sp>
      <p:sp>
        <p:nvSpPr>
          <p:cNvPr id="17" name="Rounded Rectangle 16"/>
          <p:cNvSpPr/>
          <p:nvPr/>
        </p:nvSpPr>
        <p:spPr>
          <a:xfrm>
            <a:off x="8503920" y="1828800"/>
            <a:ext cx="2377440" cy="1828800"/>
          </a:xfrm>
          <a:prstGeom prst="roundRect">
            <a:avLst>
              <a:gd name="adj" fmla="val 4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0" y="2011680"/>
            <a:ext cx="2103120" cy="457200"/>
          </a:xfrm>
          <a:prstGeom prst="rect">
            <a:avLst/>
          </a:prstGeom>
          <a:noFill/>
        </p:spPr>
        <p:txBody>
          <a:bodyPr wrap="square">
            <a:spAutoFit/>
          </a:bodyPr>
          <a:lstStyle/>
          <a:p>
            <a:pPr algn="l">
              <a:spcAft>
                <a:spcPts val="0"/>
              </a:spcAft>
              <a:defRPr sz="3200" b="1">
                <a:solidFill>
                  <a:srgbClr val="EF4444"/>
                </a:solidFill>
                <a:latin typeface="Calibri"/>
              </a:defRPr>
            </a:pPr>
            <a:r>
              <a:t>40%+</a:t>
            </a:r>
          </a:p>
        </p:txBody>
      </p:sp>
      <p:sp>
        <p:nvSpPr>
          <p:cNvPr id="19" name="TextBox 18"/>
          <p:cNvSpPr txBox="1"/>
          <p:nvPr/>
        </p:nvSpPr>
        <p:spPr>
          <a:xfrm>
            <a:off x="8686800" y="2560320"/>
            <a:ext cx="2103120" cy="365760"/>
          </a:xfrm>
          <a:prstGeom prst="rect">
            <a:avLst/>
          </a:prstGeom>
          <a:noFill/>
        </p:spPr>
        <p:txBody>
          <a:bodyPr wrap="square">
            <a:spAutoFit/>
          </a:bodyPr>
          <a:lstStyle/>
          <a:p>
            <a:pPr algn="l">
              <a:spcAft>
                <a:spcPts val="0"/>
              </a:spcAft>
              <a:defRPr sz="1300" b="1">
                <a:solidFill>
                  <a:srgbClr val="1E293B"/>
                </a:solidFill>
                <a:latin typeface="Calibri"/>
              </a:defRPr>
            </a:pPr>
            <a:r>
              <a:t>Financially</a:t>
            </a:r>
            <a:br/>
            <a:r>
              <a:t>Excluded</a:t>
            </a:r>
          </a:p>
        </p:txBody>
      </p:sp>
      <p:sp>
        <p:nvSpPr>
          <p:cNvPr id="20" name="TextBox 19"/>
          <p:cNvSpPr txBox="1"/>
          <p:nvPr/>
        </p:nvSpPr>
        <p:spPr>
          <a:xfrm>
            <a:off x="8686800" y="2971800"/>
            <a:ext cx="2103120" cy="548640"/>
          </a:xfrm>
          <a:prstGeom prst="rect">
            <a:avLst/>
          </a:prstGeom>
          <a:noFill/>
        </p:spPr>
        <p:txBody>
          <a:bodyPr wrap="square">
            <a:spAutoFit/>
          </a:bodyPr>
          <a:lstStyle/>
          <a:p>
            <a:pPr algn="l">
              <a:spcAft>
                <a:spcPts val="0"/>
              </a:spcAft>
              <a:defRPr sz="1000" b="0">
                <a:solidFill>
                  <a:srgbClr val="64748B"/>
                </a:solidFill>
                <a:latin typeface="Calibri"/>
              </a:defRPr>
            </a:pPr>
            <a:r>
              <a:t>Significant population still</a:t>
            </a:r>
            <a:br/>
            <a:r>
              <a:t>lacking financial access</a:t>
            </a:r>
          </a:p>
        </p:txBody>
      </p:sp>
      <p:sp>
        <p:nvSpPr>
          <p:cNvPr id="21" name="TextBox 20"/>
          <p:cNvSpPr txBox="1"/>
          <p:nvPr/>
        </p:nvSpPr>
        <p:spPr>
          <a:xfrm>
            <a:off x="1097280" y="4023360"/>
            <a:ext cx="9144000" cy="365760"/>
          </a:xfrm>
          <a:prstGeom prst="rect">
            <a:avLst/>
          </a:prstGeom>
          <a:noFill/>
        </p:spPr>
        <p:txBody>
          <a:bodyPr wrap="square">
            <a:spAutoFit/>
          </a:bodyPr>
          <a:lstStyle/>
          <a:p>
            <a:pPr algn="l">
              <a:spcAft>
                <a:spcPts val="0"/>
              </a:spcAft>
              <a:defRPr sz="2000" b="1">
                <a:solidFill>
                  <a:srgbClr val="1E293B"/>
                </a:solidFill>
                <a:latin typeface="Calibri"/>
              </a:defRPr>
            </a:pPr>
            <a:r>
              <a:t>Why Monde Matters</a:t>
            </a:r>
          </a:p>
        </p:txBody>
      </p:sp>
      <p:sp>
        <p:nvSpPr>
          <p:cNvPr id="22" name="TextBox 21"/>
          <p:cNvSpPr txBox="1"/>
          <p:nvPr/>
        </p:nvSpPr>
        <p:spPr>
          <a:xfrm>
            <a:off x="1280160" y="4480560"/>
            <a:ext cx="2286000" cy="274320"/>
          </a:xfrm>
          <a:prstGeom prst="rect">
            <a:avLst/>
          </a:prstGeom>
          <a:noFill/>
        </p:spPr>
        <p:txBody>
          <a:bodyPr wrap="square">
            <a:spAutoFit/>
          </a:bodyPr>
          <a:lstStyle/>
          <a:p>
            <a:pPr algn="l">
              <a:spcAft>
                <a:spcPts val="0"/>
              </a:spcAft>
              <a:defRPr sz="1300" b="1">
                <a:solidFill>
                  <a:srgbClr val="1A56DB"/>
                </a:solidFill>
                <a:latin typeface="Calibri"/>
              </a:defRPr>
            </a:pPr>
            <a:r>
              <a:t>▸  Interoperability First</a:t>
            </a:r>
          </a:p>
        </p:txBody>
      </p:sp>
      <p:sp>
        <p:nvSpPr>
          <p:cNvPr id="23" name="TextBox 22"/>
          <p:cNvSpPr txBox="1"/>
          <p:nvPr/>
        </p:nvSpPr>
        <p:spPr>
          <a:xfrm>
            <a:off x="3657600" y="4480560"/>
            <a:ext cx="7315200" cy="457200"/>
          </a:xfrm>
          <a:prstGeom prst="rect">
            <a:avLst/>
          </a:prstGeom>
          <a:noFill/>
        </p:spPr>
        <p:txBody>
          <a:bodyPr wrap="square">
            <a:spAutoFit/>
          </a:bodyPr>
          <a:lstStyle/>
          <a:p>
            <a:pPr algn="l">
              <a:spcAft>
                <a:spcPts val="0"/>
              </a:spcAft>
              <a:defRPr sz="1100" b="0">
                <a:solidFill>
                  <a:srgbClr val="64748B"/>
                </a:solidFill>
                <a:latin typeface="Calibri"/>
              </a:defRPr>
            </a:pPr>
            <a:r>
              <a:t>Unlike single-provider wallets, Monde bridges ALL Zambian payment providers in one app, reducing friction and lowering costs for cross-provider transfers.</a:t>
            </a:r>
          </a:p>
        </p:txBody>
      </p:sp>
      <p:sp>
        <p:nvSpPr>
          <p:cNvPr id="24" name="TextBox 23"/>
          <p:cNvSpPr txBox="1"/>
          <p:nvPr/>
        </p:nvSpPr>
        <p:spPr>
          <a:xfrm>
            <a:off x="1280160" y="5074920"/>
            <a:ext cx="2286000" cy="274320"/>
          </a:xfrm>
          <a:prstGeom prst="rect">
            <a:avLst/>
          </a:prstGeom>
          <a:noFill/>
        </p:spPr>
        <p:txBody>
          <a:bodyPr wrap="square">
            <a:spAutoFit/>
          </a:bodyPr>
          <a:lstStyle/>
          <a:p>
            <a:pPr algn="l">
              <a:spcAft>
                <a:spcPts val="0"/>
              </a:spcAft>
              <a:defRPr sz="1300" b="1">
                <a:solidFill>
                  <a:srgbClr val="1A56DB"/>
                </a:solidFill>
                <a:latin typeface="Calibri"/>
              </a:defRPr>
            </a:pPr>
            <a:r>
              <a:t>▸  Agent-Driven Financial Inclusion</a:t>
            </a:r>
          </a:p>
        </p:txBody>
      </p:sp>
      <p:sp>
        <p:nvSpPr>
          <p:cNvPr id="25" name="TextBox 24"/>
          <p:cNvSpPr txBox="1"/>
          <p:nvPr/>
        </p:nvSpPr>
        <p:spPr>
          <a:xfrm>
            <a:off x="3657600" y="5074920"/>
            <a:ext cx="7315200" cy="457200"/>
          </a:xfrm>
          <a:prstGeom prst="rect">
            <a:avLst/>
          </a:prstGeom>
          <a:noFill/>
        </p:spPr>
        <p:txBody>
          <a:bodyPr wrap="square">
            <a:spAutoFit/>
          </a:bodyPr>
          <a:lstStyle/>
          <a:p>
            <a:pPr algn="l">
              <a:spcAft>
                <a:spcPts val="0"/>
              </a:spcAft>
              <a:defRPr sz="1100" b="0">
                <a:solidFill>
                  <a:srgbClr val="64748B"/>
                </a:solidFill>
                <a:latin typeface="Calibri"/>
              </a:defRPr>
            </a:pPr>
            <a:r>
              <a:t>Our agent cash-in/cash-out model provides physical touchpoints for the unbanked, enabling cash-to-digital conversion at the community level.</a:t>
            </a:r>
          </a:p>
        </p:txBody>
      </p:sp>
      <p:sp>
        <p:nvSpPr>
          <p:cNvPr id="26" name="TextBox 25"/>
          <p:cNvSpPr txBox="1"/>
          <p:nvPr/>
        </p:nvSpPr>
        <p:spPr>
          <a:xfrm>
            <a:off x="1280160" y="5669280"/>
            <a:ext cx="2286000" cy="274320"/>
          </a:xfrm>
          <a:prstGeom prst="rect">
            <a:avLst/>
          </a:prstGeom>
          <a:noFill/>
        </p:spPr>
        <p:txBody>
          <a:bodyPr wrap="square">
            <a:spAutoFit/>
          </a:bodyPr>
          <a:lstStyle/>
          <a:p>
            <a:pPr algn="l">
              <a:spcAft>
                <a:spcPts val="0"/>
              </a:spcAft>
              <a:defRPr sz="1300" b="1">
                <a:solidFill>
                  <a:srgbClr val="1A56DB"/>
                </a:solidFill>
                <a:latin typeface="Calibri"/>
              </a:defRPr>
            </a:pPr>
            <a:r>
              <a:t>▸  Regulatory Alignment</a:t>
            </a:r>
          </a:p>
        </p:txBody>
      </p:sp>
      <p:sp>
        <p:nvSpPr>
          <p:cNvPr id="27" name="TextBox 26"/>
          <p:cNvSpPr txBox="1"/>
          <p:nvPr/>
        </p:nvSpPr>
        <p:spPr>
          <a:xfrm>
            <a:off x="3657600" y="5669280"/>
            <a:ext cx="7315200" cy="457200"/>
          </a:xfrm>
          <a:prstGeom prst="rect">
            <a:avLst/>
          </a:prstGeom>
          <a:noFill/>
        </p:spPr>
        <p:txBody>
          <a:bodyPr wrap="square">
            <a:spAutoFit/>
          </a:bodyPr>
          <a:lstStyle/>
          <a:p>
            <a:pPr algn="l">
              <a:spcAft>
                <a:spcPts val="0"/>
              </a:spcAft>
              <a:defRPr sz="1100" b="0">
                <a:solidFill>
                  <a:srgbClr val="64748B"/>
                </a:solidFill>
                <a:latin typeface="Calibri"/>
              </a:defRPr>
            </a:pPr>
            <a:r>
              <a:t>Built from the ground up with BoZ regulatory requirements in mind. Seeking designation demonstrates our commitment to operating within the legal framework.</a:t>
            </a:r>
          </a:p>
        </p:txBody>
      </p:sp>
      <p:sp>
        <p:nvSpPr>
          <p:cNvPr id="28" name="TextBox 27"/>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14 / 18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11  |  IMPLEMENTATION TIMELINE</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Phased Rollout Plan</a:t>
            </a:r>
          </a:p>
        </p:txBody>
      </p:sp>
      <p:sp>
        <p:nvSpPr>
          <p:cNvPr id="5" name="Rectangle 4"/>
          <p:cNvSpPr/>
          <p:nvPr/>
        </p:nvSpPr>
        <p:spPr>
          <a:xfrm>
            <a:off x="1371600" y="2011680"/>
            <a:ext cx="9418320" cy="5486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130552" y="1938528"/>
            <a:ext cx="219456" cy="219456"/>
          </a:xfrm>
          <a:prstGeom prst="ellipse">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2286000"/>
            <a:ext cx="2286000" cy="274320"/>
          </a:xfrm>
          <a:prstGeom prst="rect">
            <a:avLst/>
          </a:prstGeom>
          <a:noFill/>
        </p:spPr>
        <p:txBody>
          <a:bodyPr wrap="square">
            <a:spAutoFit/>
          </a:bodyPr>
          <a:lstStyle/>
          <a:p>
            <a:pPr algn="ctr">
              <a:spcAft>
                <a:spcPts val="0"/>
              </a:spcAft>
              <a:defRPr sz="1300" b="1">
                <a:solidFill>
                  <a:srgbClr val="1A56DB"/>
                </a:solidFill>
                <a:latin typeface="Calibri"/>
              </a:defRPr>
            </a:pPr>
            <a:r>
              <a:t>Q1–Q2 2026</a:t>
            </a:r>
          </a:p>
        </p:txBody>
      </p:sp>
      <p:sp>
        <p:nvSpPr>
          <p:cNvPr id="8" name="TextBox 7"/>
          <p:cNvSpPr txBox="1"/>
          <p:nvPr/>
        </p:nvSpPr>
        <p:spPr>
          <a:xfrm>
            <a:off x="1097280" y="2560320"/>
            <a:ext cx="2286000" cy="274320"/>
          </a:xfrm>
          <a:prstGeom prst="rect">
            <a:avLst/>
          </a:prstGeom>
          <a:noFill/>
        </p:spPr>
        <p:txBody>
          <a:bodyPr wrap="square">
            <a:spAutoFit/>
          </a:bodyPr>
          <a:lstStyle/>
          <a:p>
            <a:pPr algn="ctr">
              <a:spcAft>
                <a:spcPts val="0"/>
              </a:spcAft>
              <a:defRPr sz="1600" b="1">
                <a:solidFill>
                  <a:srgbClr val="1E293B"/>
                </a:solidFill>
                <a:latin typeface="Calibri"/>
              </a:defRPr>
            </a:pPr>
            <a:r>
              <a:t>Pre-Launch</a:t>
            </a:r>
          </a:p>
        </p:txBody>
      </p:sp>
      <p:sp>
        <p:nvSpPr>
          <p:cNvPr id="9" name="Rounded Rectangle 8"/>
          <p:cNvSpPr/>
          <p:nvPr/>
        </p:nvSpPr>
        <p:spPr>
          <a:xfrm>
            <a:off x="1097280" y="2926080"/>
            <a:ext cx="2286000" cy="201168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97280" y="2926080"/>
            <a:ext cx="2286000" cy="4572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34440" y="3108960"/>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Complete BoZ designation application</a:t>
            </a:r>
          </a:p>
        </p:txBody>
      </p:sp>
      <p:sp>
        <p:nvSpPr>
          <p:cNvPr id="12" name="TextBox 11"/>
          <p:cNvSpPr txBox="1"/>
          <p:nvPr/>
        </p:nvSpPr>
        <p:spPr>
          <a:xfrm>
            <a:off x="1234440" y="3493008"/>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Finalize legal and compliance framework</a:t>
            </a:r>
          </a:p>
        </p:txBody>
      </p:sp>
      <p:sp>
        <p:nvSpPr>
          <p:cNvPr id="13" name="TextBox 12"/>
          <p:cNvSpPr txBox="1"/>
          <p:nvPr/>
        </p:nvSpPr>
        <p:spPr>
          <a:xfrm>
            <a:off x="1234440" y="3877056"/>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Internal beta testing with controlled user group</a:t>
            </a:r>
          </a:p>
        </p:txBody>
      </p:sp>
      <p:sp>
        <p:nvSpPr>
          <p:cNvPr id="14" name="TextBox 13"/>
          <p:cNvSpPr txBox="1"/>
          <p:nvPr/>
        </p:nvSpPr>
        <p:spPr>
          <a:xfrm>
            <a:off x="1234440" y="4261104"/>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Establish agent onboarding process</a:t>
            </a:r>
          </a:p>
        </p:txBody>
      </p:sp>
      <p:sp>
        <p:nvSpPr>
          <p:cNvPr id="15" name="Oval 14"/>
          <p:cNvSpPr/>
          <p:nvPr/>
        </p:nvSpPr>
        <p:spPr>
          <a:xfrm>
            <a:off x="4736592" y="1938528"/>
            <a:ext cx="219456" cy="219456"/>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03320" y="2286000"/>
            <a:ext cx="2286000" cy="274320"/>
          </a:xfrm>
          <a:prstGeom prst="rect">
            <a:avLst/>
          </a:prstGeom>
          <a:noFill/>
        </p:spPr>
        <p:txBody>
          <a:bodyPr wrap="square">
            <a:spAutoFit/>
          </a:bodyPr>
          <a:lstStyle/>
          <a:p>
            <a:pPr algn="ctr">
              <a:spcAft>
                <a:spcPts val="0"/>
              </a:spcAft>
              <a:defRPr sz="1300" b="1">
                <a:solidFill>
                  <a:srgbClr val="10B981"/>
                </a:solidFill>
                <a:latin typeface="Calibri"/>
              </a:defRPr>
            </a:pPr>
            <a:r>
              <a:t>Q3 2026</a:t>
            </a:r>
          </a:p>
        </p:txBody>
      </p:sp>
      <p:sp>
        <p:nvSpPr>
          <p:cNvPr id="17" name="TextBox 16"/>
          <p:cNvSpPr txBox="1"/>
          <p:nvPr/>
        </p:nvSpPr>
        <p:spPr>
          <a:xfrm>
            <a:off x="3703320" y="2560320"/>
            <a:ext cx="2286000" cy="274320"/>
          </a:xfrm>
          <a:prstGeom prst="rect">
            <a:avLst/>
          </a:prstGeom>
          <a:noFill/>
        </p:spPr>
        <p:txBody>
          <a:bodyPr wrap="square">
            <a:spAutoFit/>
          </a:bodyPr>
          <a:lstStyle/>
          <a:p>
            <a:pPr algn="ctr">
              <a:spcAft>
                <a:spcPts val="0"/>
              </a:spcAft>
              <a:defRPr sz="1600" b="1">
                <a:solidFill>
                  <a:srgbClr val="1E293B"/>
                </a:solidFill>
                <a:latin typeface="Calibri"/>
              </a:defRPr>
            </a:pPr>
            <a:r>
              <a:t>Sandbox / Pilot</a:t>
            </a:r>
          </a:p>
        </p:txBody>
      </p:sp>
      <p:sp>
        <p:nvSpPr>
          <p:cNvPr id="18" name="Rounded Rectangle 17"/>
          <p:cNvSpPr/>
          <p:nvPr/>
        </p:nvSpPr>
        <p:spPr>
          <a:xfrm>
            <a:off x="3703320" y="2926080"/>
            <a:ext cx="2286000" cy="201168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703320" y="2926080"/>
            <a:ext cx="228600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840480" y="3108960"/>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Enter BoZ Regulatory Sandbox (if applicable)</a:t>
            </a:r>
          </a:p>
        </p:txBody>
      </p:sp>
      <p:sp>
        <p:nvSpPr>
          <p:cNvPr id="21" name="TextBox 20"/>
          <p:cNvSpPr txBox="1"/>
          <p:nvPr/>
        </p:nvSpPr>
        <p:spPr>
          <a:xfrm>
            <a:off x="3840480" y="3493008"/>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Pilot with limited agent network (50–100 agents)</a:t>
            </a:r>
          </a:p>
        </p:txBody>
      </p:sp>
      <p:sp>
        <p:nvSpPr>
          <p:cNvPr id="22" name="TextBox 21"/>
          <p:cNvSpPr txBox="1"/>
          <p:nvPr/>
        </p:nvSpPr>
        <p:spPr>
          <a:xfrm>
            <a:off x="3840480" y="3877056"/>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Gather user feedback and iterate</a:t>
            </a:r>
          </a:p>
        </p:txBody>
      </p:sp>
      <p:sp>
        <p:nvSpPr>
          <p:cNvPr id="23" name="TextBox 22"/>
          <p:cNvSpPr txBox="1"/>
          <p:nvPr/>
        </p:nvSpPr>
        <p:spPr>
          <a:xfrm>
            <a:off x="3840480" y="4261104"/>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File required reports and demonstrate compliance</a:t>
            </a:r>
          </a:p>
        </p:txBody>
      </p:sp>
      <p:sp>
        <p:nvSpPr>
          <p:cNvPr id="24" name="Oval 23"/>
          <p:cNvSpPr/>
          <p:nvPr/>
        </p:nvSpPr>
        <p:spPr>
          <a:xfrm>
            <a:off x="7342632" y="1938528"/>
            <a:ext cx="219456" cy="219456"/>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09360" y="2286000"/>
            <a:ext cx="2286000" cy="274320"/>
          </a:xfrm>
          <a:prstGeom prst="rect">
            <a:avLst/>
          </a:prstGeom>
          <a:noFill/>
        </p:spPr>
        <p:txBody>
          <a:bodyPr wrap="square">
            <a:spAutoFit/>
          </a:bodyPr>
          <a:lstStyle/>
          <a:p>
            <a:pPr algn="ctr">
              <a:spcAft>
                <a:spcPts val="0"/>
              </a:spcAft>
              <a:defRPr sz="1300" b="1">
                <a:solidFill>
                  <a:srgbClr val="F5A623"/>
                </a:solidFill>
                <a:latin typeface="Calibri"/>
              </a:defRPr>
            </a:pPr>
            <a:r>
              <a:t>Q4 2026</a:t>
            </a:r>
          </a:p>
        </p:txBody>
      </p:sp>
      <p:sp>
        <p:nvSpPr>
          <p:cNvPr id="26" name="TextBox 25"/>
          <p:cNvSpPr txBox="1"/>
          <p:nvPr/>
        </p:nvSpPr>
        <p:spPr>
          <a:xfrm>
            <a:off x="6309360" y="2560320"/>
            <a:ext cx="2286000" cy="274320"/>
          </a:xfrm>
          <a:prstGeom prst="rect">
            <a:avLst/>
          </a:prstGeom>
          <a:noFill/>
        </p:spPr>
        <p:txBody>
          <a:bodyPr wrap="square">
            <a:spAutoFit/>
          </a:bodyPr>
          <a:lstStyle/>
          <a:p>
            <a:pPr algn="ctr">
              <a:spcAft>
                <a:spcPts val="0"/>
              </a:spcAft>
              <a:defRPr sz="1600" b="1">
                <a:solidFill>
                  <a:srgbClr val="1E293B"/>
                </a:solidFill>
                <a:latin typeface="Calibri"/>
              </a:defRPr>
            </a:pPr>
            <a:r>
              <a:t>Controlled Launch</a:t>
            </a:r>
          </a:p>
        </p:txBody>
      </p:sp>
      <p:sp>
        <p:nvSpPr>
          <p:cNvPr id="27" name="Rounded Rectangle 26"/>
          <p:cNvSpPr/>
          <p:nvPr/>
        </p:nvSpPr>
        <p:spPr>
          <a:xfrm>
            <a:off x="6309360" y="2926080"/>
            <a:ext cx="2286000" cy="201168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309360" y="2926080"/>
            <a:ext cx="2286000" cy="457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3108960"/>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Obtain full BoZ designation</a:t>
            </a:r>
          </a:p>
        </p:txBody>
      </p:sp>
      <p:sp>
        <p:nvSpPr>
          <p:cNvPr id="30" name="TextBox 29"/>
          <p:cNvSpPr txBox="1"/>
          <p:nvPr/>
        </p:nvSpPr>
        <p:spPr>
          <a:xfrm>
            <a:off x="6446520" y="3493008"/>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Expand agent network nationwide</a:t>
            </a:r>
          </a:p>
        </p:txBody>
      </p:sp>
      <p:sp>
        <p:nvSpPr>
          <p:cNvPr id="31" name="TextBox 30"/>
          <p:cNvSpPr txBox="1"/>
          <p:nvPr/>
        </p:nvSpPr>
        <p:spPr>
          <a:xfrm>
            <a:off x="6446520" y="3877056"/>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Public launch with marketing campaign</a:t>
            </a:r>
          </a:p>
        </p:txBody>
      </p:sp>
      <p:sp>
        <p:nvSpPr>
          <p:cNvPr id="32" name="TextBox 31"/>
          <p:cNvSpPr txBox="1"/>
          <p:nvPr/>
        </p:nvSpPr>
        <p:spPr>
          <a:xfrm>
            <a:off x="6446520" y="4261104"/>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Establish BoZ reporting cadence</a:t>
            </a:r>
          </a:p>
        </p:txBody>
      </p:sp>
      <p:sp>
        <p:nvSpPr>
          <p:cNvPr id="33" name="Oval 32"/>
          <p:cNvSpPr/>
          <p:nvPr/>
        </p:nvSpPr>
        <p:spPr>
          <a:xfrm>
            <a:off x="9948672" y="1938528"/>
            <a:ext cx="219456" cy="219456"/>
          </a:xfrm>
          <a:prstGeom prst="ellipse">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15400" y="2286000"/>
            <a:ext cx="2286000" cy="274320"/>
          </a:xfrm>
          <a:prstGeom prst="rect">
            <a:avLst/>
          </a:prstGeom>
          <a:noFill/>
        </p:spPr>
        <p:txBody>
          <a:bodyPr wrap="square">
            <a:spAutoFit/>
          </a:bodyPr>
          <a:lstStyle/>
          <a:p>
            <a:pPr algn="ctr">
              <a:spcAft>
                <a:spcPts val="0"/>
              </a:spcAft>
              <a:defRPr sz="1300" b="1">
                <a:solidFill>
                  <a:srgbClr val="8B5CF6"/>
                </a:solidFill>
                <a:latin typeface="Calibri"/>
              </a:defRPr>
            </a:pPr>
            <a:r>
              <a:t>2027+</a:t>
            </a:r>
          </a:p>
        </p:txBody>
      </p:sp>
      <p:sp>
        <p:nvSpPr>
          <p:cNvPr id="35" name="TextBox 34"/>
          <p:cNvSpPr txBox="1"/>
          <p:nvPr/>
        </p:nvSpPr>
        <p:spPr>
          <a:xfrm>
            <a:off x="8915400" y="2560320"/>
            <a:ext cx="2286000" cy="274320"/>
          </a:xfrm>
          <a:prstGeom prst="rect">
            <a:avLst/>
          </a:prstGeom>
          <a:noFill/>
        </p:spPr>
        <p:txBody>
          <a:bodyPr wrap="square">
            <a:spAutoFit/>
          </a:bodyPr>
          <a:lstStyle/>
          <a:p>
            <a:pPr algn="ctr">
              <a:spcAft>
                <a:spcPts val="0"/>
              </a:spcAft>
              <a:defRPr sz="1600" b="1">
                <a:solidFill>
                  <a:srgbClr val="1E293B"/>
                </a:solidFill>
                <a:latin typeface="Calibri"/>
              </a:defRPr>
            </a:pPr>
            <a:r>
              <a:t>Scale &amp; Expand</a:t>
            </a:r>
          </a:p>
        </p:txBody>
      </p:sp>
      <p:sp>
        <p:nvSpPr>
          <p:cNvPr id="36" name="Rounded Rectangle 35"/>
          <p:cNvSpPr/>
          <p:nvPr/>
        </p:nvSpPr>
        <p:spPr>
          <a:xfrm>
            <a:off x="8915400" y="2926080"/>
            <a:ext cx="2286000" cy="201168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915400" y="2926080"/>
            <a:ext cx="2286000" cy="457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052560" y="3108960"/>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Add merchant payment capabilities</a:t>
            </a:r>
          </a:p>
        </p:txBody>
      </p:sp>
      <p:sp>
        <p:nvSpPr>
          <p:cNvPr id="39" name="TextBox 38"/>
          <p:cNvSpPr txBox="1"/>
          <p:nvPr/>
        </p:nvSpPr>
        <p:spPr>
          <a:xfrm>
            <a:off x="9052560" y="3493008"/>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Expand to bill payments and utilities</a:t>
            </a:r>
          </a:p>
        </p:txBody>
      </p:sp>
      <p:sp>
        <p:nvSpPr>
          <p:cNvPr id="40" name="TextBox 39"/>
          <p:cNvSpPr txBox="1"/>
          <p:nvPr/>
        </p:nvSpPr>
        <p:spPr>
          <a:xfrm>
            <a:off x="9052560" y="3877056"/>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Explore cross-border payment corridors</a:t>
            </a:r>
          </a:p>
        </p:txBody>
      </p:sp>
      <p:sp>
        <p:nvSpPr>
          <p:cNvPr id="41" name="TextBox 40"/>
          <p:cNvSpPr txBox="1"/>
          <p:nvPr/>
        </p:nvSpPr>
        <p:spPr>
          <a:xfrm>
            <a:off x="9052560" y="4261104"/>
            <a:ext cx="2011680" cy="365760"/>
          </a:xfrm>
          <a:prstGeom prst="rect">
            <a:avLst/>
          </a:prstGeom>
          <a:noFill/>
        </p:spPr>
        <p:txBody>
          <a:bodyPr wrap="square">
            <a:spAutoFit/>
          </a:bodyPr>
          <a:lstStyle/>
          <a:p>
            <a:pPr algn="l">
              <a:spcAft>
                <a:spcPts val="0"/>
              </a:spcAft>
              <a:defRPr sz="1000" b="0">
                <a:solidFill>
                  <a:srgbClr val="64748B"/>
                </a:solidFill>
                <a:latin typeface="Calibri"/>
              </a:defRPr>
            </a:pPr>
            <a:r>
              <a:t>•  Continuous compliance and feature enhancement</a:t>
            </a:r>
          </a:p>
        </p:txBody>
      </p:sp>
      <p:sp>
        <p:nvSpPr>
          <p:cNvPr id="42" name="TextBox 41"/>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15 / 18</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548640"/>
            <a:ext cx="73152" cy="7315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TEAM &amp; GOVERNANCE</a:t>
            </a:r>
          </a:p>
        </p:txBody>
      </p:sp>
      <p:sp>
        <p:nvSpPr>
          <p:cNvPr id="4" name="TextBox 3"/>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1E293B"/>
                </a:solidFill>
                <a:latin typeface="Calibri"/>
              </a:defRPr>
            </a:pPr>
            <a:r>
              <a:t>Leadership &amp; Corporate Structure</a:t>
            </a:r>
          </a:p>
        </p:txBody>
      </p:sp>
      <p:sp>
        <p:nvSpPr>
          <p:cNvPr id="5" name="Rounded Rectangle 4"/>
          <p:cNvSpPr/>
          <p:nvPr/>
        </p:nvSpPr>
        <p:spPr>
          <a:xfrm>
            <a:off x="914400" y="1828800"/>
            <a:ext cx="4846320" cy="118872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97280" y="2011680"/>
            <a:ext cx="640080" cy="640080"/>
          </a:xfrm>
          <a:prstGeom prst="ellipse">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F</a:t>
            </a:r>
          </a:p>
        </p:txBody>
      </p:sp>
      <p:sp>
        <p:nvSpPr>
          <p:cNvPr id="7" name="TextBox 6"/>
          <p:cNvSpPr txBox="1"/>
          <p:nvPr/>
        </p:nvSpPr>
        <p:spPr>
          <a:xfrm>
            <a:off x="1920240" y="1965960"/>
            <a:ext cx="3657600" cy="274320"/>
          </a:xfrm>
          <a:prstGeom prst="rect">
            <a:avLst/>
          </a:prstGeom>
          <a:noFill/>
        </p:spPr>
        <p:txBody>
          <a:bodyPr wrap="square">
            <a:spAutoFit/>
          </a:bodyPr>
          <a:lstStyle/>
          <a:p>
            <a:pPr algn="l">
              <a:spcAft>
                <a:spcPts val="0"/>
              </a:spcAft>
              <a:defRPr sz="1400" b="1">
                <a:solidFill>
                  <a:srgbClr val="1E293B"/>
                </a:solidFill>
                <a:latin typeface="Calibri"/>
              </a:defRPr>
            </a:pPr>
            <a:r>
              <a:t>Founder / CEO</a:t>
            </a:r>
          </a:p>
        </p:txBody>
      </p:sp>
      <p:sp>
        <p:nvSpPr>
          <p:cNvPr id="8" name="TextBox 7"/>
          <p:cNvSpPr txBox="1"/>
          <p:nvPr/>
        </p:nvSpPr>
        <p:spPr>
          <a:xfrm>
            <a:off x="1920240" y="2286000"/>
            <a:ext cx="3657600" cy="640080"/>
          </a:xfrm>
          <a:prstGeom prst="rect">
            <a:avLst/>
          </a:prstGeom>
          <a:noFill/>
        </p:spPr>
        <p:txBody>
          <a:bodyPr wrap="square">
            <a:spAutoFit/>
          </a:bodyPr>
          <a:lstStyle/>
          <a:p>
            <a:pPr algn="l">
              <a:spcAft>
                <a:spcPts val="0"/>
              </a:spcAft>
              <a:defRPr sz="1000" b="0">
                <a:solidFill>
                  <a:srgbClr val="64748B"/>
                </a:solidFill>
                <a:latin typeface="Calibri"/>
              </a:defRPr>
            </a:pPr>
            <a:r>
              <a:t>Overall strategy, vision, and regulatory engagement with BoZ.</a:t>
            </a:r>
            <a:br/>
            <a:r>
              <a:t>Responsible for designation application and compliance oversight.</a:t>
            </a:r>
          </a:p>
        </p:txBody>
      </p:sp>
      <p:sp>
        <p:nvSpPr>
          <p:cNvPr id="9" name="Rounded Rectangle 8"/>
          <p:cNvSpPr/>
          <p:nvPr/>
        </p:nvSpPr>
        <p:spPr>
          <a:xfrm>
            <a:off x="6035040" y="1828800"/>
            <a:ext cx="4846320" cy="118872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217920" y="2011680"/>
            <a:ext cx="640080" cy="640080"/>
          </a:xfrm>
          <a:prstGeom prst="ellipse">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C</a:t>
            </a:r>
          </a:p>
        </p:txBody>
      </p:sp>
      <p:sp>
        <p:nvSpPr>
          <p:cNvPr id="11" name="TextBox 10"/>
          <p:cNvSpPr txBox="1"/>
          <p:nvPr/>
        </p:nvSpPr>
        <p:spPr>
          <a:xfrm>
            <a:off x="7040880" y="1965960"/>
            <a:ext cx="3657600" cy="274320"/>
          </a:xfrm>
          <a:prstGeom prst="rect">
            <a:avLst/>
          </a:prstGeom>
          <a:noFill/>
        </p:spPr>
        <p:txBody>
          <a:bodyPr wrap="square">
            <a:spAutoFit/>
          </a:bodyPr>
          <a:lstStyle/>
          <a:p>
            <a:pPr algn="l">
              <a:spcAft>
                <a:spcPts val="0"/>
              </a:spcAft>
              <a:defRPr sz="1400" b="1">
                <a:solidFill>
                  <a:srgbClr val="1E293B"/>
                </a:solidFill>
                <a:latin typeface="Calibri"/>
              </a:defRPr>
            </a:pPr>
            <a:r>
              <a:t>Chief Technology Officer</a:t>
            </a:r>
          </a:p>
        </p:txBody>
      </p:sp>
      <p:sp>
        <p:nvSpPr>
          <p:cNvPr id="12" name="TextBox 11"/>
          <p:cNvSpPr txBox="1"/>
          <p:nvPr/>
        </p:nvSpPr>
        <p:spPr>
          <a:xfrm>
            <a:off x="7040880" y="2286000"/>
            <a:ext cx="3657600" cy="640080"/>
          </a:xfrm>
          <a:prstGeom prst="rect">
            <a:avLst/>
          </a:prstGeom>
          <a:noFill/>
        </p:spPr>
        <p:txBody>
          <a:bodyPr wrap="square">
            <a:spAutoFit/>
          </a:bodyPr>
          <a:lstStyle/>
          <a:p>
            <a:pPr algn="l">
              <a:spcAft>
                <a:spcPts val="0"/>
              </a:spcAft>
              <a:defRPr sz="1000" b="0">
                <a:solidFill>
                  <a:srgbClr val="64748B"/>
                </a:solidFill>
                <a:latin typeface="Calibri"/>
              </a:defRPr>
            </a:pPr>
            <a:r>
              <a:t>Technology architecture, security, and platform development.</a:t>
            </a:r>
            <a:br/>
            <a:r>
              <a:t>Ensures system integrity, data protection, and technical compliance.</a:t>
            </a:r>
          </a:p>
        </p:txBody>
      </p:sp>
      <p:sp>
        <p:nvSpPr>
          <p:cNvPr id="13" name="Rounded Rectangle 12"/>
          <p:cNvSpPr/>
          <p:nvPr/>
        </p:nvSpPr>
        <p:spPr>
          <a:xfrm>
            <a:off x="914400" y="3291840"/>
            <a:ext cx="4846320" cy="118872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97280" y="3474720"/>
            <a:ext cx="640080" cy="640080"/>
          </a:xfrm>
          <a:prstGeom prst="ellipse">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C</a:t>
            </a:r>
          </a:p>
        </p:txBody>
      </p:sp>
      <p:sp>
        <p:nvSpPr>
          <p:cNvPr id="15" name="TextBox 14"/>
          <p:cNvSpPr txBox="1"/>
          <p:nvPr/>
        </p:nvSpPr>
        <p:spPr>
          <a:xfrm>
            <a:off x="1920240" y="3429000"/>
            <a:ext cx="3657600" cy="274320"/>
          </a:xfrm>
          <a:prstGeom prst="rect">
            <a:avLst/>
          </a:prstGeom>
          <a:noFill/>
        </p:spPr>
        <p:txBody>
          <a:bodyPr wrap="square">
            <a:spAutoFit/>
          </a:bodyPr>
          <a:lstStyle/>
          <a:p>
            <a:pPr algn="l">
              <a:spcAft>
                <a:spcPts val="0"/>
              </a:spcAft>
              <a:defRPr sz="1400" b="1">
                <a:solidFill>
                  <a:srgbClr val="1E293B"/>
                </a:solidFill>
                <a:latin typeface="Calibri"/>
              </a:defRPr>
            </a:pPr>
            <a:r>
              <a:t>Chief Financial Officer</a:t>
            </a:r>
          </a:p>
        </p:txBody>
      </p:sp>
      <p:sp>
        <p:nvSpPr>
          <p:cNvPr id="16" name="TextBox 15"/>
          <p:cNvSpPr txBox="1"/>
          <p:nvPr/>
        </p:nvSpPr>
        <p:spPr>
          <a:xfrm>
            <a:off x="1920240" y="3749040"/>
            <a:ext cx="3657600" cy="640080"/>
          </a:xfrm>
          <a:prstGeom prst="rect">
            <a:avLst/>
          </a:prstGeom>
          <a:noFill/>
        </p:spPr>
        <p:txBody>
          <a:bodyPr wrap="square">
            <a:spAutoFit/>
          </a:bodyPr>
          <a:lstStyle/>
          <a:p>
            <a:pPr algn="l">
              <a:spcAft>
                <a:spcPts val="0"/>
              </a:spcAft>
              <a:defRPr sz="1000" b="0">
                <a:solidFill>
                  <a:srgbClr val="64748B"/>
                </a:solidFill>
                <a:latin typeface="Calibri"/>
              </a:defRPr>
            </a:pPr>
            <a:r>
              <a:t>Financial management, fee structures, and BoZ financial reporting.</a:t>
            </a:r>
            <a:br/>
            <a:r>
              <a:t>Co-signatory on official documents per Section 30.</a:t>
            </a:r>
          </a:p>
        </p:txBody>
      </p:sp>
      <p:sp>
        <p:nvSpPr>
          <p:cNvPr id="17" name="Rounded Rectangle 16"/>
          <p:cNvSpPr/>
          <p:nvPr/>
        </p:nvSpPr>
        <p:spPr>
          <a:xfrm>
            <a:off x="6035040" y="3291840"/>
            <a:ext cx="4846320" cy="1188720"/>
          </a:xfrm>
          <a:prstGeom prst="roundRect">
            <a:avLst>
              <a:gd name="adj" fmla="val 3000"/>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17920" y="3474720"/>
            <a:ext cx="640080" cy="640080"/>
          </a:xfrm>
          <a:prstGeom prst="ellipse">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C</a:t>
            </a:r>
          </a:p>
        </p:txBody>
      </p:sp>
      <p:sp>
        <p:nvSpPr>
          <p:cNvPr id="19" name="TextBox 18"/>
          <p:cNvSpPr txBox="1"/>
          <p:nvPr/>
        </p:nvSpPr>
        <p:spPr>
          <a:xfrm>
            <a:off x="7040880" y="3429000"/>
            <a:ext cx="3657600" cy="274320"/>
          </a:xfrm>
          <a:prstGeom prst="rect">
            <a:avLst/>
          </a:prstGeom>
          <a:noFill/>
        </p:spPr>
        <p:txBody>
          <a:bodyPr wrap="square">
            <a:spAutoFit/>
          </a:bodyPr>
          <a:lstStyle/>
          <a:p>
            <a:pPr algn="l">
              <a:spcAft>
                <a:spcPts val="0"/>
              </a:spcAft>
              <a:defRPr sz="1400" b="1">
                <a:solidFill>
                  <a:srgbClr val="1E293B"/>
                </a:solidFill>
                <a:latin typeface="Calibri"/>
              </a:defRPr>
            </a:pPr>
            <a:r>
              <a:t>Compliance Officer / MLRO</a:t>
            </a:r>
          </a:p>
        </p:txBody>
      </p:sp>
      <p:sp>
        <p:nvSpPr>
          <p:cNvPr id="20" name="TextBox 19"/>
          <p:cNvSpPr txBox="1"/>
          <p:nvPr/>
        </p:nvSpPr>
        <p:spPr>
          <a:xfrm>
            <a:off x="7040880" y="3749040"/>
            <a:ext cx="3657600" cy="640080"/>
          </a:xfrm>
          <a:prstGeom prst="rect">
            <a:avLst/>
          </a:prstGeom>
          <a:noFill/>
        </p:spPr>
        <p:txBody>
          <a:bodyPr wrap="square">
            <a:spAutoFit/>
          </a:bodyPr>
          <a:lstStyle/>
          <a:p>
            <a:pPr algn="l">
              <a:spcAft>
                <a:spcPts val="0"/>
              </a:spcAft>
              <a:defRPr sz="1000" b="0">
                <a:solidFill>
                  <a:srgbClr val="64748B"/>
                </a:solidFill>
                <a:latin typeface="Calibri"/>
              </a:defRPr>
            </a:pPr>
            <a:r>
              <a:t>AML/CFT compliance, KYC procedures, and regulatory reporting.</a:t>
            </a:r>
            <a:br/>
            <a:r>
              <a:t>Liaison with Financial Intelligence Centre (FIC).</a:t>
            </a:r>
          </a:p>
        </p:txBody>
      </p:sp>
      <p:sp>
        <p:nvSpPr>
          <p:cNvPr id="21" name="TextBox 20"/>
          <p:cNvSpPr txBox="1"/>
          <p:nvPr/>
        </p:nvSpPr>
        <p:spPr>
          <a:xfrm>
            <a:off x="914400" y="4572000"/>
            <a:ext cx="10058400" cy="1371600"/>
          </a:xfrm>
          <a:prstGeom prst="rect">
            <a:avLst/>
          </a:prstGeom>
          <a:noFill/>
        </p:spPr>
        <p:txBody>
          <a:bodyPr wrap="square">
            <a:spAutoFit/>
          </a:bodyPr>
          <a:lstStyle/>
          <a:p>
            <a:pPr algn="l">
              <a:spcAft>
                <a:spcPts val="0"/>
              </a:spcAft>
              <a:defRPr sz="1200" b="0">
                <a:solidFill>
                  <a:srgbClr val="64748B"/>
                </a:solidFill>
                <a:latin typeface="Calibri"/>
              </a:defRPr>
            </a:pPr>
            <a:r>
              <a:t>Corporate Governance Commitments:</a:t>
            </a:r>
            <a:br/>
            <a:r>
              <a:t>•  Board of Directors with independent members to be established</a:t>
            </a:r>
            <a:br/>
            <a:r>
              <a:t>•  Annual external audits by a BoZ-approved auditor</a:t>
            </a:r>
            <a:br/>
            <a:r>
              <a:t>•  Internal compliance reviews on a quarterly basis</a:t>
            </a:r>
            <a:br/>
            <a:r>
              <a:t>•  Segregation of duties between operations, finance, and compliance</a:t>
            </a:r>
            <a:br/>
            <a:r>
              <a:t>•  Formal whistleblower and grievance procedures per Section 43(3)(g)</a:t>
            </a:r>
            <a:br/>
            <a:r>
              <a:t>•  Company registration with PACRA and tax compliance with ZRA</a:t>
            </a:r>
          </a:p>
        </p:txBody>
      </p:sp>
      <p:sp>
        <p:nvSpPr>
          <p:cNvPr id="22" name="TextBox 21"/>
          <p:cNvSpPr txBox="1"/>
          <p:nvPr/>
        </p:nvSpPr>
        <p:spPr>
          <a:xfrm>
            <a:off x="914400" y="6035040"/>
            <a:ext cx="10058400" cy="365760"/>
          </a:xfrm>
          <a:prstGeom prst="rect">
            <a:avLst/>
          </a:prstGeom>
          <a:noFill/>
        </p:spPr>
        <p:txBody>
          <a:bodyPr wrap="square">
            <a:spAutoFit/>
          </a:bodyPr>
          <a:lstStyle/>
          <a:p>
            <a:pPr algn="l">
              <a:spcAft>
                <a:spcPts val="0"/>
              </a:spcAft>
              <a:defRPr sz="1100" b="0">
                <a:solidFill>
                  <a:srgbClr val="94A3B8"/>
                </a:solidFill>
                <a:latin typeface="Calibri"/>
              </a:defRPr>
            </a:pPr>
            <a:r>
              <a:t>Note: Specific names and CVs will be included in the formal application package alongside Directors' Questionnaires.</a:t>
            </a:r>
          </a:p>
        </p:txBody>
      </p:sp>
      <p:sp>
        <p:nvSpPr>
          <p:cNvPr id="23" name="TextBox 22"/>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16 / 18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1097280" y="548640"/>
            <a:ext cx="7315200" cy="365760"/>
          </a:xfrm>
          <a:prstGeom prst="rect">
            <a:avLst/>
          </a:prstGeom>
          <a:noFill/>
        </p:spPr>
        <p:txBody>
          <a:bodyPr wrap="square">
            <a:spAutoFit/>
          </a:bodyPr>
          <a:lstStyle/>
          <a:p>
            <a:pPr algn="l">
              <a:spcAft>
                <a:spcPts val="0"/>
              </a:spcAft>
              <a:defRPr sz="1400" b="1">
                <a:solidFill>
                  <a:srgbClr val="F5A623"/>
                </a:solidFill>
                <a:latin typeface="Calibri"/>
              </a:defRPr>
            </a:pPr>
            <a:r>
              <a:t>REGULATORY SANDBOX</a:t>
            </a:r>
          </a:p>
        </p:txBody>
      </p:sp>
      <p:sp>
        <p:nvSpPr>
          <p:cNvPr id="3" name="TextBox 2"/>
          <p:cNvSpPr txBox="1"/>
          <p:nvPr/>
        </p:nvSpPr>
        <p:spPr>
          <a:xfrm>
            <a:off x="1097280" y="914400"/>
            <a:ext cx="9144000" cy="640080"/>
          </a:xfrm>
          <a:prstGeom prst="rect">
            <a:avLst/>
          </a:prstGeom>
          <a:noFill/>
        </p:spPr>
        <p:txBody>
          <a:bodyPr wrap="square">
            <a:spAutoFit/>
          </a:bodyPr>
          <a:lstStyle/>
          <a:p>
            <a:pPr algn="l">
              <a:spcAft>
                <a:spcPts val="0"/>
              </a:spcAft>
              <a:defRPr sz="3200" b="1">
                <a:solidFill>
                  <a:srgbClr val="FFFFFF"/>
                </a:solidFill>
                <a:latin typeface="Calibri"/>
              </a:defRPr>
            </a:pPr>
            <a:r>
              <a:t>BoZ Innovation Sandbox Readiness</a:t>
            </a:r>
          </a:p>
        </p:txBody>
      </p:sp>
      <p:sp>
        <p:nvSpPr>
          <p:cNvPr id="4" name="TextBox 3"/>
          <p:cNvSpPr txBox="1"/>
          <p:nvPr/>
        </p:nvSpPr>
        <p:spPr>
          <a:xfrm>
            <a:off x="1097280" y="1737360"/>
            <a:ext cx="9144000" cy="640080"/>
          </a:xfrm>
          <a:prstGeom prst="rect">
            <a:avLst/>
          </a:prstGeom>
          <a:noFill/>
        </p:spPr>
        <p:txBody>
          <a:bodyPr wrap="square">
            <a:spAutoFit/>
          </a:bodyPr>
          <a:lstStyle/>
          <a:p>
            <a:pPr algn="l">
              <a:spcAft>
                <a:spcPts val="0"/>
              </a:spcAft>
              <a:defRPr sz="1400" b="0">
                <a:solidFill>
                  <a:srgbClr val="94A3B8"/>
                </a:solidFill>
                <a:latin typeface="Calibri"/>
              </a:defRPr>
            </a:pPr>
            <a:r>
              <a:t>Monde is prepared to participate in the Bank of Zambia's Regulatory Sandbox for innovative financial products and services, should BoZ recommend this pathway before full designation.</a:t>
            </a:r>
          </a:p>
        </p:txBody>
      </p:sp>
      <p:sp>
        <p:nvSpPr>
          <p:cNvPr id="5" name="Rounded Rectangle 4"/>
          <p:cNvSpPr/>
          <p:nvPr/>
        </p:nvSpPr>
        <p:spPr>
          <a:xfrm>
            <a:off x="914400" y="2560320"/>
            <a:ext cx="9875520" cy="73152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633472"/>
            <a:ext cx="2286000" cy="228600"/>
          </a:xfrm>
          <a:prstGeom prst="rect">
            <a:avLst/>
          </a:prstGeom>
          <a:noFill/>
        </p:spPr>
        <p:txBody>
          <a:bodyPr wrap="square">
            <a:spAutoFit/>
          </a:bodyPr>
          <a:lstStyle/>
          <a:p>
            <a:pPr algn="l">
              <a:spcAft>
                <a:spcPts val="0"/>
              </a:spcAft>
              <a:defRPr sz="1300" b="1">
                <a:solidFill>
                  <a:srgbClr val="F5A623"/>
                </a:solidFill>
                <a:latin typeface="Calibri"/>
              </a:defRPr>
            </a:pPr>
            <a:r>
              <a:t>Innovative Product</a:t>
            </a:r>
          </a:p>
        </p:txBody>
      </p:sp>
      <p:sp>
        <p:nvSpPr>
          <p:cNvPr id="7" name="TextBox 6"/>
          <p:cNvSpPr txBox="1"/>
          <p:nvPr/>
        </p:nvSpPr>
        <p:spPr>
          <a:xfrm>
            <a:off x="1188720" y="2880360"/>
            <a:ext cx="9418320" cy="365760"/>
          </a:xfrm>
          <a:prstGeom prst="rect">
            <a:avLst/>
          </a:prstGeom>
          <a:noFill/>
        </p:spPr>
        <p:txBody>
          <a:bodyPr wrap="square">
            <a:spAutoFit/>
          </a:bodyPr>
          <a:lstStyle/>
          <a:p>
            <a:pPr algn="l">
              <a:spcAft>
                <a:spcPts val="0"/>
              </a:spcAft>
              <a:defRPr sz="1100" b="0">
                <a:solidFill>
                  <a:srgbClr val="94A3B8"/>
                </a:solidFill>
                <a:latin typeface="Calibri"/>
              </a:defRPr>
            </a:pPr>
            <a:r>
              <a:t>Monde's cross-provider interoperability and QR/NFC payment model represents a novel approach in the Zambian market, combining mobile money, banking, and agent networks in a single unified platform.</a:t>
            </a:r>
          </a:p>
        </p:txBody>
      </p:sp>
      <p:sp>
        <p:nvSpPr>
          <p:cNvPr id="8" name="Rounded Rectangle 7"/>
          <p:cNvSpPr/>
          <p:nvPr/>
        </p:nvSpPr>
        <p:spPr>
          <a:xfrm>
            <a:off x="914400" y="3383280"/>
            <a:ext cx="9875520" cy="73152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88720" y="3456432"/>
            <a:ext cx="2286000" cy="228600"/>
          </a:xfrm>
          <a:prstGeom prst="rect">
            <a:avLst/>
          </a:prstGeom>
          <a:noFill/>
        </p:spPr>
        <p:txBody>
          <a:bodyPr wrap="square">
            <a:spAutoFit/>
          </a:bodyPr>
          <a:lstStyle/>
          <a:p>
            <a:pPr algn="l">
              <a:spcAft>
                <a:spcPts val="0"/>
              </a:spcAft>
              <a:defRPr sz="1300" b="1">
                <a:solidFill>
                  <a:srgbClr val="F5A623"/>
                </a:solidFill>
                <a:latin typeface="Calibri"/>
              </a:defRPr>
            </a:pPr>
            <a:r>
              <a:t>Consumer Benefit</a:t>
            </a:r>
          </a:p>
        </p:txBody>
      </p:sp>
      <p:sp>
        <p:nvSpPr>
          <p:cNvPr id="10" name="TextBox 9"/>
          <p:cNvSpPr txBox="1"/>
          <p:nvPr/>
        </p:nvSpPr>
        <p:spPr>
          <a:xfrm>
            <a:off x="1188720" y="3703320"/>
            <a:ext cx="9418320" cy="365760"/>
          </a:xfrm>
          <a:prstGeom prst="rect">
            <a:avLst/>
          </a:prstGeom>
          <a:noFill/>
        </p:spPr>
        <p:txBody>
          <a:bodyPr wrap="square">
            <a:spAutoFit/>
          </a:bodyPr>
          <a:lstStyle/>
          <a:p>
            <a:pPr algn="l">
              <a:spcAft>
                <a:spcPts val="0"/>
              </a:spcAft>
              <a:defRPr sz="1100" b="0">
                <a:solidFill>
                  <a:srgbClr val="94A3B8"/>
                </a:solidFill>
                <a:latin typeface="Calibri"/>
              </a:defRPr>
            </a:pPr>
            <a:r>
              <a:t>Lower transaction costs, faster transfers, and financial inclusion for unbanked populations through agent cash-in/cash-out services. Every transaction in 3 taps or fewer.</a:t>
            </a:r>
          </a:p>
        </p:txBody>
      </p:sp>
      <p:sp>
        <p:nvSpPr>
          <p:cNvPr id="11" name="Rounded Rectangle 10"/>
          <p:cNvSpPr/>
          <p:nvPr/>
        </p:nvSpPr>
        <p:spPr>
          <a:xfrm>
            <a:off x="914400" y="4206240"/>
            <a:ext cx="9875520" cy="73152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88720" y="4279392"/>
            <a:ext cx="2286000" cy="228600"/>
          </a:xfrm>
          <a:prstGeom prst="rect">
            <a:avLst/>
          </a:prstGeom>
          <a:noFill/>
        </p:spPr>
        <p:txBody>
          <a:bodyPr wrap="square">
            <a:spAutoFit/>
          </a:bodyPr>
          <a:lstStyle/>
          <a:p>
            <a:pPr algn="l">
              <a:spcAft>
                <a:spcPts val="0"/>
              </a:spcAft>
              <a:defRPr sz="1300" b="1">
                <a:solidFill>
                  <a:srgbClr val="F5A623"/>
                </a:solidFill>
                <a:latin typeface="Calibri"/>
              </a:defRPr>
            </a:pPr>
            <a:r>
              <a:t>Testing Parameters</a:t>
            </a:r>
          </a:p>
        </p:txBody>
      </p:sp>
      <p:sp>
        <p:nvSpPr>
          <p:cNvPr id="13" name="TextBox 12"/>
          <p:cNvSpPr txBox="1"/>
          <p:nvPr/>
        </p:nvSpPr>
        <p:spPr>
          <a:xfrm>
            <a:off x="1188720" y="4526280"/>
            <a:ext cx="9418320" cy="365760"/>
          </a:xfrm>
          <a:prstGeom prst="rect">
            <a:avLst/>
          </a:prstGeom>
          <a:noFill/>
        </p:spPr>
        <p:txBody>
          <a:bodyPr wrap="square">
            <a:spAutoFit/>
          </a:bodyPr>
          <a:lstStyle/>
          <a:p>
            <a:pPr algn="l">
              <a:spcAft>
                <a:spcPts val="0"/>
              </a:spcAft>
              <a:defRPr sz="1100" b="0">
                <a:solidFill>
                  <a:srgbClr val="94A3B8"/>
                </a:solidFill>
                <a:latin typeface="Calibri"/>
              </a:defRPr>
            </a:pPr>
            <a:r>
              <a:t>We propose a controlled pilot with: limited geography (Lusaka initially), capped transaction volumes, restricted user base (500–1,000 users), and 50–100 agents for a 6-month testing period.</a:t>
            </a:r>
          </a:p>
        </p:txBody>
      </p:sp>
      <p:sp>
        <p:nvSpPr>
          <p:cNvPr id="14" name="Rounded Rectangle 13"/>
          <p:cNvSpPr/>
          <p:nvPr/>
        </p:nvSpPr>
        <p:spPr>
          <a:xfrm>
            <a:off x="914400" y="5029200"/>
            <a:ext cx="9875520" cy="73152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5102352"/>
            <a:ext cx="2286000" cy="228600"/>
          </a:xfrm>
          <a:prstGeom prst="rect">
            <a:avLst/>
          </a:prstGeom>
          <a:noFill/>
        </p:spPr>
        <p:txBody>
          <a:bodyPr wrap="square">
            <a:spAutoFit/>
          </a:bodyPr>
          <a:lstStyle/>
          <a:p>
            <a:pPr algn="l">
              <a:spcAft>
                <a:spcPts val="0"/>
              </a:spcAft>
              <a:defRPr sz="1300" b="1">
                <a:solidFill>
                  <a:srgbClr val="F5A623"/>
                </a:solidFill>
                <a:latin typeface="Calibri"/>
              </a:defRPr>
            </a:pPr>
            <a:r>
              <a:t>Monitoring &amp; Reporting</a:t>
            </a:r>
          </a:p>
        </p:txBody>
      </p:sp>
      <p:sp>
        <p:nvSpPr>
          <p:cNvPr id="16" name="TextBox 15"/>
          <p:cNvSpPr txBox="1"/>
          <p:nvPr/>
        </p:nvSpPr>
        <p:spPr>
          <a:xfrm>
            <a:off x="1188720" y="5349240"/>
            <a:ext cx="9418320" cy="365760"/>
          </a:xfrm>
          <a:prstGeom prst="rect">
            <a:avLst/>
          </a:prstGeom>
          <a:noFill/>
        </p:spPr>
        <p:txBody>
          <a:bodyPr wrap="square">
            <a:spAutoFit/>
          </a:bodyPr>
          <a:lstStyle/>
          <a:p>
            <a:pPr algn="l">
              <a:spcAft>
                <a:spcPts val="0"/>
              </a:spcAft>
              <a:defRPr sz="1100" b="0">
                <a:solidFill>
                  <a:srgbClr val="94A3B8"/>
                </a:solidFill>
                <a:latin typeface="Calibri"/>
              </a:defRPr>
            </a:pPr>
            <a:r>
              <a:t>Weekly transaction reports, monthly compliance summaries, incident reporting within 24 hours, and full BoZ access to platform analytics and transaction data.</a:t>
            </a:r>
          </a:p>
        </p:txBody>
      </p:sp>
      <p:sp>
        <p:nvSpPr>
          <p:cNvPr id="17" name="Rounded Rectangle 16"/>
          <p:cNvSpPr/>
          <p:nvPr/>
        </p:nvSpPr>
        <p:spPr>
          <a:xfrm>
            <a:off x="914400" y="5852160"/>
            <a:ext cx="9875520" cy="731520"/>
          </a:xfrm>
          <a:prstGeom prst="roundRect">
            <a:avLst>
              <a:gd name="adj" fmla="val 3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88720" y="5925312"/>
            <a:ext cx="2286000" cy="228600"/>
          </a:xfrm>
          <a:prstGeom prst="rect">
            <a:avLst/>
          </a:prstGeom>
          <a:noFill/>
        </p:spPr>
        <p:txBody>
          <a:bodyPr wrap="square">
            <a:spAutoFit/>
          </a:bodyPr>
          <a:lstStyle/>
          <a:p>
            <a:pPr algn="l">
              <a:spcAft>
                <a:spcPts val="0"/>
              </a:spcAft>
              <a:defRPr sz="1300" b="1">
                <a:solidFill>
                  <a:srgbClr val="F5A623"/>
                </a:solidFill>
                <a:latin typeface="Calibri"/>
              </a:defRPr>
            </a:pPr>
            <a:r>
              <a:t>Exit Strategy</a:t>
            </a:r>
          </a:p>
        </p:txBody>
      </p:sp>
      <p:sp>
        <p:nvSpPr>
          <p:cNvPr id="19" name="TextBox 18"/>
          <p:cNvSpPr txBox="1"/>
          <p:nvPr/>
        </p:nvSpPr>
        <p:spPr>
          <a:xfrm>
            <a:off x="1188720" y="6172200"/>
            <a:ext cx="9418320" cy="365760"/>
          </a:xfrm>
          <a:prstGeom prst="rect">
            <a:avLst/>
          </a:prstGeom>
          <a:noFill/>
        </p:spPr>
        <p:txBody>
          <a:bodyPr wrap="square">
            <a:spAutoFit/>
          </a:bodyPr>
          <a:lstStyle/>
          <a:p>
            <a:pPr algn="l">
              <a:spcAft>
                <a:spcPts val="0"/>
              </a:spcAft>
              <a:defRPr sz="1100" b="0">
                <a:solidFill>
                  <a:srgbClr val="94A3B8"/>
                </a:solidFill>
                <a:latin typeface="Calibri"/>
              </a:defRPr>
            </a:pPr>
            <a:r>
              <a:t>Clear criteria for graduation to full designation or orderly wind-down. All customer funds protected through regulated MNO float accounts. No customer funds held directly by Monde.</a:t>
            </a:r>
          </a:p>
        </p:txBody>
      </p:sp>
      <p:sp>
        <p:nvSpPr>
          <p:cNvPr id="20" name="TextBox 19"/>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17 / 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1828800"/>
            <a:ext cx="7315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280160" y="1371600"/>
            <a:ext cx="9144000" cy="457200"/>
          </a:xfrm>
          <a:prstGeom prst="rect">
            <a:avLst/>
          </a:prstGeom>
          <a:noFill/>
        </p:spPr>
        <p:txBody>
          <a:bodyPr wrap="square">
            <a:spAutoFit/>
          </a:bodyPr>
          <a:lstStyle/>
          <a:p>
            <a:pPr algn="l">
              <a:spcAft>
                <a:spcPts val="0"/>
              </a:spcAft>
              <a:defRPr sz="1400" b="1">
                <a:solidFill>
                  <a:srgbClr val="F5A623"/>
                </a:solidFill>
                <a:latin typeface="Calibri"/>
              </a:defRPr>
            </a:pPr>
            <a:r>
              <a:t>NEXT STEPS</a:t>
            </a:r>
          </a:p>
        </p:txBody>
      </p:sp>
      <p:sp>
        <p:nvSpPr>
          <p:cNvPr id="4" name="TextBox 3"/>
          <p:cNvSpPr txBox="1"/>
          <p:nvPr/>
        </p:nvSpPr>
        <p:spPr>
          <a:xfrm>
            <a:off x="1280160" y="1828800"/>
            <a:ext cx="9144000" cy="731520"/>
          </a:xfrm>
          <a:prstGeom prst="rect">
            <a:avLst/>
          </a:prstGeom>
          <a:noFill/>
        </p:spPr>
        <p:txBody>
          <a:bodyPr wrap="square">
            <a:spAutoFit/>
          </a:bodyPr>
          <a:lstStyle/>
          <a:p>
            <a:pPr algn="l">
              <a:spcAft>
                <a:spcPts val="0"/>
              </a:spcAft>
              <a:defRPr sz="4400" b="1">
                <a:solidFill>
                  <a:srgbClr val="FFFFFF"/>
                </a:solidFill>
                <a:latin typeface="Calibri"/>
              </a:defRPr>
            </a:pPr>
            <a:r>
              <a:t>Thank You</a:t>
            </a:r>
          </a:p>
        </p:txBody>
      </p:sp>
      <p:sp>
        <p:nvSpPr>
          <p:cNvPr id="5" name="TextBox 4"/>
          <p:cNvSpPr txBox="1"/>
          <p:nvPr/>
        </p:nvSpPr>
        <p:spPr>
          <a:xfrm>
            <a:off x="1280160" y="2560320"/>
            <a:ext cx="9144000" cy="457200"/>
          </a:xfrm>
          <a:prstGeom prst="rect">
            <a:avLst/>
          </a:prstGeom>
          <a:noFill/>
        </p:spPr>
        <p:txBody>
          <a:bodyPr wrap="square">
            <a:spAutoFit/>
          </a:bodyPr>
          <a:lstStyle/>
          <a:p>
            <a:pPr algn="l">
              <a:spcAft>
                <a:spcPts val="0"/>
              </a:spcAft>
              <a:defRPr sz="1800" b="0">
                <a:solidFill>
                  <a:srgbClr val="94A3B8"/>
                </a:solidFill>
                <a:latin typeface="Calibri"/>
              </a:defRPr>
            </a:pPr>
            <a:r>
              <a:t>Bank of Zambia — National Payment Systems Department</a:t>
            </a:r>
          </a:p>
        </p:txBody>
      </p:sp>
      <p:sp>
        <p:nvSpPr>
          <p:cNvPr id="6" name="TextBox 5"/>
          <p:cNvSpPr txBox="1"/>
          <p:nvPr/>
        </p:nvSpPr>
        <p:spPr>
          <a:xfrm>
            <a:off x="1463040" y="3383280"/>
            <a:ext cx="7315200" cy="320040"/>
          </a:xfrm>
          <a:prstGeom prst="rect">
            <a:avLst/>
          </a:prstGeom>
          <a:noFill/>
        </p:spPr>
        <p:txBody>
          <a:bodyPr wrap="square">
            <a:spAutoFit/>
          </a:bodyPr>
          <a:lstStyle/>
          <a:p>
            <a:pPr algn="l">
              <a:spcAft>
                <a:spcPts val="0"/>
              </a:spcAft>
              <a:defRPr sz="1400" b="0">
                <a:solidFill>
                  <a:srgbClr val="94A3B8"/>
                </a:solidFill>
                <a:latin typeface="Calibri"/>
              </a:defRPr>
            </a:pPr>
            <a:r>
              <a:t>1.  Submit formal designation application with all required documents</a:t>
            </a:r>
          </a:p>
        </p:txBody>
      </p:sp>
      <p:sp>
        <p:nvSpPr>
          <p:cNvPr id="7" name="TextBox 6"/>
          <p:cNvSpPr txBox="1"/>
          <p:nvPr/>
        </p:nvSpPr>
        <p:spPr>
          <a:xfrm>
            <a:off x="1463040" y="3749040"/>
            <a:ext cx="7315200" cy="320040"/>
          </a:xfrm>
          <a:prstGeom prst="rect">
            <a:avLst/>
          </a:prstGeom>
          <a:noFill/>
        </p:spPr>
        <p:txBody>
          <a:bodyPr wrap="square">
            <a:spAutoFit/>
          </a:bodyPr>
          <a:lstStyle/>
          <a:p>
            <a:pPr algn="l">
              <a:spcAft>
                <a:spcPts val="0"/>
              </a:spcAft>
              <a:defRPr sz="1400" b="0">
                <a:solidFill>
                  <a:srgbClr val="94A3B8"/>
                </a:solidFill>
                <a:latin typeface="Calibri"/>
              </a:defRPr>
            </a:pPr>
            <a:r>
              <a:t>2.  Engage with BoZ on sandbox participation criteria (if recommended)</a:t>
            </a:r>
          </a:p>
        </p:txBody>
      </p:sp>
      <p:sp>
        <p:nvSpPr>
          <p:cNvPr id="8" name="TextBox 7"/>
          <p:cNvSpPr txBox="1"/>
          <p:nvPr/>
        </p:nvSpPr>
        <p:spPr>
          <a:xfrm>
            <a:off x="1463040" y="4114800"/>
            <a:ext cx="7315200" cy="320040"/>
          </a:xfrm>
          <a:prstGeom prst="rect">
            <a:avLst/>
          </a:prstGeom>
          <a:noFill/>
        </p:spPr>
        <p:txBody>
          <a:bodyPr wrap="square">
            <a:spAutoFit/>
          </a:bodyPr>
          <a:lstStyle/>
          <a:p>
            <a:pPr algn="l">
              <a:spcAft>
                <a:spcPts val="0"/>
              </a:spcAft>
              <a:defRPr sz="1400" b="0">
                <a:solidFill>
                  <a:srgbClr val="94A3B8"/>
                </a:solidFill>
                <a:latin typeface="Calibri"/>
              </a:defRPr>
            </a:pPr>
            <a:r>
              <a:t>3.  Complete Directors' Questionnaires and Vital Statistics forms</a:t>
            </a:r>
          </a:p>
        </p:txBody>
      </p:sp>
      <p:sp>
        <p:nvSpPr>
          <p:cNvPr id="9" name="TextBox 8"/>
          <p:cNvSpPr txBox="1"/>
          <p:nvPr/>
        </p:nvSpPr>
        <p:spPr>
          <a:xfrm>
            <a:off x="1463040" y="4480560"/>
            <a:ext cx="7315200" cy="320040"/>
          </a:xfrm>
          <a:prstGeom prst="rect">
            <a:avLst/>
          </a:prstGeom>
          <a:noFill/>
        </p:spPr>
        <p:txBody>
          <a:bodyPr wrap="square">
            <a:spAutoFit/>
          </a:bodyPr>
          <a:lstStyle/>
          <a:p>
            <a:pPr algn="l">
              <a:spcAft>
                <a:spcPts val="0"/>
              </a:spcAft>
              <a:defRPr sz="1400" b="0">
                <a:solidFill>
                  <a:srgbClr val="94A3B8"/>
                </a:solidFill>
                <a:latin typeface="Calibri"/>
              </a:defRPr>
            </a:pPr>
            <a:r>
              <a:t>4.  File proposed fee schedule for BoZ review and approval</a:t>
            </a:r>
          </a:p>
        </p:txBody>
      </p:sp>
      <p:sp>
        <p:nvSpPr>
          <p:cNvPr id="10" name="TextBox 9"/>
          <p:cNvSpPr txBox="1"/>
          <p:nvPr/>
        </p:nvSpPr>
        <p:spPr>
          <a:xfrm>
            <a:off x="1463040" y="4846320"/>
            <a:ext cx="7315200" cy="320040"/>
          </a:xfrm>
          <a:prstGeom prst="rect">
            <a:avLst/>
          </a:prstGeom>
          <a:noFill/>
        </p:spPr>
        <p:txBody>
          <a:bodyPr wrap="square">
            <a:spAutoFit/>
          </a:bodyPr>
          <a:lstStyle/>
          <a:p>
            <a:pPr algn="l">
              <a:spcAft>
                <a:spcPts val="0"/>
              </a:spcAft>
              <a:defRPr sz="1400" b="0">
                <a:solidFill>
                  <a:srgbClr val="94A3B8"/>
                </a:solidFill>
                <a:latin typeface="Calibri"/>
              </a:defRPr>
            </a:pPr>
            <a:r>
              <a:t>5.  Establish ongoing dialogue with NPS Department for guidance</a:t>
            </a:r>
          </a:p>
        </p:txBody>
      </p:sp>
      <p:sp>
        <p:nvSpPr>
          <p:cNvPr id="11" name="Rounded Rectangle 10"/>
          <p:cNvSpPr/>
          <p:nvPr/>
        </p:nvSpPr>
        <p:spPr>
          <a:xfrm>
            <a:off x="914400" y="5303520"/>
            <a:ext cx="5029200" cy="1097280"/>
          </a:xfrm>
          <a:prstGeom prst="roundRect">
            <a:avLst>
              <a:gd name="adj" fmla="val 4000"/>
            </a:avLst>
          </a:prstGeom>
          <a:solidFill>
            <a:srgbClr val="1A2035"/>
          </a:solidFill>
          <a:ln w="12700">
            <a:solidFill>
              <a:srgbClr val="2D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88720" y="5394960"/>
            <a:ext cx="4572000" cy="274320"/>
          </a:xfrm>
          <a:prstGeom prst="rect">
            <a:avLst/>
          </a:prstGeom>
          <a:noFill/>
        </p:spPr>
        <p:txBody>
          <a:bodyPr wrap="square">
            <a:spAutoFit/>
          </a:bodyPr>
          <a:lstStyle/>
          <a:p>
            <a:pPr algn="l">
              <a:spcAft>
                <a:spcPts val="0"/>
              </a:spcAft>
              <a:defRPr sz="1400" b="1">
                <a:solidFill>
                  <a:srgbClr val="F5A623"/>
                </a:solidFill>
                <a:latin typeface="Calibri"/>
              </a:defRPr>
            </a:pPr>
            <a:r>
              <a:t>Contact Information</a:t>
            </a:r>
          </a:p>
        </p:txBody>
      </p:sp>
      <p:sp>
        <p:nvSpPr>
          <p:cNvPr id="13" name="TextBox 12"/>
          <p:cNvSpPr txBox="1"/>
          <p:nvPr/>
        </p:nvSpPr>
        <p:spPr>
          <a:xfrm>
            <a:off x="1188720" y="5715000"/>
            <a:ext cx="4572000" cy="548640"/>
          </a:xfrm>
          <a:prstGeom prst="rect">
            <a:avLst/>
          </a:prstGeom>
          <a:noFill/>
        </p:spPr>
        <p:txBody>
          <a:bodyPr wrap="square">
            <a:spAutoFit/>
          </a:bodyPr>
          <a:lstStyle/>
          <a:p>
            <a:pPr algn="l">
              <a:spcAft>
                <a:spcPts val="0"/>
              </a:spcAft>
              <a:defRPr sz="1200" b="0">
                <a:solidFill>
                  <a:srgbClr val="94A3B8"/>
                </a:solidFill>
                <a:latin typeface="Calibri"/>
              </a:defRPr>
            </a:pPr>
            <a:r>
              <a:t>Monde Payment Systems</a:t>
            </a:r>
            <a:br/>
            <a:r>
              <a:t>[Your Name, Title]</a:t>
            </a:r>
            <a:br/>
            <a:r>
              <a:t>[Email]  |  [Phone]</a:t>
            </a:r>
          </a:p>
        </p:txBody>
      </p:sp>
      <p:sp>
        <p:nvSpPr>
          <p:cNvPr id="14" name="TextBox 13"/>
          <p:cNvSpPr txBox="1"/>
          <p:nvPr/>
        </p:nvSpPr>
        <p:spPr>
          <a:xfrm>
            <a:off x="6400800" y="5303520"/>
            <a:ext cx="5029200" cy="1097280"/>
          </a:xfrm>
          <a:prstGeom prst="rect">
            <a:avLst/>
          </a:prstGeom>
          <a:noFill/>
        </p:spPr>
        <p:txBody>
          <a:bodyPr wrap="square">
            <a:spAutoFit/>
          </a:bodyPr>
          <a:lstStyle/>
          <a:p>
            <a:pPr algn="l">
              <a:spcAft>
                <a:spcPts val="0"/>
              </a:spcAft>
              <a:defRPr sz="1100" b="0">
                <a:solidFill>
                  <a:srgbClr val="94A3B8"/>
                </a:solidFill>
                <a:latin typeface="Calibri"/>
              </a:defRPr>
            </a:pPr>
            <a:r>
              <a:t>This application is made pursuant to:</a:t>
            </a:r>
            <a:br/>
            <a:br/>
            <a:r>
              <a:t>•  National Payment Systems Act No. 1 of 2007, Section 12</a:t>
            </a:r>
            <a:br/>
            <a:r>
              <a:t>•  BoZ Requirements for Setting Up a Payment System Business</a:t>
            </a:r>
            <a:br/>
            <a:r>
              <a:t>•  BoZ Requirements for Designation of a Payment System</a:t>
            </a:r>
            <a:br/>
            <a:r>
              <a:t>•  BoZ Payment Service Provider Fees and Charges Guidelines</a:t>
            </a:r>
          </a:p>
        </p:txBody>
      </p:sp>
      <p:sp>
        <p:nvSpPr>
          <p:cNvPr id="15" name="Rectangle 14"/>
          <p:cNvSpPr/>
          <p:nvPr/>
        </p:nvSpPr>
        <p:spPr>
          <a:xfrm>
            <a:off x="0" y="6784848"/>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820095" y="6400800"/>
            <a:ext cx="1188720" cy="274320"/>
          </a:xfrm>
          <a:prstGeom prst="rect">
            <a:avLst/>
          </a:prstGeom>
          <a:noFill/>
        </p:spPr>
        <p:txBody>
          <a:bodyPr wrap="square">
            <a:spAutoFit/>
          </a:bodyPr>
          <a:lstStyle/>
          <a:p>
            <a:pPr algn="r">
              <a:spcAft>
                <a:spcPts val="0"/>
              </a:spcAft>
              <a:defRPr sz="1000" b="0">
                <a:solidFill>
                  <a:srgbClr val="94A3B8"/>
                </a:solidFill>
                <a:latin typeface="Calibri"/>
              </a:defRPr>
            </a:pPr>
            <a: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2806</Words>
  <Application>Microsoft Office PowerPoint</Application>
  <PresentationFormat>Widescreen</PresentationFormat>
  <Paragraphs>388</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Denny Sepiso</cp:lastModifiedBy>
  <cp:revision>1</cp:revision>
  <dcterms:created xsi:type="dcterms:W3CDTF">2013-01-27T09:14:16Z</dcterms:created>
  <dcterms:modified xsi:type="dcterms:W3CDTF">2026-03-17T16:33:39Z</dcterms:modified>
  <cp:category/>
</cp:coreProperties>
</file>